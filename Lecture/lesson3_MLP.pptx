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44"/>
  </p:handoutMasterIdLst>
  <p:sldIdLst>
    <p:sldId id="815" r:id="rId3"/>
    <p:sldId id="1002" r:id="rId4"/>
    <p:sldId id="948" r:id="rId5"/>
    <p:sldId id="1043" r:id="rId7"/>
    <p:sldId id="1042" r:id="rId8"/>
    <p:sldId id="1041" r:id="rId9"/>
    <p:sldId id="1016" r:id="rId10"/>
    <p:sldId id="1019" r:id="rId11"/>
    <p:sldId id="1059" r:id="rId12"/>
    <p:sldId id="1017" r:id="rId13"/>
    <p:sldId id="1021" r:id="rId14"/>
    <p:sldId id="1044" r:id="rId15"/>
    <p:sldId id="1045" r:id="rId16"/>
    <p:sldId id="1022" r:id="rId17"/>
    <p:sldId id="1023" r:id="rId18"/>
    <p:sldId id="1024" r:id="rId19"/>
    <p:sldId id="1025" r:id="rId20"/>
    <p:sldId id="1026" r:id="rId21"/>
    <p:sldId id="1027" r:id="rId22"/>
    <p:sldId id="1028" r:id="rId23"/>
    <p:sldId id="1029" r:id="rId24"/>
    <p:sldId id="1030" r:id="rId25"/>
    <p:sldId id="1031" r:id="rId26"/>
    <p:sldId id="1032" r:id="rId27"/>
    <p:sldId id="1033" r:id="rId28"/>
    <p:sldId id="1034" r:id="rId29"/>
    <p:sldId id="1035" r:id="rId30"/>
    <p:sldId id="1036" r:id="rId31"/>
    <p:sldId id="1037" r:id="rId32"/>
    <p:sldId id="1038" r:id="rId33"/>
    <p:sldId id="1039" r:id="rId34"/>
    <p:sldId id="1056" r:id="rId35"/>
    <p:sldId id="1061" r:id="rId36"/>
    <p:sldId id="1060" r:id="rId37"/>
    <p:sldId id="1057" r:id="rId38"/>
    <p:sldId id="1062" r:id="rId39"/>
    <p:sldId id="1055" r:id="rId40"/>
    <p:sldId id="1053" r:id="rId41"/>
    <p:sldId id="1063" r:id="rId42"/>
    <p:sldId id="1064" r:id="rId43"/>
  </p:sldIdLst>
  <p:sldSz cx="9144000" cy="6858000" type="screen4x3"/>
  <p:notesSz cx="7315200" cy="9601200"/>
  <p:defaultTextStyle>
    <a:defPPr>
      <a:defRPr lang="en-US"/>
    </a:defPPr>
    <a:lvl1pPr algn="l" rtl="0" eaLnBrk="0" fontAlgn="base" hangingPunct="0">
      <a:spcBef>
        <a:spcPct val="0"/>
      </a:spcBef>
      <a:spcAft>
        <a:spcPct val="0"/>
      </a:spcAft>
      <a:defRPr sz="2400" b="1" kern="1200">
        <a:solidFill>
          <a:schemeClr val="tx1"/>
        </a:solidFill>
        <a:latin typeface="Arial" panose="020B0604020202090204" pitchFamily="34" charset="0"/>
        <a:ea typeface="+mn-ea"/>
        <a:cs typeface="Arial" panose="020B0604020202090204" pitchFamily="34" charset="0"/>
      </a:defRPr>
    </a:lvl1pPr>
    <a:lvl2pPr marL="457200" algn="l" rtl="0" eaLnBrk="0" fontAlgn="base" hangingPunct="0">
      <a:spcBef>
        <a:spcPct val="0"/>
      </a:spcBef>
      <a:spcAft>
        <a:spcPct val="0"/>
      </a:spcAft>
      <a:defRPr sz="2400" b="1"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sz="2400" b="1"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sz="2400" b="1"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sz="2400" b="1"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sz="2400" b="1"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sz="2400" b="1"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sz="2400" b="1"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sz="2400" b="1" kern="1200">
        <a:solidFill>
          <a:schemeClr val="tx1"/>
        </a:solidFill>
        <a:latin typeface="Arial" panose="020B0604020202090204" pitchFamily="34" charset="0"/>
        <a:ea typeface="+mn-ea"/>
        <a:cs typeface="Arial" panose="020B060402020209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00CC"/>
    <a:srgbClr val="CC66FF"/>
    <a:srgbClr val="0000FF"/>
    <a:srgbClr val="FF9900"/>
    <a:srgbClr val="FF0000"/>
    <a:srgbClr val="33CC33"/>
    <a:srgbClr val="FF33CC"/>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2" autoAdjust="0"/>
    <p:restoredTop sz="78320" autoAdjust="0"/>
  </p:normalViewPr>
  <p:slideViewPr>
    <p:cSldViewPr showGuides="1">
      <p:cViewPr varScale="1">
        <p:scale>
          <a:sx n="136" d="100"/>
          <a:sy n="136" d="100"/>
        </p:scale>
        <p:origin x="2742" y="126"/>
      </p:cViewPr>
      <p:guideLst>
        <p:guide orient="horz" pos="2160"/>
        <p:guide pos="288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56" tIns="48328" rIns="96656" bIns="48328" numCol="1" anchor="t" anchorCtr="0" compatLnSpc="1"/>
          <a:lstStyle>
            <a:lvl1pPr defTabSz="967105" eaLnBrk="1" hangingPunct="1">
              <a:defRPr sz="1200" b="0"/>
            </a:lvl1pPr>
          </a:lstStyle>
          <a:p>
            <a:pPr>
              <a:defRPr/>
            </a:pPr>
            <a:endParaRPr lang="en-US"/>
          </a:p>
        </p:txBody>
      </p:sp>
      <p:sp>
        <p:nvSpPr>
          <p:cNvPr id="87043"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6656" tIns="48328" rIns="96656" bIns="48328" numCol="1" anchor="t" anchorCtr="0" compatLnSpc="1"/>
          <a:lstStyle>
            <a:lvl1pPr algn="r" defTabSz="967105" eaLnBrk="1" hangingPunct="1">
              <a:defRPr sz="1200" b="0"/>
            </a:lvl1pPr>
          </a:lstStyle>
          <a:p>
            <a:pPr>
              <a:defRPr/>
            </a:pPr>
            <a:endParaRPr lang="en-US"/>
          </a:p>
        </p:txBody>
      </p:sp>
      <p:sp>
        <p:nvSpPr>
          <p:cNvPr id="87044"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6656" tIns="48328" rIns="96656" bIns="48328" numCol="1" anchor="b" anchorCtr="0" compatLnSpc="1"/>
          <a:lstStyle>
            <a:lvl1pPr defTabSz="967105" eaLnBrk="1" hangingPunct="1">
              <a:defRPr sz="1200" b="0"/>
            </a:lvl1pPr>
          </a:lstStyle>
          <a:p>
            <a:pPr>
              <a:defRPr/>
            </a:pPr>
            <a:endParaRPr lang="en-US"/>
          </a:p>
        </p:txBody>
      </p:sp>
      <p:sp>
        <p:nvSpPr>
          <p:cNvPr id="87045"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6656" tIns="48328" rIns="96656" bIns="48328" numCol="1" anchor="b" anchorCtr="0" compatLnSpc="1"/>
          <a:lstStyle>
            <a:lvl1pPr algn="r" defTabSz="967105" eaLnBrk="1" hangingPunct="1">
              <a:defRPr sz="1200" b="0"/>
            </a:lvl1pPr>
          </a:lstStyle>
          <a:p>
            <a:pPr>
              <a:defRPr/>
            </a:pPr>
            <a:fld id="{E63CBE3B-9004-44CA-A825-B41E392F642F}" type="slidenum">
              <a:rPr lang="en-US"/>
            </a:fld>
            <a:endParaRPr 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0000"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3-07T08:40:55"/>
    </inkml:context>
    <inkml:brush xml:id="br0">
      <inkml:brushProperty name="width" value="0.05292" units="cm"/>
      <inkml:brushProperty name="height" value="0.05292" units="cm"/>
      <inkml:brushProperty name="color" value="#ff0000"/>
    </inkml:brush>
  </inkml:definitions>
  <inkml:trace contextRef="#ctx0" brushRef="#br0">24470.000 18221.000 3327 0,'0.000'0.000'144'2,"0.000"0.000"48"-2,0.000 0.000-192 0,0.000 0.000 0 3,0.000 0.000 0-3</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10T02:20:57"/>
    </inkml:context>
    <inkml:brush xml:id="br0">
      <inkml:brushProperty name="width" value="0.05" units="cm"/>
      <inkml:brushProperty name="height" value="0.05" units="cm"/>
      <inkml:brushProperty name="color" value="#000000"/>
    </inkml:brush>
  </inkml:definitions>
  <inkml:trace contextRef="#ctx0" brushRef="#br0">1.000 1.000 6191 0 0,'0.000'0.000'664'0'0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10T02:22:03"/>
    </inkml:context>
    <inkml:brush xml:id="br0">
      <inkml:brushProperty name="width" value="0.05" units="cm"/>
      <inkml:brushProperty name="height" value="0.05" units="cm"/>
      <inkml:brushProperty name="color" value="#000000"/>
    </inkml:brush>
  </inkml:definitions>
  <inkml:trace contextRef="#ctx0" brushRef="#br0">0.000 796.000 14743 0 0,'0.000'0.000'3560'0'0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10T02:20:36"/>
    </inkml:context>
    <inkml:brush xml:id="br0">
      <inkml:brushProperty name="width" value="0.05" units="cm"/>
      <inkml:brushProperty name="height" value="0.05" units="cm"/>
      <inkml:brushProperty name="color" value="#000000"/>
    </inkml:brush>
  </inkml:definitions>
  <inkml:trace contextRef="#ctx0" brushRef="#br0">28.000 222.000 10135 0 0,'0.000'0.000'1080'0'0,"-7.000"14.000"-1080"0"0,2.000-3.000 648 0 0,3.000 3.000 1776 0 0</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10T02:23:02"/>
    </inkml:context>
    <inkml:brush xml:id="br0">
      <inkml:brushProperty name="width" value="0.05" units="cm"/>
      <inkml:brushProperty name="height" value="0.05" units="cm"/>
      <inkml:brushProperty name="color" value="#000000"/>
    </inkml:brush>
  </inkml:definitions>
  <inkml:trace contextRef="#ctx0" brushRef="#br0">465.000 96.000 9671 0 0,'0.000'0.000'4328'0'0</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10T02:23:34"/>
    </inkml:context>
    <inkml:brush xml:id="br0">
      <inkml:brushProperty name="width" value="0.05" units="cm"/>
      <inkml:brushProperty name="height" value="0.05" units="cm"/>
      <inkml:brushProperty name="color" value="#000000"/>
    </inkml:brush>
  </inkml:definitions>
  <inkml:trace contextRef="#ctx0" brushRef="#br0">1.000 0.000 11519 0 0,'0.000'0.000'3992'0'0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56" tIns="48328" rIns="96656" bIns="48328" numCol="1" anchor="t" anchorCtr="0" compatLnSpc="1"/>
          <a:lstStyle>
            <a:lvl1pPr defTabSz="967105" eaLnBrk="1" hangingPunct="1">
              <a:defRPr sz="1200" b="0"/>
            </a:lvl1pPr>
          </a:lstStyle>
          <a:p>
            <a:pPr>
              <a:defRPr/>
            </a:pPr>
            <a:endParaRPr lang="en-US"/>
          </a:p>
        </p:txBody>
      </p:sp>
      <p:sp>
        <p:nvSpPr>
          <p:cNvPr id="49155" name="Rectangle 3"/>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6656" tIns="48328" rIns="96656" bIns="48328" numCol="1" anchor="t" anchorCtr="0" compatLnSpc="1"/>
          <a:lstStyle>
            <a:lvl1pPr algn="r" defTabSz="967105" eaLnBrk="1" hangingPunct="1">
              <a:defRPr sz="1200" b="0"/>
            </a:lvl1pPr>
          </a:lstStyle>
          <a:p>
            <a:pPr>
              <a:defRPr/>
            </a:pPr>
            <a:endParaRPr lang="en-US"/>
          </a:p>
        </p:txBody>
      </p:sp>
      <p:sp>
        <p:nvSpPr>
          <p:cNvPr id="4198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731838" y="4560888"/>
            <a:ext cx="5851525" cy="4319587"/>
          </a:xfrm>
          <a:prstGeom prst="rect">
            <a:avLst/>
          </a:prstGeom>
          <a:noFill/>
          <a:ln w="9525">
            <a:noFill/>
            <a:miter lim="800000"/>
          </a:ln>
          <a:effectLst/>
        </p:spPr>
        <p:txBody>
          <a:bodyPr vert="horz" wrap="square" lIns="96656" tIns="48328" rIns="96656" bIns="48328"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49158" name="Rectangle 6"/>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6656" tIns="48328" rIns="96656" bIns="48328" numCol="1" anchor="b" anchorCtr="0" compatLnSpc="1"/>
          <a:lstStyle>
            <a:lvl1pPr defTabSz="967105" eaLnBrk="1" hangingPunct="1">
              <a:defRPr sz="1200" b="0"/>
            </a:lvl1pPr>
          </a:lstStyle>
          <a:p>
            <a:pPr>
              <a:defRPr/>
            </a:pPr>
            <a:endParaRPr lang="en-US"/>
          </a:p>
        </p:txBody>
      </p:sp>
      <p:sp>
        <p:nvSpPr>
          <p:cNvPr id="49159" name="Rectangle 7"/>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6656" tIns="48328" rIns="96656" bIns="48328" numCol="1" anchor="b" anchorCtr="0" compatLnSpc="1"/>
          <a:lstStyle>
            <a:lvl1pPr algn="r" defTabSz="967105" eaLnBrk="1" hangingPunct="1">
              <a:defRPr sz="1200" b="0"/>
            </a:lvl1pPr>
          </a:lstStyle>
          <a:p>
            <a:pPr>
              <a:defRPr/>
            </a:pPr>
            <a:fld id="{E297EAD1-C33D-48A2-8CAB-582B6385EBDB}"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90204" pitchFamily="34" charset="0"/>
        <a:ea typeface="+mn-ea"/>
        <a:cs typeface="Arial" panose="020B060402020209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FFFF1-8662-394F-907E-7BF21FC6F64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kind of chained based graph is very important for us to compute the gradient. It has another name called computation graph. Those are cores for us to implement the backpropagation algorithm based on the chain rule.  Now let us look at them one by one</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now let us look at a more general case:  If we would like to compute the partial derivatives of the loss function </a:t>
            </a:r>
            <a:r>
              <a:rPr lang="en-US" dirty="0" err="1"/>
              <a:t>w.r.t.</a:t>
            </a:r>
            <a:r>
              <a:rPr lang="en-US" dirty="0"/>
              <a:t> the parameters </a:t>
            </a:r>
            <a:r>
              <a:rPr lang="en-US" dirty="0" err="1"/>
              <a:t>W_k</a:t>
            </a:r>
            <a:r>
              <a:rPr lang="en-US" dirty="0"/>
              <a:t> at the k </a:t>
            </a:r>
            <a:r>
              <a:rPr lang="en-US" dirty="0" err="1"/>
              <a:t>th</a:t>
            </a:r>
            <a:r>
              <a:rPr lang="en-US" dirty="0"/>
              <a:t> layer, first we could compute the partial derivatives of the loss function w.r.t the output of the kth layer, enclosed by the red rectangle. This derivates </a:t>
            </a:r>
            <a:r>
              <a:rPr lang="en-US" dirty="0" err="1"/>
              <a:t>w.r.t.</a:t>
            </a:r>
            <a:r>
              <a:rPr lang="en-US" dirty="0"/>
              <a:t> small </a:t>
            </a:r>
            <a:r>
              <a:rPr lang="en-US" dirty="0" err="1"/>
              <a:t>h_k</a:t>
            </a:r>
            <a:r>
              <a:rPr lang="en-US" dirty="0"/>
              <a:t> is then multiplied with the partial derivative of </a:t>
            </a:r>
            <a:r>
              <a:rPr lang="en-US" dirty="0" err="1"/>
              <a:t>h_k</a:t>
            </a:r>
            <a:r>
              <a:rPr lang="en-US" dirty="0"/>
              <a:t> </a:t>
            </a:r>
            <a:r>
              <a:rPr lang="en-US" dirty="0" err="1"/>
              <a:t>wrt</a:t>
            </a:r>
            <a:r>
              <a:rPr lang="en-US" dirty="0"/>
              <a:t> to the parameters of </a:t>
            </a:r>
            <a:r>
              <a:rPr lang="en-US" dirty="0" err="1"/>
              <a:t>w_k</a:t>
            </a:r>
            <a:r>
              <a:rPr lang="en-US" dirty="0"/>
              <a:t>.  This part within the red rectangle is called the upstream gradient, and this part is called local gradient.  In general, computing the gradient of the loss function w.r.t the parameters on a specific layer l, is  the multiplication of the of the upstream gradient up to that layer with the local gradient at that layer.</a:t>
            </a:r>
            <a:endParaRPr lang="en-US" dirty="0"/>
          </a:p>
          <a:p>
            <a:r>
              <a:rPr lang="en-US" dirty="0"/>
              <a:t>Note that this is the small k here.  The big K indicates the total number of layers.</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summary of the backpropagation algorithm. It involves one forward pass (denoted by the green arrows) and then backward pass. For a particular layer k, in the forward pass, we know </a:t>
            </a:r>
            <a:r>
              <a:rPr lang="en-US" dirty="0" err="1"/>
              <a:t>w_k</a:t>
            </a:r>
            <a:r>
              <a:rPr lang="en-US" dirty="0"/>
              <a:t> and h_(k-1)  and feed them into the function </a:t>
            </a:r>
            <a:r>
              <a:rPr lang="en-US" dirty="0" err="1"/>
              <a:t>f_k</a:t>
            </a:r>
            <a:r>
              <a:rPr lang="en-US" dirty="0"/>
              <a:t> at the layer, and evaluate its </a:t>
            </a:r>
            <a:r>
              <a:rPr lang="en-US" dirty="0" err="1"/>
              <a:t>ouput</a:t>
            </a:r>
            <a:r>
              <a:rPr lang="en-US" dirty="0"/>
              <a:t>; and then you get </a:t>
            </a:r>
            <a:r>
              <a:rPr lang="en-US" dirty="0" err="1"/>
              <a:t>h_k</a:t>
            </a:r>
            <a:r>
              <a:rPr lang="en-US" dirty="0"/>
              <a:t>, and etc.  When doing the backward pass for that particular layer; we have a upstream gradient computed w.r.t the output of layer k, i.e., </a:t>
            </a:r>
            <a:r>
              <a:rPr lang="en-US" dirty="0" err="1"/>
              <a:t>h_k</a:t>
            </a:r>
            <a:r>
              <a:rPr lang="en-US" dirty="0"/>
              <a:t>.  For the function at layer k, </a:t>
            </a:r>
            <a:r>
              <a:rPr lang="en-US" dirty="0" err="1"/>
              <a:t>f_k</a:t>
            </a:r>
            <a:r>
              <a:rPr lang="en-US" dirty="0"/>
              <a:t>,  we can compute two gradients one is the gradient of </a:t>
            </a:r>
            <a:r>
              <a:rPr lang="en-US" dirty="0" err="1"/>
              <a:t>f_k</a:t>
            </a:r>
            <a:r>
              <a:rPr lang="en-US" dirty="0"/>
              <a:t> </a:t>
            </a:r>
            <a:r>
              <a:rPr lang="en-US" dirty="0" err="1"/>
              <a:t>wrt</a:t>
            </a:r>
            <a:r>
              <a:rPr lang="en-US" dirty="0"/>
              <a:t> the parameters k, i.e., df/</a:t>
            </a:r>
            <a:r>
              <a:rPr lang="en-US" dirty="0" err="1"/>
              <a:t>dw</a:t>
            </a:r>
            <a:r>
              <a:rPr lang="en-US" dirty="0"/>
              <a:t>; the other gradient is the gradient of </a:t>
            </a:r>
            <a:r>
              <a:rPr lang="en-US" dirty="0" err="1"/>
              <a:t>f_k</a:t>
            </a:r>
            <a:r>
              <a:rPr lang="en-US" dirty="0"/>
              <a:t> </a:t>
            </a:r>
            <a:r>
              <a:rPr lang="en-US" dirty="0" err="1"/>
              <a:t>wrt</a:t>
            </a:r>
            <a:r>
              <a:rPr lang="en-US" dirty="0"/>
              <a:t> its input h_, </a:t>
            </a:r>
            <a:r>
              <a:rPr lang="en-US" dirty="0" err="1"/>
              <a:t>I,e</a:t>
            </a:r>
            <a:r>
              <a:rPr lang="en-US" dirty="0"/>
              <a:t>, the output of previous layer. By applying the chain rule on both path, we could obtain the gradient of loss w.r.t the parameters at that layer, and the gradient of loss w.r.t to the output of the layer k-1, i.e., propagate the upstream gradient to the previous layer k-1. DO this recursively, we could get all of the gradient of the loss w.r.t all of the parameters.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more general case, we just follow the same principle, and evaluate the gradients for all of the possible paths.  Now let us look at them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that for each node, the gradients are collected at all of its outgoing branches (i.e., paths.) For example, for this node, the there are two outgoing paths in the forward pass. When propagating the gradient, we consider the onsite direction of those outgoing paths. Those two directions become the in-going branches for gradients computation. And the gradients w.r.t the output of this node is simply the summation of all of the gradients from those branches.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use a very specific example to illustrate gradient calculation on the graph.  Look that we take a logistic regression as an example. The computation </a:t>
            </a:r>
            <a:r>
              <a:rPr lang="en-US" dirty="0" err="1"/>
              <a:t>grah</a:t>
            </a:r>
            <a:r>
              <a:rPr lang="en-US" dirty="0"/>
              <a:t> of the logistic regression example is as follows.  Each circle represents one math operation and each line with arrow represents either input variable or output variable.  Let us look at the forward pass by first setting those inputs and weights to those values.  Then we compute the values of those functions step by step. First is the multiplication and followed by addition.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forward pass, we could store the output of each node and those values could be potentially used in the backward pass for computing the gradient.  In this graph, when we finished the forward pass, we could get the final output as 0.73. Now  let us look at the backward. The first local function is1 over x; and its gradient is minus 1 over x square, we know the value of x is 1.37, and based on this we could evaluate the value of this gradient at x=1.37 and get a value of -053.</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-0.53 becomes he upstream gradient fort he add 1 layer, and multiply its local gradient 1.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-0.53,  which is the upstream gradient for the exp node, and multiply this with the local gradient of exp at input with -1 and we get -0.20</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is then upstream gradient for the *multiply by one* node, then multiply the local gradient of -1</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0.20, the upstream gradient for the addition layer.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could get gradient of the loss </a:t>
            </a:r>
            <a:r>
              <a:rPr lang="en-US" dirty="0" err="1"/>
              <a:t>w.r.t.</a:t>
            </a:r>
            <a:r>
              <a:rPr lang="en-US" dirty="0"/>
              <a:t> w_2, by multiplying the upstream gradient with the local gradient which is 1; this will give us a value of 0.20</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applied to another branch connecting to the adding node.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could get the upstream gradient for both multiplication nodes.   For the </a:t>
            </a:r>
            <a:r>
              <a:rPr lang="en-US" dirty="0" err="1"/>
              <a:t>the</a:t>
            </a:r>
            <a:r>
              <a:rPr lang="en-US" dirty="0"/>
              <a:t> x1 and w1 multiplication node, we multiply the upstream gradient 0.20 with the local gradient </a:t>
            </a:r>
            <a:r>
              <a:rPr lang="en-US" dirty="0" err="1"/>
              <a:t>w.r.t.</a:t>
            </a:r>
            <a:r>
              <a:rPr lang="en-US" dirty="0"/>
              <a:t>  the input x1, we could get 0.20 x 03.00 = 0.60</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complete one pass of forward propagation and backward propagation.   Now let us look at this in a bottom up manner. The graph with the red rectangle is </a:t>
            </a:r>
            <a:r>
              <a:rPr lang="en-US" dirty="0" err="1"/>
              <a:t>acurally</a:t>
            </a:r>
            <a:r>
              <a:rPr lang="en-US" dirty="0"/>
              <a:t> the sigmoid function.  In this way, we could use the sigmoid function to replace this red part and simplify the graph.</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summarize the patterns in gradient flow using another simple example</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 gate is the gradient distributor (equally)</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neuro network, we each layer normally has multiple outputs, that is we need to deal </a:t>
            </a:r>
            <a:r>
              <a:rPr lang="en-US"/>
              <a:t>with vectors </a:t>
            </a:r>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297EAD1-C33D-48A2-8CAB-582B6385EBDB}"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2BB9BE1-CC02-4630-A187-1FA3D78B1A2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74C1639-4E2F-4550-BAEE-C5BDC1CB80DD}"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CB1FF34-FEDA-430E-8462-E7A209AF306F}"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858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4219BF50-AC92-44AF-92A4-620F182E35C2}"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C5E26E91-021D-4B32-926D-DC16A89D51CC}"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11756749-8CA8-49DA-A68F-85171B0F527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8136D7BB-2806-4694-9201-C1DF6EA7CF15}"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A8AD4D2A-A0A1-4AB1-BF3F-4E3C9BF5598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8F8DC858-3513-47BE-8939-E01A91F098A2}"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7DD7741-022D-4361-BD74-799334698C23}"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960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85800" y="76200"/>
            <a:ext cx="5676900" cy="60960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AA8C337E-79AB-43D3-B7D5-9A8EDE49DF79}"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76200"/>
            <a:ext cx="7772400" cy="8382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3075" name="Rectangle 3"/>
          <p:cNvSpPr>
            <a:spLocks noGrp="1" noChangeArrowheads="1"/>
          </p:cNvSpPr>
          <p:nvPr>
            <p:ph type="body" idx="1"/>
          </p:nvPr>
        </p:nvSpPr>
        <p:spPr bwMode="auto">
          <a:xfrm>
            <a:off x="685800" y="914400"/>
            <a:ext cx="7772400" cy="525780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22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atin typeface="Times New Roman" panose="02020503050405090304" pitchFamily="18" charset="0"/>
              </a:defRPr>
            </a:lvl1pPr>
          </a:lstStyle>
          <a:p>
            <a:pPr>
              <a:defRPr/>
            </a:pPr>
            <a:endParaRPr lang="en-US"/>
          </a:p>
        </p:txBody>
      </p:sp>
      <p:sp>
        <p:nvSpPr>
          <p:cNvPr id="92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atin typeface="Times New Roman" panose="02020503050405090304" pitchFamily="18" charset="0"/>
              </a:defRPr>
            </a:lvl1pPr>
          </a:lstStyle>
          <a:p>
            <a:pPr>
              <a:defRPr/>
            </a:pPr>
            <a:endParaRPr lang="en-US"/>
          </a:p>
        </p:txBody>
      </p:sp>
      <p:sp>
        <p:nvSpPr>
          <p:cNvPr id="922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atin typeface="Times New Roman" panose="02020503050405090304" pitchFamily="18" charset="0"/>
              </a:defRPr>
            </a:lvl1pPr>
          </a:lstStyle>
          <a:p>
            <a:pPr>
              <a:defRPr/>
            </a:pPr>
            <a:fld id="{9D615FC6-65EA-469E-A2AC-6B14F4DC4664}" type="slidenum">
              <a:rPr lang="en-US"/>
            </a:fld>
            <a:endParaRPr lang="en-US"/>
          </a:p>
        </p:txBody>
      </p:sp>
      <p:sp>
        <p:nvSpPr>
          <p:cNvPr id="9223" name="Line 7"/>
          <p:cNvSpPr>
            <a:spLocks noChangeShapeType="1"/>
          </p:cNvSpPr>
          <p:nvPr/>
        </p:nvSpPr>
        <p:spPr bwMode="auto">
          <a:xfrm>
            <a:off x="685800" y="838200"/>
            <a:ext cx="7772400" cy="0"/>
          </a:xfrm>
          <a:prstGeom prst="line">
            <a:avLst/>
          </a:prstGeom>
          <a:noFill/>
          <a:ln w="38100">
            <a:solidFill>
              <a:schemeClr val="tx1"/>
            </a:solidFill>
            <a:round/>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3400">
          <a:solidFill>
            <a:schemeClr val="tx2"/>
          </a:solidFill>
          <a:latin typeface="+mj-lt"/>
          <a:ea typeface="+mj-ea"/>
          <a:cs typeface="+mj-cs"/>
        </a:defRPr>
      </a:lvl1pPr>
      <a:lvl2pPr algn="l" rtl="0" eaLnBrk="0" fontAlgn="base" hangingPunct="0">
        <a:spcBef>
          <a:spcPct val="0"/>
        </a:spcBef>
        <a:spcAft>
          <a:spcPct val="0"/>
        </a:spcAft>
        <a:defRPr sz="3400">
          <a:solidFill>
            <a:schemeClr val="tx2"/>
          </a:solidFill>
          <a:latin typeface="Arial" panose="020B0604020202090204" pitchFamily="34" charset="0"/>
        </a:defRPr>
      </a:lvl2pPr>
      <a:lvl3pPr algn="l" rtl="0" eaLnBrk="0" fontAlgn="base" hangingPunct="0">
        <a:spcBef>
          <a:spcPct val="0"/>
        </a:spcBef>
        <a:spcAft>
          <a:spcPct val="0"/>
        </a:spcAft>
        <a:defRPr sz="3400">
          <a:solidFill>
            <a:schemeClr val="tx2"/>
          </a:solidFill>
          <a:latin typeface="Arial" panose="020B0604020202090204" pitchFamily="34" charset="0"/>
        </a:defRPr>
      </a:lvl3pPr>
      <a:lvl4pPr algn="l" rtl="0" eaLnBrk="0" fontAlgn="base" hangingPunct="0">
        <a:spcBef>
          <a:spcPct val="0"/>
        </a:spcBef>
        <a:spcAft>
          <a:spcPct val="0"/>
        </a:spcAft>
        <a:defRPr sz="3400">
          <a:solidFill>
            <a:schemeClr val="tx2"/>
          </a:solidFill>
          <a:latin typeface="Arial" panose="020B0604020202090204" pitchFamily="34" charset="0"/>
        </a:defRPr>
      </a:lvl4pPr>
      <a:lvl5pPr algn="l" rtl="0" eaLnBrk="0" fontAlgn="base" hangingPunct="0">
        <a:spcBef>
          <a:spcPct val="0"/>
        </a:spcBef>
        <a:spcAft>
          <a:spcPct val="0"/>
        </a:spcAft>
        <a:defRPr sz="3400">
          <a:solidFill>
            <a:schemeClr val="tx2"/>
          </a:solidFill>
          <a:latin typeface="Arial" panose="020B0604020202090204" pitchFamily="34" charset="0"/>
        </a:defRPr>
      </a:lvl5pPr>
      <a:lvl6pPr marL="457200" algn="l" rtl="0" eaLnBrk="0" fontAlgn="base" hangingPunct="0">
        <a:spcBef>
          <a:spcPct val="0"/>
        </a:spcBef>
        <a:spcAft>
          <a:spcPct val="0"/>
        </a:spcAft>
        <a:defRPr sz="3400">
          <a:solidFill>
            <a:schemeClr val="tx2"/>
          </a:solidFill>
          <a:latin typeface="Arial" panose="020B0604020202090204" pitchFamily="34" charset="0"/>
        </a:defRPr>
      </a:lvl6pPr>
      <a:lvl7pPr marL="914400" algn="l" rtl="0" eaLnBrk="0" fontAlgn="base" hangingPunct="0">
        <a:spcBef>
          <a:spcPct val="0"/>
        </a:spcBef>
        <a:spcAft>
          <a:spcPct val="0"/>
        </a:spcAft>
        <a:defRPr sz="3400">
          <a:solidFill>
            <a:schemeClr val="tx2"/>
          </a:solidFill>
          <a:latin typeface="Arial" panose="020B0604020202090204" pitchFamily="34" charset="0"/>
        </a:defRPr>
      </a:lvl7pPr>
      <a:lvl8pPr marL="1371600" algn="l" rtl="0" eaLnBrk="0" fontAlgn="base" hangingPunct="0">
        <a:spcBef>
          <a:spcPct val="0"/>
        </a:spcBef>
        <a:spcAft>
          <a:spcPct val="0"/>
        </a:spcAft>
        <a:defRPr sz="3400">
          <a:solidFill>
            <a:schemeClr val="tx2"/>
          </a:solidFill>
          <a:latin typeface="Arial" panose="020B0604020202090204" pitchFamily="34" charset="0"/>
        </a:defRPr>
      </a:lvl8pPr>
      <a:lvl9pPr marL="1828800" algn="l" rtl="0" eaLnBrk="0" fontAlgn="base" hangingPunct="0">
        <a:spcBef>
          <a:spcPct val="0"/>
        </a:spcBef>
        <a:spcAft>
          <a:spcPct val="0"/>
        </a:spcAft>
        <a:defRPr sz="3400">
          <a:solidFill>
            <a:schemeClr val="tx2"/>
          </a:solidFill>
          <a:latin typeface="Arial" panose="020B0604020202090204" pitchFamily="34" charset="0"/>
        </a:defRPr>
      </a:lvl9pPr>
    </p:titleStyle>
    <p:bodyStyle>
      <a:lvl1pPr marL="342900" indent="-342900" algn="l" rtl="0" eaLnBrk="0" fontAlgn="base" hangingPunct="0">
        <a:spcBef>
          <a:spcPct val="20000"/>
        </a:spcBef>
        <a:spcAft>
          <a:spcPct val="0"/>
        </a:spcAft>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eaLnBrk="0" fontAlgn="base" hangingPunct="0">
        <a:spcBef>
          <a:spcPct val="20000"/>
        </a:spcBef>
        <a:spcAft>
          <a:spcPct val="0"/>
        </a:spcAft>
        <a:buChar char="»"/>
        <a:defRPr sz="1400">
          <a:solidFill>
            <a:schemeClr val="tx1"/>
          </a:solidFill>
          <a:latin typeface="+mn-lt"/>
        </a:defRPr>
      </a:lvl6pPr>
      <a:lvl7pPr marL="2971800" indent="-228600" algn="l" rtl="0" eaLnBrk="0" fontAlgn="base" hangingPunct="0">
        <a:spcBef>
          <a:spcPct val="20000"/>
        </a:spcBef>
        <a:spcAft>
          <a:spcPct val="0"/>
        </a:spcAft>
        <a:buChar char="»"/>
        <a:defRPr sz="1400">
          <a:solidFill>
            <a:schemeClr val="tx1"/>
          </a:solidFill>
          <a:latin typeface="+mn-lt"/>
        </a:defRPr>
      </a:lvl7pPr>
      <a:lvl8pPr marL="3429000" indent="-228600" algn="l" rtl="0" eaLnBrk="0" fontAlgn="base" hangingPunct="0">
        <a:spcBef>
          <a:spcPct val="20000"/>
        </a:spcBef>
        <a:spcAft>
          <a:spcPct val="0"/>
        </a:spcAft>
        <a:buChar char="»"/>
        <a:defRPr sz="1400">
          <a:solidFill>
            <a:schemeClr val="tx1"/>
          </a:solidFill>
          <a:latin typeface="+mn-lt"/>
        </a:defRPr>
      </a:lvl8pPr>
      <a:lvl9pPr marL="3886200" indent="-228600" algn="l" rtl="0" eaLnBrk="0" fontAlgn="base" hangingPunct="0">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tiff"/></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3" Type="http://schemas.openxmlformats.org/officeDocument/2006/relationships/slideLayout" Target="../slideLayouts/slideLayout2.xml"/><Relationship Id="rId12" Type="http://schemas.openxmlformats.org/officeDocument/2006/relationships/tags" Target="../tags/tag1.xml"/><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5" Type="http://schemas.openxmlformats.org/officeDocument/2006/relationships/notesSlide" Target="../notesSlides/notesSlide2.xml"/><Relationship Id="rId14" Type="http://schemas.openxmlformats.org/officeDocument/2006/relationships/slideLayout" Target="../slideLayouts/slideLayout2.xml"/><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4.png"/><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3.png"/><Relationship Id="rId3" Type="http://schemas.openxmlformats.org/officeDocument/2006/relationships/image" Target="../media/image18.png"/><Relationship Id="rId2" Type="http://schemas.openxmlformats.org/officeDocument/2006/relationships/image" Target="../media/image4.png"/><Relationship Id="rId15" Type="http://schemas.openxmlformats.org/officeDocument/2006/relationships/notesSlide" Target="../notesSlides/notesSlide3.xml"/><Relationship Id="rId14" Type="http://schemas.openxmlformats.org/officeDocument/2006/relationships/slideLayout" Target="../slideLayouts/slideLayout2.xml"/><Relationship Id="rId13" Type="http://schemas.openxmlformats.org/officeDocument/2006/relationships/tags" Target="../tags/tag2.xml"/><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2.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4.png"/><Relationship Id="rId15" Type="http://schemas.openxmlformats.org/officeDocument/2006/relationships/slideLayout" Target="../slideLayouts/slideLayout2.xml"/><Relationship Id="rId14" Type="http://schemas.openxmlformats.org/officeDocument/2006/relationships/tags" Target="../tags/tag3.xml"/><Relationship Id="rId13" Type="http://schemas.openxmlformats.org/officeDocument/2006/relationships/image" Target="../media/image29.png"/><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14.png"/><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2.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26.png"/><Relationship Id="rId3" Type="http://schemas.openxmlformats.org/officeDocument/2006/relationships/image" Target="../media/image25.png"/><Relationship Id="rId20" Type="http://schemas.openxmlformats.org/officeDocument/2006/relationships/slideLayout" Target="../slideLayouts/slideLayout2.xml"/><Relationship Id="rId2" Type="http://schemas.openxmlformats.org/officeDocument/2006/relationships/image" Target="../media/image4.png"/><Relationship Id="rId19" Type="http://schemas.openxmlformats.org/officeDocument/2006/relationships/tags" Target="../tags/tag4.xml"/><Relationship Id="rId18" Type="http://schemas.openxmlformats.org/officeDocument/2006/relationships/image" Target="../media/image35.png"/><Relationship Id="rId17" Type="http://schemas.openxmlformats.org/officeDocument/2006/relationships/image" Target="../media/image34.png"/><Relationship Id="rId16" Type="http://schemas.openxmlformats.org/officeDocument/2006/relationships/image" Target="../media/image33.png"/><Relationship Id="rId15" Type="http://schemas.openxmlformats.org/officeDocument/2006/relationships/image" Target="../media/image32.png"/><Relationship Id="rId14" Type="http://schemas.openxmlformats.org/officeDocument/2006/relationships/image" Target="../media/image21.png"/><Relationship Id="rId13" Type="http://schemas.openxmlformats.org/officeDocument/2006/relationships/image" Target="../media/image31.png"/><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14.png"/><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6.png"/><Relationship Id="rId23" Type="http://schemas.openxmlformats.org/officeDocument/2006/relationships/notesSlide" Target="../notesSlides/notesSlide4.xml"/><Relationship Id="rId22" Type="http://schemas.openxmlformats.org/officeDocument/2006/relationships/slideLayout" Target="../slideLayouts/slideLayout2.xml"/><Relationship Id="rId21" Type="http://schemas.openxmlformats.org/officeDocument/2006/relationships/tags" Target="../tags/tag5.xml"/><Relationship Id="rId20" Type="http://schemas.openxmlformats.org/officeDocument/2006/relationships/image" Target="../media/image49.png"/><Relationship Id="rId2" Type="http://schemas.openxmlformats.org/officeDocument/2006/relationships/image" Target="../media/image37.png"/><Relationship Id="rId19" Type="http://schemas.openxmlformats.org/officeDocument/2006/relationships/customXml" Target="../ink/ink1.xml"/><Relationship Id="rId18" Type="http://schemas.openxmlformats.org/officeDocument/2006/relationships/image" Target="../media/image48.png"/><Relationship Id="rId17" Type="http://schemas.openxmlformats.org/officeDocument/2006/relationships/image" Target="../media/image47.png"/><Relationship Id="rId16" Type="http://schemas.openxmlformats.org/officeDocument/2006/relationships/image" Target="../media/image46.png"/><Relationship Id="rId15" Type="http://schemas.openxmlformats.org/officeDocument/2006/relationships/image" Target="../media/image45.png"/><Relationship Id="rId14" Type="http://schemas.openxmlformats.org/officeDocument/2006/relationships/image" Target="../media/image44.png"/><Relationship Id="rId13" Type="http://schemas.openxmlformats.org/officeDocument/2006/relationships/image" Target="../media/image43.png"/><Relationship Id="rId12" Type="http://schemas.openxmlformats.org/officeDocument/2006/relationships/image" Target="../media/image16.png"/><Relationship Id="rId11" Type="http://schemas.openxmlformats.org/officeDocument/2006/relationships/image" Target="../media/image42.png"/><Relationship Id="rId10" Type="http://schemas.openxmlformats.org/officeDocument/2006/relationships/image" Target="../media/image41.png"/><Relationship Id="rId1" Type="http://schemas.openxmlformats.org/officeDocument/2006/relationships/image" Target="../media/image36.png"/></Relationships>
</file>

<file path=ppt/slides/_rels/slide11.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tags" Target="../tags/tag6.xml"/><Relationship Id="rId1" Type="http://schemas.openxmlformats.org/officeDocument/2006/relationships/image" Target="../media/image5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hyperlink" Target="https://towardsdatascience.com/an-overview-of-resnet-and-its-variants-5281e2f56035" TargetMode="External"/><Relationship Id="rId1" Type="http://schemas.openxmlformats.org/officeDocument/2006/relationships/image" Target="../media/image59.tiff"/></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hyperlink" Target="http://cs231n.stanford.edu/slides/2018/cs231n_2018_lecture04.pdf" TargetMode="External"/><Relationship Id="rId1" Type="http://schemas.openxmlformats.org/officeDocument/2006/relationships/image" Target="../media/image60.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8.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tags" Target="../tags/tag9.xml"/><Relationship Id="rId5" Type="http://schemas.openxmlformats.org/officeDocument/2006/relationships/hyperlink" Target="http://cs231n.stanford.edu/slides/2018/cs231n_2018_lecture04.pdf" TargetMode="External"/><Relationship Id="rId4" Type="http://schemas.openxmlformats.org/officeDocument/2006/relationships/image" Target="../media/image64.png"/><Relationship Id="rId3" Type="http://schemas.openxmlformats.org/officeDocument/2006/relationships/image" Target="../media/image62.png"/><Relationship Id="rId2" Type="http://schemas.openxmlformats.org/officeDocument/2006/relationships/image" Target="../media/image63.png"/><Relationship Id="rId1" Type="http://schemas.openxmlformats.org/officeDocument/2006/relationships/image" Target="../media/image6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0.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hyperlink" Target="http://cs231n.stanford.edu/slides/2018/cs231n_2018_lecture04.pdf" TargetMode="External"/><Relationship Id="rId3"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image" Target="../media/image6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2.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13.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15.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16.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17.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18.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19.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hyperlink" Target="http://cs231n.stanford.edu/slides/2018/cs231n_2018_lecture04.pdf" TargetMode="External"/><Relationship Id="rId2" Type="http://schemas.openxmlformats.org/officeDocument/2006/relationships/image" Target="../media/image62.png"/><Relationship Id="rId1" Type="http://schemas.openxmlformats.org/officeDocument/2006/relationships/image" Target="../media/image61.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hyperlink" Target="http://cs231n.stanford.edu/slides/2018/cs231n_2018_lecture04.pdf" TargetMode="External"/><Relationship Id="rId3" Type="http://schemas.openxmlformats.org/officeDocument/2006/relationships/image" Target="../media/image66.png"/><Relationship Id="rId2" Type="http://schemas.openxmlformats.org/officeDocument/2006/relationships/image" Target="../media/image62.png"/><Relationship Id="rId1" Type="http://schemas.openxmlformats.org/officeDocument/2006/relationships/image" Target="../media/image6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tags" Target="../tags/tag21.xml"/><Relationship Id="rId2" Type="http://schemas.openxmlformats.org/officeDocument/2006/relationships/hyperlink" Target="http://cs231n.stanford.edu/slides/2018/cs231n_2018_lecture04.pdf" TargetMode="External"/><Relationship Id="rId1" Type="http://schemas.openxmlformats.org/officeDocument/2006/relationships/image" Target="../media/image67.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hyperlink" Target="http://cs231n.stanford.edu/slides/2018/cs231n_2018_lecture04.pdf" TargetMode="External"/><Relationship Id="rId1" Type="http://schemas.openxmlformats.org/officeDocument/2006/relationships/image" Target="../media/image67.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tags" Target="../tags/tag23.xml"/><Relationship Id="rId2" Type="http://schemas.openxmlformats.org/officeDocument/2006/relationships/hyperlink" Target="http://cs231n.stanford.edu/slides/2018/cs231n_2018_lecture04.pdf" TargetMode="External"/><Relationship Id="rId1" Type="http://schemas.openxmlformats.org/officeDocument/2006/relationships/image" Target="../media/image67.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4.xml"/><Relationship Id="rId2" Type="http://schemas.openxmlformats.org/officeDocument/2006/relationships/hyperlink" Target="http://cs231n.stanford.edu/slides/2018/cs231n_2018_lecture04.pdf" TargetMode="External"/><Relationship Id="rId1" Type="http://schemas.openxmlformats.org/officeDocument/2006/relationships/image" Target="../media/image67.png"/></Relationships>
</file>

<file path=ppt/slides/_rels/slide32.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png"/><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6" Type="http://schemas.openxmlformats.org/officeDocument/2006/relationships/notesSlide" Target="../notesSlides/notesSlide25.xml"/><Relationship Id="rId15" Type="http://schemas.openxmlformats.org/officeDocument/2006/relationships/slideLayout" Target="../slideLayouts/slideLayout2.xml"/><Relationship Id="rId14" Type="http://schemas.openxmlformats.org/officeDocument/2006/relationships/tags" Target="../tags/tag25.xml"/><Relationship Id="rId13" Type="http://schemas.openxmlformats.org/officeDocument/2006/relationships/image" Target="../media/image80.png"/><Relationship Id="rId12" Type="http://schemas.openxmlformats.org/officeDocument/2006/relationships/image" Target="../media/image79.png"/><Relationship Id="rId11" Type="http://schemas.openxmlformats.org/officeDocument/2006/relationships/image" Target="../media/image78.png"/><Relationship Id="rId10" Type="http://schemas.openxmlformats.org/officeDocument/2006/relationships/image" Target="../media/image77.png"/><Relationship Id="rId1" Type="http://schemas.openxmlformats.org/officeDocument/2006/relationships/image" Target="../media/image6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83.png"/><Relationship Id="rId7" Type="http://schemas.openxmlformats.org/officeDocument/2006/relationships/image" Target="../media/image74.png"/><Relationship Id="rId6" Type="http://schemas.openxmlformats.org/officeDocument/2006/relationships/image" Target="../media/image82.png"/><Relationship Id="rId5" Type="http://schemas.openxmlformats.org/officeDocument/2006/relationships/image" Target="../media/image72.png"/><Relationship Id="rId4" Type="http://schemas.openxmlformats.org/officeDocument/2006/relationships/image" Target="../media/image81.png"/><Relationship Id="rId3" Type="http://schemas.openxmlformats.org/officeDocument/2006/relationships/image" Target="../media/image70.png"/><Relationship Id="rId2" Type="http://schemas.openxmlformats.org/officeDocument/2006/relationships/image" Target="../media/image69.png"/><Relationship Id="rId10" Type="http://schemas.openxmlformats.org/officeDocument/2006/relationships/slideLayout" Target="../slideLayouts/slideLayout2.xml"/><Relationship Id="rId1" Type="http://schemas.openxmlformats.org/officeDocument/2006/relationships/image" Target="../media/image68.png"/></Relationships>
</file>

<file path=ppt/slides/_rels/slide35.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74.png"/><Relationship Id="rId7" Type="http://schemas.openxmlformats.org/officeDocument/2006/relationships/image" Target="../media/image8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86.png"/><Relationship Id="rId2" Type="http://schemas.openxmlformats.org/officeDocument/2006/relationships/image" Target="../media/image85.png"/><Relationship Id="rId16" Type="http://schemas.openxmlformats.org/officeDocument/2006/relationships/slideLayout" Target="../slideLayouts/slideLayout2.xml"/><Relationship Id="rId15" Type="http://schemas.openxmlformats.org/officeDocument/2006/relationships/tags" Target="../tags/tag27.xml"/><Relationship Id="rId14" Type="http://schemas.openxmlformats.org/officeDocument/2006/relationships/image" Target="../media/image90.png"/><Relationship Id="rId13" Type="http://schemas.openxmlformats.org/officeDocument/2006/relationships/image" Target="../media/image89.png"/><Relationship Id="rId12" Type="http://schemas.openxmlformats.org/officeDocument/2006/relationships/image" Target="../media/image82.png"/><Relationship Id="rId11" Type="http://schemas.openxmlformats.org/officeDocument/2006/relationships/image" Target="../media/image72.png"/><Relationship Id="rId10" Type="http://schemas.openxmlformats.org/officeDocument/2006/relationships/image" Target="../media/image88.png"/><Relationship Id="rId1" Type="http://schemas.openxmlformats.org/officeDocument/2006/relationships/image" Target="../media/image84.png"/></Relationships>
</file>

<file path=ppt/slides/_rels/slide36.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png"/><Relationship Id="rId7" Type="http://schemas.openxmlformats.org/officeDocument/2006/relationships/image" Target="../media/image95.png"/><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91.png"/><Relationship Id="rId20" Type="http://schemas.openxmlformats.org/officeDocument/2006/relationships/slideLayout" Target="../slideLayouts/slideLayout2.xml"/><Relationship Id="rId2" Type="http://schemas.openxmlformats.org/officeDocument/2006/relationships/image" Target="../media/image69.png"/><Relationship Id="rId19" Type="http://schemas.openxmlformats.org/officeDocument/2006/relationships/tags" Target="../tags/tag28.xml"/><Relationship Id="rId18" Type="http://schemas.openxmlformats.org/officeDocument/2006/relationships/image" Target="../media/image103.png"/><Relationship Id="rId17" Type="http://schemas.openxmlformats.org/officeDocument/2006/relationships/image" Target="../media/image76.png"/><Relationship Id="rId16" Type="http://schemas.openxmlformats.org/officeDocument/2006/relationships/image" Target="../media/image80.png"/><Relationship Id="rId15" Type="http://schemas.openxmlformats.org/officeDocument/2006/relationships/image" Target="../media/image102.png"/><Relationship Id="rId14" Type="http://schemas.openxmlformats.org/officeDocument/2006/relationships/image" Target="../media/image79.png"/><Relationship Id="rId13" Type="http://schemas.openxmlformats.org/officeDocument/2006/relationships/image" Target="../media/image101.png"/><Relationship Id="rId12" Type="http://schemas.openxmlformats.org/officeDocument/2006/relationships/image" Target="../media/image100.png"/><Relationship Id="rId11" Type="http://schemas.openxmlformats.org/officeDocument/2006/relationships/image" Target="../media/image99.png"/><Relationship Id="rId10" Type="http://schemas.openxmlformats.org/officeDocument/2006/relationships/image" Target="../media/image98.png"/><Relationship Id="rId1" Type="http://schemas.openxmlformats.org/officeDocument/2006/relationships/image" Target="../media/image68.png"/></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9.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30.xml"/><Relationship Id="rId6" Type="http://schemas.openxmlformats.org/officeDocument/2006/relationships/image" Target="../media/image109.png"/><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hyperlink" Target="http://cs231n.stanford.edu/syllabus.html" TargetMode="External"/></Relationships>
</file>

<file path=ppt/slides/_rels/slide40.xml.rels><?xml version="1.0" encoding="UTF-8" standalone="yes"?>
<Relationships xmlns="http://schemas.openxmlformats.org/package/2006/relationships"><Relationship Id="rId9" Type="http://schemas.openxmlformats.org/officeDocument/2006/relationships/customXml" Target="../ink/ink6.xml"/><Relationship Id="rId8" Type="http://schemas.openxmlformats.org/officeDocument/2006/relationships/image" Target="../media/image118.png"/><Relationship Id="rId7" Type="http://schemas.openxmlformats.org/officeDocument/2006/relationships/customXml" Target="../ink/ink5.xml"/><Relationship Id="rId6" Type="http://schemas.openxmlformats.org/officeDocument/2006/relationships/image" Target="../media/image117.png"/><Relationship Id="rId5" Type="http://schemas.openxmlformats.org/officeDocument/2006/relationships/customXml" Target="../ink/ink4.xml"/><Relationship Id="rId4" Type="http://schemas.openxmlformats.org/officeDocument/2006/relationships/image" Target="../media/image116.png"/><Relationship Id="rId3" Type="http://schemas.openxmlformats.org/officeDocument/2006/relationships/customXml" Target="../ink/ink3.xml"/><Relationship Id="rId2" Type="http://schemas.openxmlformats.org/officeDocument/2006/relationships/image" Target="../media/image115.png"/><Relationship Id="rId11" Type="http://schemas.openxmlformats.org/officeDocument/2006/relationships/slideLayout" Target="../slideLayouts/slideLayout2.xml"/><Relationship Id="rId10" Type="http://schemas.openxmlformats.org/officeDocument/2006/relationships/image" Target="../media/image119.png"/><Relationship Id="rId1"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228600" y="228600"/>
            <a:ext cx="8569516" cy="131762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050" name="Title 1"/>
          <p:cNvSpPr txBox="1"/>
          <p:nvPr/>
        </p:nvSpPr>
        <p:spPr bwMode="auto">
          <a:xfrm>
            <a:off x="228600" y="990600"/>
            <a:ext cx="8686800" cy="1470025"/>
          </a:xfrm>
          <a:prstGeom prst="rect">
            <a:avLst/>
          </a:prstGeom>
          <a:noFill/>
          <a:ln>
            <a:noFill/>
          </a:ln>
        </p:spPr>
        <p:txBody>
          <a:bodyPr lIns="91430" tIns="45715" rIns="91430" bIns="45715" anchor="ctr"/>
          <a:lstStyle>
            <a:lvl1pPr eaLnBrk="0" hangingPunct="0">
              <a:defRPr>
                <a:solidFill>
                  <a:schemeClr val="tx1"/>
                </a:solidFill>
                <a:latin typeface="Arial" panose="020B0604020202090204" pitchFamily="34" charset="0"/>
                <a:ea typeface="MS PGothic" charset="0"/>
                <a:cs typeface="MS PGothic" charset="0"/>
              </a:defRPr>
            </a:lvl1pPr>
            <a:lvl2pPr marL="742950" indent="-285750" eaLnBrk="0" hangingPunct="0">
              <a:defRPr>
                <a:solidFill>
                  <a:schemeClr val="tx1"/>
                </a:solidFill>
                <a:latin typeface="Arial" panose="020B0604020202090204" pitchFamily="34" charset="0"/>
                <a:ea typeface="MS PGothic" charset="0"/>
              </a:defRPr>
            </a:lvl2pPr>
            <a:lvl3pPr marL="1143000" indent="-228600" eaLnBrk="0" hangingPunct="0">
              <a:defRPr>
                <a:solidFill>
                  <a:schemeClr val="tx1"/>
                </a:solidFill>
                <a:latin typeface="Arial" panose="020B0604020202090204" pitchFamily="34" charset="0"/>
                <a:ea typeface="MS PGothic" charset="0"/>
              </a:defRPr>
            </a:lvl3pPr>
            <a:lvl4pPr marL="1600200" indent="-228600" eaLnBrk="0" hangingPunct="0">
              <a:defRPr>
                <a:solidFill>
                  <a:schemeClr val="tx1"/>
                </a:solidFill>
                <a:latin typeface="Arial" panose="020B0604020202090204" pitchFamily="34" charset="0"/>
                <a:ea typeface="MS PGothic" charset="0"/>
              </a:defRPr>
            </a:lvl4pPr>
            <a:lvl5pPr marL="2057400" indent="-228600" eaLnBrk="0" hangingPunct="0">
              <a:defRPr>
                <a:solidFill>
                  <a:schemeClr val="tx1"/>
                </a:solidFill>
                <a:latin typeface="Arial" panose="020B0604020202090204" pitchFamily="34" charset="0"/>
                <a:ea typeface="MS PGothic" charset="0"/>
              </a:defRPr>
            </a:lvl5pPr>
            <a:lvl6pPr marL="2514600" indent="-228600" eaLnBrk="0" fontAlgn="base" hangingPunct="0">
              <a:spcBef>
                <a:spcPct val="0"/>
              </a:spcBef>
              <a:spcAft>
                <a:spcPct val="0"/>
              </a:spcAft>
              <a:defRPr>
                <a:solidFill>
                  <a:schemeClr val="tx1"/>
                </a:solidFill>
                <a:latin typeface="Arial" panose="020B0604020202090204" pitchFamily="34" charset="0"/>
                <a:ea typeface="MS PGothic" charset="0"/>
              </a:defRPr>
            </a:lvl6pPr>
            <a:lvl7pPr marL="2971800" indent="-228600" eaLnBrk="0" fontAlgn="base" hangingPunct="0">
              <a:spcBef>
                <a:spcPct val="0"/>
              </a:spcBef>
              <a:spcAft>
                <a:spcPct val="0"/>
              </a:spcAft>
              <a:defRPr>
                <a:solidFill>
                  <a:schemeClr val="tx1"/>
                </a:solidFill>
                <a:latin typeface="Arial" panose="020B0604020202090204" pitchFamily="34" charset="0"/>
                <a:ea typeface="MS PGothic" charset="0"/>
              </a:defRPr>
            </a:lvl7pPr>
            <a:lvl8pPr marL="3429000" indent="-228600" eaLnBrk="0" fontAlgn="base" hangingPunct="0">
              <a:spcBef>
                <a:spcPct val="0"/>
              </a:spcBef>
              <a:spcAft>
                <a:spcPct val="0"/>
              </a:spcAft>
              <a:defRPr>
                <a:solidFill>
                  <a:schemeClr val="tx1"/>
                </a:solidFill>
                <a:latin typeface="Arial" panose="020B0604020202090204" pitchFamily="34" charset="0"/>
                <a:ea typeface="MS PGothic" charset="0"/>
              </a:defRPr>
            </a:lvl8pPr>
            <a:lvl9pPr marL="3886200" indent="-228600" eaLnBrk="0" fontAlgn="base" hangingPunct="0">
              <a:spcBef>
                <a:spcPct val="0"/>
              </a:spcBef>
              <a:spcAft>
                <a:spcPct val="0"/>
              </a:spcAft>
              <a:defRPr>
                <a:solidFill>
                  <a:schemeClr val="tx1"/>
                </a:solidFill>
                <a:latin typeface="Arial" panose="020B0604020202090204" pitchFamily="34" charset="0"/>
                <a:ea typeface="MS PGothic" charset="0"/>
              </a:defRPr>
            </a:lvl9pPr>
          </a:lstStyle>
          <a:p>
            <a:pPr algn="ctr" eaLnBrk="1" hangingPunct="1"/>
            <a:r>
              <a:rPr lang="en-US" sz="4000" b="0" dirty="0">
                <a:latin typeface="+mn-lt"/>
              </a:rPr>
              <a:t>Multi-layer neural networks and backpropagation (Examples)</a:t>
            </a:r>
            <a:endParaRPr lang="en-US" sz="4000" b="0" dirty="0">
              <a:latin typeface="+mn-lt"/>
            </a:endParaRPr>
          </a:p>
        </p:txBody>
      </p:sp>
      <p:sp>
        <p:nvSpPr>
          <p:cNvPr id="6" name="Title 1"/>
          <p:cNvSpPr txBox="1"/>
          <p:nvPr/>
        </p:nvSpPr>
        <p:spPr bwMode="auto">
          <a:xfrm>
            <a:off x="169958" y="2846387"/>
            <a:ext cx="8686800" cy="1470025"/>
          </a:xfrm>
          <a:prstGeom prst="rect">
            <a:avLst/>
          </a:prstGeom>
          <a:noFill/>
          <a:ln>
            <a:noFill/>
          </a:ln>
        </p:spPr>
        <p:txBody>
          <a:bodyPr lIns="91430" tIns="45715" rIns="91430" bIns="45715" anchor="ctr"/>
          <a:lstStyle>
            <a:lvl1pPr eaLnBrk="0" hangingPunct="0">
              <a:defRPr>
                <a:solidFill>
                  <a:schemeClr val="tx1"/>
                </a:solidFill>
                <a:latin typeface="Arial" panose="020B0604020202090204" pitchFamily="34" charset="0"/>
                <a:ea typeface="MS PGothic" charset="0"/>
                <a:cs typeface="MS PGothic" charset="0"/>
              </a:defRPr>
            </a:lvl1pPr>
            <a:lvl2pPr marL="742950" indent="-285750" eaLnBrk="0" hangingPunct="0">
              <a:defRPr>
                <a:solidFill>
                  <a:schemeClr val="tx1"/>
                </a:solidFill>
                <a:latin typeface="Arial" panose="020B0604020202090204" pitchFamily="34" charset="0"/>
                <a:ea typeface="MS PGothic" charset="0"/>
              </a:defRPr>
            </a:lvl2pPr>
            <a:lvl3pPr marL="1143000" indent="-228600" eaLnBrk="0" hangingPunct="0">
              <a:defRPr>
                <a:solidFill>
                  <a:schemeClr val="tx1"/>
                </a:solidFill>
                <a:latin typeface="Arial" panose="020B0604020202090204" pitchFamily="34" charset="0"/>
                <a:ea typeface="MS PGothic" charset="0"/>
              </a:defRPr>
            </a:lvl3pPr>
            <a:lvl4pPr marL="1600200" indent="-228600" eaLnBrk="0" hangingPunct="0">
              <a:defRPr>
                <a:solidFill>
                  <a:schemeClr val="tx1"/>
                </a:solidFill>
                <a:latin typeface="Arial" panose="020B0604020202090204" pitchFamily="34" charset="0"/>
                <a:ea typeface="MS PGothic" charset="0"/>
              </a:defRPr>
            </a:lvl4pPr>
            <a:lvl5pPr marL="2057400" indent="-228600" eaLnBrk="0" hangingPunct="0">
              <a:defRPr>
                <a:solidFill>
                  <a:schemeClr val="tx1"/>
                </a:solidFill>
                <a:latin typeface="Arial" panose="020B0604020202090204" pitchFamily="34" charset="0"/>
                <a:ea typeface="MS PGothic" charset="0"/>
              </a:defRPr>
            </a:lvl5pPr>
            <a:lvl6pPr marL="2514600" indent="-228600" eaLnBrk="0" fontAlgn="base" hangingPunct="0">
              <a:spcBef>
                <a:spcPct val="0"/>
              </a:spcBef>
              <a:spcAft>
                <a:spcPct val="0"/>
              </a:spcAft>
              <a:defRPr>
                <a:solidFill>
                  <a:schemeClr val="tx1"/>
                </a:solidFill>
                <a:latin typeface="Arial" panose="020B0604020202090204" pitchFamily="34" charset="0"/>
                <a:ea typeface="MS PGothic" charset="0"/>
              </a:defRPr>
            </a:lvl6pPr>
            <a:lvl7pPr marL="2971800" indent="-228600" eaLnBrk="0" fontAlgn="base" hangingPunct="0">
              <a:spcBef>
                <a:spcPct val="0"/>
              </a:spcBef>
              <a:spcAft>
                <a:spcPct val="0"/>
              </a:spcAft>
              <a:defRPr>
                <a:solidFill>
                  <a:schemeClr val="tx1"/>
                </a:solidFill>
                <a:latin typeface="Arial" panose="020B0604020202090204" pitchFamily="34" charset="0"/>
                <a:ea typeface="MS PGothic" charset="0"/>
              </a:defRPr>
            </a:lvl7pPr>
            <a:lvl8pPr marL="3429000" indent="-228600" eaLnBrk="0" fontAlgn="base" hangingPunct="0">
              <a:spcBef>
                <a:spcPct val="0"/>
              </a:spcBef>
              <a:spcAft>
                <a:spcPct val="0"/>
              </a:spcAft>
              <a:defRPr>
                <a:solidFill>
                  <a:schemeClr val="tx1"/>
                </a:solidFill>
                <a:latin typeface="Arial" panose="020B0604020202090204" pitchFamily="34" charset="0"/>
                <a:ea typeface="MS PGothic" charset="0"/>
              </a:defRPr>
            </a:lvl8pPr>
            <a:lvl9pPr marL="3886200" indent="-228600" eaLnBrk="0" fontAlgn="base" hangingPunct="0">
              <a:spcBef>
                <a:spcPct val="0"/>
              </a:spcBef>
              <a:spcAft>
                <a:spcPct val="0"/>
              </a:spcAft>
              <a:defRPr>
                <a:solidFill>
                  <a:schemeClr val="tx1"/>
                </a:solidFill>
                <a:latin typeface="Arial" panose="020B0604020202090204" pitchFamily="34" charset="0"/>
                <a:ea typeface="MS PGothic" charset="0"/>
              </a:defRPr>
            </a:lvl9pPr>
          </a:lstStyle>
          <a:p>
            <a:pPr algn="ctr" eaLnBrk="1" hangingPunct="1"/>
            <a:r>
              <a:rPr lang="en-US" sz="4000" b="0" dirty="0">
                <a:latin typeface="+mn-lt"/>
              </a:rPr>
              <a:t>Jianguo Zhang</a:t>
            </a:r>
            <a:endParaRPr lang="en-US" sz="4000" b="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Beyond two layers</a:t>
            </a:r>
            <a:endParaRPr lang="en-US" dirty="0"/>
          </a:p>
        </p:txBody>
      </p:sp>
      <p:pic>
        <p:nvPicPr>
          <p:cNvPr id="4" name="Picture 3"/>
          <p:cNvPicPr>
            <a:picLocks noChangeAspect="1"/>
          </p:cNvPicPr>
          <p:nvPr/>
        </p:nvPicPr>
        <p:blipFill>
          <a:blip r:embed="rId1"/>
          <a:stretch>
            <a:fillRect/>
          </a:stretch>
        </p:blipFill>
        <p:spPr>
          <a:xfrm>
            <a:off x="838200" y="1901050"/>
            <a:ext cx="7620000" cy="3737750"/>
          </a:xfrm>
          <a:prstGeom prst="rect">
            <a:avLst/>
          </a:prstGeom>
        </p:spPr>
      </p:pic>
      <p:sp>
        <p:nvSpPr>
          <p:cNvPr id="5" name="TextBox 4"/>
          <p:cNvSpPr txBox="1"/>
          <p:nvPr/>
        </p:nvSpPr>
        <p:spPr>
          <a:xfrm>
            <a:off x="5334000" y="6423293"/>
            <a:ext cx="3276600" cy="338554"/>
          </a:xfrm>
          <a:prstGeom prst="rect">
            <a:avLst/>
          </a:prstGeom>
          <a:noFill/>
        </p:spPr>
        <p:txBody>
          <a:bodyPr wrap="square" rtlCol="0">
            <a:spAutoFit/>
          </a:bodyPr>
          <a:lstStyle/>
          <a:p>
            <a:r>
              <a:rPr lang="en-US" sz="1600" b="0" dirty="0"/>
              <a:t>Slides adapted from </a:t>
            </a:r>
            <a:r>
              <a:rPr lang="en-US" sz="1600" b="0" dirty="0" err="1"/>
              <a:t>lana</a:t>
            </a:r>
            <a:r>
              <a:rPr lang="en-US" sz="1600" b="0" dirty="0"/>
              <a:t> </a:t>
            </a:r>
            <a:r>
              <a:rPr lang="en-US" sz="1600" b="0" dirty="0" err="1"/>
              <a:t>lazebnik</a:t>
            </a:r>
            <a:endParaRPr lang="en-US" sz="1600" b="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p:txBody>
          <a:bodyPr/>
          <a:lstStyle/>
          <a:p>
            <a:pPr eaLnBrk="1" hangingPunct="1"/>
            <a:r>
              <a:rPr lang="en-US" sz="3600" dirty="0">
                <a:latin typeface="+mn-lt"/>
              </a:rPr>
              <a:t>“Deep” pipeline</a:t>
            </a:r>
            <a:endParaRPr lang="en-US" sz="3600" dirty="0">
              <a:latin typeface="+mn-lt"/>
            </a:endParaRPr>
          </a:p>
        </p:txBody>
      </p:sp>
      <p:sp>
        <p:nvSpPr>
          <p:cNvPr id="10242" name="Content Placeholder 2"/>
          <p:cNvSpPr>
            <a:spLocks noGrp="1"/>
          </p:cNvSpPr>
          <p:nvPr>
            <p:ph idx="1"/>
          </p:nvPr>
        </p:nvSpPr>
        <p:spPr>
          <a:xfrm>
            <a:off x="685800" y="3352800"/>
            <a:ext cx="7772400" cy="2895600"/>
          </a:xfrm>
        </p:spPr>
        <p:txBody>
          <a:bodyPr/>
          <a:lstStyle/>
          <a:p>
            <a:pPr marL="342900" lvl="1" indent="-342900" eaLnBrk="1" hangingPunct="1">
              <a:spcAft>
                <a:spcPts val="1200"/>
              </a:spcAft>
              <a:buFont typeface="Arial" panose="020B0604020202090204"/>
              <a:buChar char="•"/>
            </a:pPr>
            <a:r>
              <a:rPr lang="en-US" sz="2800" dirty="0"/>
              <a:t>Learn a </a:t>
            </a:r>
            <a:r>
              <a:rPr lang="en-US" sz="2800" i="1" dirty="0"/>
              <a:t>feature hierarchy</a:t>
            </a:r>
            <a:endParaRPr lang="en-US" sz="2800" dirty="0">
              <a:sym typeface="Wingdings" panose="05000000000000000000" charset="0"/>
            </a:endParaRPr>
          </a:p>
          <a:p>
            <a:pPr marL="342900" lvl="1" indent="-342900" eaLnBrk="1" hangingPunct="1">
              <a:spcAft>
                <a:spcPts val="1200"/>
              </a:spcAft>
              <a:buFont typeface="Arial" panose="020B0604020202090204"/>
              <a:buChar char="•"/>
            </a:pPr>
            <a:r>
              <a:rPr lang="en-US" sz="2800" dirty="0"/>
              <a:t>Each layer extracts features from the output of previous layer</a:t>
            </a:r>
            <a:endParaRPr lang="en-US" sz="2800" dirty="0"/>
          </a:p>
          <a:p>
            <a:pPr marL="342900" lvl="1" indent="-342900" eaLnBrk="1" hangingPunct="1">
              <a:spcAft>
                <a:spcPts val="1200"/>
              </a:spcAft>
              <a:buFont typeface="Arial" panose="020B0604020202090204"/>
              <a:buChar char="•"/>
            </a:pPr>
            <a:r>
              <a:rPr lang="en-US" sz="2800" dirty="0"/>
              <a:t>All layers are trained jointly</a:t>
            </a:r>
            <a:endParaRPr lang="en-US" sz="2800" dirty="0"/>
          </a:p>
        </p:txBody>
      </p:sp>
      <p:sp>
        <p:nvSpPr>
          <p:cNvPr id="2" name="Rounded Rectangle 1"/>
          <p:cNvSpPr>
            <a:spLocks noChangeArrowheads="1"/>
          </p:cNvSpPr>
          <p:nvPr/>
        </p:nvSpPr>
        <p:spPr bwMode="auto">
          <a:xfrm>
            <a:off x="1676400" y="1600200"/>
            <a:ext cx="1524000" cy="838200"/>
          </a:xfrm>
          <a:prstGeom prst="roundRect">
            <a:avLst>
              <a:gd name="adj" fmla="val 16667"/>
            </a:avLst>
          </a:prstGeom>
          <a:gradFill rotWithShape="1">
            <a:gsLst>
              <a:gs pos="0">
                <a:srgbClr val="FF8F26"/>
              </a:gs>
              <a:gs pos="20000">
                <a:srgbClr val="FF8F2A"/>
              </a:gs>
              <a:gs pos="100000">
                <a:srgbClr val="CB6C1D"/>
              </a:gs>
            </a:gsLst>
            <a:lin ang="5400000"/>
          </a:gradFill>
          <a:ln w="9525">
            <a:solidFill>
              <a:srgbClr val="F69240"/>
            </a:solidFill>
            <a:round/>
          </a:ln>
          <a:effectLst>
            <a:outerShdw dist="23000" dir="5400000" rotWithShape="0">
              <a:srgbClr val="808080">
                <a:alpha val="34998"/>
              </a:srgbClr>
            </a:outerShdw>
          </a:effectLst>
        </p:spPr>
        <p:txBody>
          <a:bodyPr lIns="91430" tIns="45715" rIns="91430" bIns="45715" anchor="ctr"/>
          <a:lstStyle/>
          <a:p>
            <a:pPr algn="ctr">
              <a:defRPr/>
            </a:pPr>
            <a:r>
              <a:rPr lang="en-US" sz="2000" b="0" dirty="0">
                <a:latin typeface="+mn-lt"/>
                <a:ea typeface="+mn-ea"/>
                <a:cs typeface="Adobe Caslon Pro"/>
              </a:rPr>
              <a:t>Layer 1</a:t>
            </a:r>
            <a:endParaRPr lang="en-US" sz="2000" b="0" dirty="0">
              <a:latin typeface="+mn-lt"/>
              <a:ea typeface="+mn-ea"/>
              <a:cs typeface="Adobe Caslon Pro"/>
            </a:endParaRPr>
          </a:p>
        </p:txBody>
      </p:sp>
      <p:sp>
        <p:nvSpPr>
          <p:cNvPr id="12" name="Rounded Rectangle 11"/>
          <p:cNvSpPr>
            <a:spLocks noChangeArrowheads="1"/>
          </p:cNvSpPr>
          <p:nvPr/>
        </p:nvSpPr>
        <p:spPr bwMode="auto">
          <a:xfrm>
            <a:off x="3733800" y="1600200"/>
            <a:ext cx="1524000" cy="838200"/>
          </a:xfrm>
          <a:prstGeom prst="roundRect">
            <a:avLst>
              <a:gd name="adj" fmla="val 16667"/>
            </a:avLst>
          </a:prstGeom>
          <a:gradFill rotWithShape="1">
            <a:gsLst>
              <a:gs pos="0">
                <a:srgbClr val="FF8F26"/>
              </a:gs>
              <a:gs pos="20000">
                <a:srgbClr val="FF8F2A"/>
              </a:gs>
              <a:gs pos="100000">
                <a:srgbClr val="CB6C1D"/>
              </a:gs>
            </a:gsLst>
            <a:lin ang="5400000"/>
          </a:gradFill>
          <a:ln w="9525">
            <a:solidFill>
              <a:srgbClr val="F69240"/>
            </a:solidFill>
            <a:round/>
          </a:ln>
          <a:effectLst>
            <a:outerShdw dist="23000" dir="5400000" rotWithShape="0">
              <a:srgbClr val="808080">
                <a:alpha val="34998"/>
              </a:srgbClr>
            </a:outerShdw>
          </a:effectLst>
        </p:spPr>
        <p:txBody>
          <a:bodyPr lIns="91430" tIns="45715" rIns="91430" bIns="45715" anchor="ctr"/>
          <a:lstStyle/>
          <a:p>
            <a:pPr algn="ctr">
              <a:defRPr/>
            </a:pPr>
            <a:r>
              <a:rPr lang="en-US" sz="2000" b="0" dirty="0">
                <a:latin typeface="+mn-lt"/>
                <a:ea typeface="+mn-ea"/>
                <a:cs typeface="Adobe Caslon Pro"/>
              </a:rPr>
              <a:t>Layer 2</a:t>
            </a:r>
            <a:endParaRPr lang="en-US" sz="2000" b="0" dirty="0">
              <a:latin typeface="+mn-lt"/>
              <a:ea typeface="+mn-ea"/>
              <a:cs typeface="Adobe Caslon Pro"/>
            </a:endParaRPr>
          </a:p>
        </p:txBody>
      </p:sp>
      <p:sp>
        <p:nvSpPr>
          <p:cNvPr id="13" name="Rounded Rectangle 12"/>
          <p:cNvSpPr>
            <a:spLocks noChangeArrowheads="1"/>
          </p:cNvSpPr>
          <p:nvPr/>
        </p:nvSpPr>
        <p:spPr bwMode="auto">
          <a:xfrm>
            <a:off x="5791200" y="1600200"/>
            <a:ext cx="1524000" cy="838200"/>
          </a:xfrm>
          <a:prstGeom prst="roundRect">
            <a:avLst>
              <a:gd name="adj" fmla="val 16667"/>
            </a:avLst>
          </a:prstGeom>
          <a:gradFill rotWithShape="1">
            <a:gsLst>
              <a:gs pos="0">
                <a:srgbClr val="FF8F26"/>
              </a:gs>
              <a:gs pos="20000">
                <a:srgbClr val="FF8F2A"/>
              </a:gs>
              <a:gs pos="100000">
                <a:srgbClr val="CB6C1D"/>
              </a:gs>
            </a:gsLst>
            <a:lin ang="5400000"/>
          </a:gradFill>
          <a:ln w="9525">
            <a:solidFill>
              <a:srgbClr val="F69240"/>
            </a:solidFill>
            <a:round/>
          </a:ln>
          <a:effectLst>
            <a:outerShdw dist="23000" dir="5400000" rotWithShape="0">
              <a:srgbClr val="808080">
                <a:alpha val="34998"/>
              </a:srgbClr>
            </a:outerShdw>
          </a:effectLst>
        </p:spPr>
        <p:txBody>
          <a:bodyPr lIns="91430" tIns="45715" rIns="91430" bIns="45715" anchor="ctr"/>
          <a:lstStyle/>
          <a:p>
            <a:pPr algn="ctr">
              <a:defRPr/>
            </a:pPr>
            <a:r>
              <a:rPr lang="en-US" sz="2000" b="0" dirty="0">
                <a:latin typeface="+mn-lt"/>
                <a:ea typeface="+mn-ea"/>
                <a:cs typeface="Adobe Caslon Pro"/>
              </a:rPr>
              <a:t>Layer 3</a:t>
            </a:r>
            <a:endParaRPr lang="en-US" sz="2000" b="0" dirty="0">
              <a:latin typeface="+mn-lt"/>
              <a:ea typeface="+mn-ea"/>
              <a:cs typeface="Adobe Caslon Pro"/>
            </a:endParaRPr>
          </a:p>
        </p:txBody>
      </p:sp>
      <p:sp>
        <p:nvSpPr>
          <p:cNvPr id="19" name="Right Arrow 18"/>
          <p:cNvSpPr>
            <a:spLocks noChangeArrowheads="1"/>
          </p:cNvSpPr>
          <p:nvPr/>
        </p:nvSpPr>
        <p:spPr bwMode="auto">
          <a:xfrm>
            <a:off x="7315200" y="1905000"/>
            <a:ext cx="533400" cy="266700"/>
          </a:xfrm>
          <a:prstGeom prst="rightArrow">
            <a:avLst>
              <a:gd name="adj1" fmla="val 50000"/>
              <a:gd name="adj2" fmla="val 50000"/>
            </a:avLst>
          </a:prstGeom>
          <a:gradFill rotWithShape="1">
            <a:gsLst>
              <a:gs pos="0">
                <a:srgbClr val="EDEDED"/>
              </a:gs>
              <a:gs pos="64999">
                <a:srgbClr val="D0D0D0"/>
              </a:gs>
              <a:gs pos="100000">
                <a:srgbClr val="BCBCBC"/>
              </a:gs>
            </a:gsLst>
            <a:lin ang="5400000" scaled="1"/>
          </a:gradFill>
          <a:ln w="9525">
            <a:solidFill>
              <a:srgbClr val="000000"/>
            </a:solidFill>
            <a:miter lim="800000"/>
          </a:ln>
          <a:effectLst>
            <a:outerShdw dist="20000" dir="5400000" rotWithShape="0">
              <a:srgbClr val="808080">
                <a:alpha val="37999"/>
              </a:srgbClr>
            </a:outerShdw>
          </a:effectLst>
        </p:spPr>
        <p:txBody>
          <a:bodyPr lIns="91430" tIns="45715" rIns="91430" bIns="45715" anchor="ctr"/>
          <a:lstStyle/>
          <a:p>
            <a:pPr algn="ctr">
              <a:defRPr/>
            </a:pPr>
            <a:endParaRPr lang="en-US" sz="2000" b="0">
              <a:latin typeface="+mn-lt"/>
              <a:ea typeface="+mn-ea"/>
              <a:cs typeface="+mn-cs"/>
            </a:endParaRPr>
          </a:p>
        </p:txBody>
      </p:sp>
      <p:sp>
        <p:nvSpPr>
          <p:cNvPr id="10252" name="TextBox 19"/>
          <p:cNvSpPr txBox="1">
            <a:spLocks noChangeArrowheads="1"/>
          </p:cNvSpPr>
          <p:nvPr/>
        </p:nvSpPr>
        <p:spPr bwMode="auto">
          <a:xfrm>
            <a:off x="7924800" y="1828800"/>
            <a:ext cx="952485" cy="400099"/>
          </a:xfrm>
          <a:prstGeom prst="rect">
            <a:avLst/>
          </a:prstGeom>
          <a:noFill/>
          <a:ln>
            <a:noFill/>
          </a:ln>
        </p:spPr>
        <p:txBody>
          <a:bodyPr wrap="none" lIns="91430" tIns="45715" rIns="91430" bIns="45715">
            <a:spAutoFit/>
          </a:bodyPr>
          <a:lstStyle>
            <a:lvl1pPr eaLnBrk="0" hangingPunct="0">
              <a:defRPr>
                <a:solidFill>
                  <a:schemeClr val="tx1"/>
                </a:solidFill>
                <a:latin typeface="Arial" panose="020B0604020202090204" pitchFamily="34" charset="0"/>
                <a:ea typeface="MS PGothic" charset="0"/>
                <a:cs typeface="MS PGothic" charset="0"/>
              </a:defRPr>
            </a:lvl1pPr>
            <a:lvl2pPr marL="742950" indent="-285750" eaLnBrk="0" hangingPunct="0">
              <a:defRPr>
                <a:solidFill>
                  <a:schemeClr val="tx1"/>
                </a:solidFill>
                <a:latin typeface="Arial" panose="020B0604020202090204" pitchFamily="34" charset="0"/>
                <a:ea typeface="MS PGothic" charset="0"/>
              </a:defRPr>
            </a:lvl2pPr>
            <a:lvl3pPr marL="1143000" indent="-228600" eaLnBrk="0" hangingPunct="0">
              <a:defRPr>
                <a:solidFill>
                  <a:schemeClr val="tx1"/>
                </a:solidFill>
                <a:latin typeface="Arial" panose="020B0604020202090204" pitchFamily="34" charset="0"/>
                <a:ea typeface="MS PGothic" charset="0"/>
              </a:defRPr>
            </a:lvl3pPr>
            <a:lvl4pPr marL="1600200" indent="-228600" eaLnBrk="0" hangingPunct="0">
              <a:defRPr>
                <a:solidFill>
                  <a:schemeClr val="tx1"/>
                </a:solidFill>
                <a:latin typeface="Arial" panose="020B0604020202090204" pitchFamily="34" charset="0"/>
                <a:ea typeface="MS PGothic" charset="0"/>
              </a:defRPr>
            </a:lvl4pPr>
            <a:lvl5pPr marL="2057400" indent="-228600" eaLnBrk="0" hangingPunct="0">
              <a:defRPr>
                <a:solidFill>
                  <a:schemeClr val="tx1"/>
                </a:solidFill>
                <a:latin typeface="Arial" panose="020B0604020202090204" pitchFamily="34" charset="0"/>
                <a:ea typeface="MS PGothic" charset="0"/>
              </a:defRPr>
            </a:lvl5pPr>
            <a:lvl6pPr marL="2514600" indent="-228600" eaLnBrk="0" fontAlgn="base" hangingPunct="0">
              <a:spcBef>
                <a:spcPct val="0"/>
              </a:spcBef>
              <a:spcAft>
                <a:spcPct val="0"/>
              </a:spcAft>
              <a:defRPr>
                <a:solidFill>
                  <a:schemeClr val="tx1"/>
                </a:solidFill>
                <a:latin typeface="Arial" panose="020B0604020202090204" pitchFamily="34" charset="0"/>
                <a:ea typeface="MS PGothic" charset="0"/>
              </a:defRPr>
            </a:lvl6pPr>
            <a:lvl7pPr marL="2971800" indent="-228600" eaLnBrk="0" fontAlgn="base" hangingPunct="0">
              <a:spcBef>
                <a:spcPct val="0"/>
              </a:spcBef>
              <a:spcAft>
                <a:spcPct val="0"/>
              </a:spcAft>
              <a:defRPr>
                <a:solidFill>
                  <a:schemeClr val="tx1"/>
                </a:solidFill>
                <a:latin typeface="Arial" panose="020B0604020202090204" pitchFamily="34" charset="0"/>
                <a:ea typeface="MS PGothic" charset="0"/>
              </a:defRPr>
            </a:lvl7pPr>
            <a:lvl8pPr marL="3429000" indent="-228600" eaLnBrk="0" fontAlgn="base" hangingPunct="0">
              <a:spcBef>
                <a:spcPct val="0"/>
              </a:spcBef>
              <a:spcAft>
                <a:spcPct val="0"/>
              </a:spcAft>
              <a:defRPr>
                <a:solidFill>
                  <a:schemeClr val="tx1"/>
                </a:solidFill>
                <a:latin typeface="Arial" panose="020B0604020202090204" pitchFamily="34" charset="0"/>
                <a:ea typeface="MS PGothic" charset="0"/>
              </a:defRPr>
            </a:lvl8pPr>
            <a:lvl9pPr marL="3886200" indent="-228600" eaLnBrk="0" fontAlgn="base" hangingPunct="0">
              <a:spcBef>
                <a:spcPct val="0"/>
              </a:spcBef>
              <a:spcAft>
                <a:spcPct val="0"/>
              </a:spcAft>
              <a:defRPr>
                <a:solidFill>
                  <a:schemeClr val="tx1"/>
                </a:solidFill>
                <a:latin typeface="Arial" panose="020B0604020202090204" pitchFamily="34" charset="0"/>
                <a:ea typeface="MS PGothic" charset="0"/>
              </a:defRPr>
            </a:lvl9pPr>
          </a:lstStyle>
          <a:p>
            <a:pPr algn="ctr" eaLnBrk="1" hangingPunct="1"/>
            <a:r>
              <a:rPr lang="en-US" sz="2000" b="0" dirty="0">
                <a:latin typeface="+mn-lt"/>
              </a:rPr>
              <a:t>Output</a:t>
            </a:r>
            <a:endParaRPr lang="en-US" sz="2000" b="0" dirty="0">
              <a:latin typeface="+mn-lt"/>
            </a:endParaRPr>
          </a:p>
        </p:txBody>
      </p:sp>
      <p:sp>
        <p:nvSpPr>
          <p:cNvPr id="10253" name="TextBox 20"/>
          <p:cNvSpPr txBox="1">
            <a:spLocks noChangeArrowheads="1"/>
          </p:cNvSpPr>
          <p:nvPr/>
        </p:nvSpPr>
        <p:spPr bwMode="auto">
          <a:xfrm>
            <a:off x="76200" y="1730524"/>
            <a:ext cx="1133754" cy="707876"/>
          </a:xfrm>
          <a:prstGeom prst="rect">
            <a:avLst/>
          </a:prstGeom>
          <a:noFill/>
          <a:ln>
            <a:noFill/>
          </a:ln>
        </p:spPr>
        <p:txBody>
          <a:bodyPr wrap="square" lIns="91430" tIns="45715" rIns="91430" bIns="45715">
            <a:spAutoFit/>
          </a:bodyPr>
          <a:lstStyle>
            <a:lvl1pPr eaLnBrk="0" hangingPunct="0">
              <a:defRPr>
                <a:solidFill>
                  <a:schemeClr val="tx1"/>
                </a:solidFill>
                <a:latin typeface="Arial" panose="020B0604020202090204" pitchFamily="34" charset="0"/>
                <a:ea typeface="MS PGothic" charset="0"/>
                <a:cs typeface="MS PGothic" charset="0"/>
              </a:defRPr>
            </a:lvl1pPr>
            <a:lvl2pPr marL="742950" indent="-285750" eaLnBrk="0" hangingPunct="0">
              <a:defRPr>
                <a:solidFill>
                  <a:schemeClr val="tx1"/>
                </a:solidFill>
                <a:latin typeface="Arial" panose="020B0604020202090204" pitchFamily="34" charset="0"/>
                <a:ea typeface="MS PGothic" charset="0"/>
              </a:defRPr>
            </a:lvl2pPr>
            <a:lvl3pPr marL="1143000" indent="-228600" eaLnBrk="0" hangingPunct="0">
              <a:defRPr>
                <a:solidFill>
                  <a:schemeClr val="tx1"/>
                </a:solidFill>
                <a:latin typeface="Arial" panose="020B0604020202090204" pitchFamily="34" charset="0"/>
                <a:ea typeface="MS PGothic" charset="0"/>
              </a:defRPr>
            </a:lvl3pPr>
            <a:lvl4pPr marL="1600200" indent="-228600" eaLnBrk="0" hangingPunct="0">
              <a:defRPr>
                <a:solidFill>
                  <a:schemeClr val="tx1"/>
                </a:solidFill>
                <a:latin typeface="Arial" panose="020B0604020202090204" pitchFamily="34" charset="0"/>
                <a:ea typeface="MS PGothic" charset="0"/>
              </a:defRPr>
            </a:lvl4pPr>
            <a:lvl5pPr marL="2057400" indent="-228600" eaLnBrk="0" hangingPunct="0">
              <a:defRPr>
                <a:solidFill>
                  <a:schemeClr val="tx1"/>
                </a:solidFill>
                <a:latin typeface="Arial" panose="020B0604020202090204" pitchFamily="34" charset="0"/>
                <a:ea typeface="MS PGothic" charset="0"/>
              </a:defRPr>
            </a:lvl5pPr>
            <a:lvl6pPr marL="2514600" indent="-228600" eaLnBrk="0" fontAlgn="base" hangingPunct="0">
              <a:spcBef>
                <a:spcPct val="0"/>
              </a:spcBef>
              <a:spcAft>
                <a:spcPct val="0"/>
              </a:spcAft>
              <a:defRPr>
                <a:solidFill>
                  <a:schemeClr val="tx1"/>
                </a:solidFill>
                <a:latin typeface="Arial" panose="020B0604020202090204" pitchFamily="34" charset="0"/>
                <a:ea typeface="MS PGothic" charset="0"/>
              </a:defRPr>
            </a:lvl6pPr>
            <a:lvl7pPr marL="2971800" indent="-228600" eaLnBrk="0" fontAlgn="base" hangingPunct="0">
              <a:spcBef>
                <a:spcPct val="0"/>
              </a:spcBef>
              <a:spcAft>
                <a:spcPct val="0"/>
              </a:spcAft>
              <a:defRPr>
                <a:solidFill>
                  <a:schemeClr val="tx1"/>
                </a:solidFill>
                <a:latin typeface="Arial" panose="020B0604020202090204" pitchFamily="34" charset="0"/>
                <a:ea typeface="MS PGothic" charset="0"/>
              </a:defRPr>
            </a:lvl7pPr>
            <a:lvl8pPr marL="3429000" indent="-228600" eaLnBrk="0" fontAlgn="base" hangingPunct="0">
              <a:spcBef>
                <a:spcPct val="0"/>
              </a:spcBef>
              <a:spcAft>
                <a:spcPct val="0"/>
              </a:spcAft>
              <a:defRPr>
                <a:solidFill>
                  <a:schemeClr val="tx1"/>
                </a:solidFill>
                <a:latin typeface="Arial" panose="020B0604020202090204" pitchFamily="34" charset="0"/>
                <a:ea typeface="MS PGothic" charset="0"/>
              </a:defRPr>
            </a:lvl8pPr>
            <a:lvl9pPr marL="3886200" indent="-228600" eaLnBrk="0" fontAlgn="base" hangingPunct="0">
              <a:spcBef>
                <a:spcPct val="0"/>
              </a:spcBef>
              <a:spcAft>
                <a:spcPct val="0"/>
              </a:spcAft>
              <a:defRPr>
                <a:solidFill>
                  <a:schemeClr val="tx1"/>
                </a:solidFill>
                <a:latin typeface="Arial" panose="020B0604020202090204" pitchFamily="34" charset="0"/>
                <a:ea typeface="MS PGothic" charset="0"/>
              </a:defRPr>
            </a:lvl9pPr>
          </a:lstStyle>
          <a:p>
            <a:pPr algn="ctr" eaLnBrk="1" hangingPunct="1"/>
            <a:r>
              <a:rPr lang="en-US" sz="2000" b="0" dirty="0">
                <a:latin typeface="+mn-lt"/>
              </a:rPr>
              <a:t>Raw input</a:t>
            </a:r>
            <a:endParaRPr lang="en-US" sz="2000" b="0" dirty="0">
              <a:latin typeface="+mn-lt"/>
            </a:endParaRPr>
          </a:p>
        </p:txBody>
      </p:sp>
      <p:sp>
        <p:nvSpPr>
          <p:cNvPr id="15" name="Right Arrow 14"/>
          <p:cNvSpPr>
            <a:spLocks noChangeArrowheads="1"/>
          </p:cNvSpPr>
          <p:nvPr/>
        </p:nvSpPr>
        <p:spPr bwMode="auto">
          <a:xfrm>
            <a:off x="5260975" y="1905000"/>
            <a:ext cx="533400" cy="266700"/>
          </a:xfrm>
          <a:prstGeom prst="rightArrow">
            <a:avLst>
              <a:gd name="adj1" fmla="val 50000"/>
              <a:gd name="adj2" fmla="val 50000"/>
            </a:avLst>
          </a:prstGeom>
          <a:gradFill rotWithShape="1">
            <a:gsLst>
              <a:gs pos="0">
                <a:srgbClr val="EDEDED"/>
              </a:gs>
              <a:gs pos="64999">
                <a:srgbClr val="D0D0D0"/>
              </a:gs>
              <a:gs pos="100000">
                <a:srgbClr val="BCBCBC"/>
              </a:gs>
            </a:gsLst>
            <a:lin ang="5400000" scaled="1"/>
          </a:gradFill>
          <a:ln w="9525">
            <a:solidFill>
              <a:srgbClr val="000000"/>
            </a:solidFill>
            <a:miter lim="800000"/>
          </a:ln>
          <a:effectLst>
            <a:outerShdw dist="20000" dir="5400000" rotWithShape="0">
              <a:srgbClr val="808080">
                <a:alpha val="37999"/>
              </a:srgbClr>
            </a:outerShdw>
          </a:effectLst>
        </p:spPr>
        <p:txBody>
          <a:bodyPr lIns="91430" tIns="45715" rIns="91430" bIns="45715" anchor="ctr"/>
          <a:lstStyle/>
          <a:p>
            <a:pPr algn="ctr">
              <a:defRPr/>
            </a:pPr>
            <a:endParaRPr lang="en-US" sz="2000" b="0">
              <a:latin typeface="+mn-lt"/>
              <a:ea typeface="+mn-ea"/>
              <a:cs typeface="+mn-cs"/>
            </a:endParaRPr>
          </a:p>
        </p:txBody>
      </p:sp>
      <p:sp>
        <p:nvSpPr>
          <p:cNvPr id="20" name="Right Arrow 19"/>
          <p:cNvSpPr>
            <a:spLocks noChangeArrowheads="1"/>
          </p:cNvSpPr>
          <p:nvPr/>
        </p:nvSpPr>
        <p:spPr bwMode="auto">
          <a:xfrm>
            <a:off x="3203575" y="1905000"/>
            <a:ext cx="533400" cy="266700"/>
          </a:xfrm>
          <a:prstGeom prst="rightArrow">
            <a:avLst>
              <a:gd name="adj1" fmla="val 50000"/>
              <a:gd name="adj2" fmla="val 50000"/>
            </a:avLst>
          </a:prstGeom>
          <a:gradFill rotWithShape="1">
            <a:gsLst>
              <a:gs pos="0">
                <a:srgbClr val="EDEDED"/>
              </a:gs>
              <a:gs pos="64999">
                <a:srgbClr val="D0D0D0"/>
              </a:gs>
              <a:gs pos="100000">
                <a:srgbClr val="BCBCBC"/>
              </a:gs>
            </a:gsLst>
            <a:lin ang="5400000" scaled="1"/>
          </a:gradFill>
          <a:ln w="9525">
            <a:solidFill>
              <a:srgbClr val="000000"/>
            </a:solidFill>
            <a:miter lim="800000"/>
          </a:ln>
          <a:effectLst>
            <a:outerShdw dist="20000" dir="5400000" rotWithShape="0">
              <a:srgbClr val="808080">
                <a:alpha val="37999"/>
              </a:srgbClr>
            </a:outerShdw>
          </a:effectLst>
        </p:spPr>
        <p:txBody>
          <a:bodyPr lIns="91430" tIns="45715" rIns="91430" bIns="45715" anchor="ctr"/>
          <a:lstStyle/>
          <a:p>
            <a:pPr algn="ctr">
              <a:defRPr/>
            </a:pPr>
            <a:endParaRPr lang="en-US" sz="2000" b="0">
              <a:latin typeface="+mn-lt"/>
              <a:ea typeface="+mn-ea"/>
              <a:cs typeface="+mn-cs"/>
            </a:endParaRPr>
          </a:p>
        </p:txBody>
      </p:sp>
      <p:sp>
        <p:nvSpPr>
          <p:cNvPr id="21" name="Right Arrow 20"/>
          <p:cNvSpPr>
            <a:spLocks noChangeArrowheads="1"/>
          </p:cNvSpPr>
          <p:nvPr/>
        </p:nvSpPr>
        <p:spPr bwMode="auto">
          <a:xfrm>
            <a:off x="1146175" y="1905000"/>
            <a:ext cx="533400" cy="266700"/>
          </a:xfrm>
          <a:prstGeom prst="rightArrow">
            <a:avLst>
              <a:gd name="adj1" fmla="val 50000"/>
              <a:gd name="adj2" fmla="val 50000"/>
            </a:avLst>
          </a:prstGeom>
          <a:gradFill rotWithShape="1">
            <a:gsLst>
              <a:gs pos="0">
                <a:srgbClr val="EDEDED"/>
              </a:gs>
              <a:gs pos="64999">
                <a:srgbClr val="D0D0D0"/>
              </a:gs>
              <a:gs pos="100000">
                <a:srgbClr val="BCBCBC"/>
              </a:gs>
            </a:gsLst>
            <a:lin ang="5400000" scaled="1"/>
          </a:gradFill>
          <a:ln w="9525">
            <a:solidFill>
              <a:srgbClr val="000000"/>
            </a:solidFill>
            <a:miter lim="800000"/>
          </a:ln>
          <a:effectLst>
            <a:outerShdw dist="20000" dir="5400000" rotWithShape="0">
              <a:srgbClr val="808080">
                <a:alpha val="37999"/>
              </a:srgbClr>
            </a:outerShdw>
          </a:effectLst>
        </p:spPr>
        <p:txBody>
          <a:bodyPr lIns="91430" tIns="45715" rIns="91430" bIns="45715" anchor="ctr"/>
          <a:lstStyle/>
          <a:p>
            <a:pPr algn="ctr">
              <a:defRPr/>
            </a:pPr>
            <a:endParaRPr lang="en-US" sz="2000" b="0">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train a multi-layer network?</a:t>
            </a:r>
            <a:endParaRPr lang="en-US" dirty="0"/>
          </a:p>
        </p:txBody>
      </p:sp>
      <p:pic>
        <p:nvPicPr>
          <p:cNvPr id="4" name="Picture 3"/>
          <p:cNvPicPr>
            <a:picLocks noChangeAspect="1"/>
          </p:cNvPicPr>
          <p:nvPr/>
        </p:nvPicPr>
        <p:blipFill>
          <a:blip r:embed="rId1"/>
          <a:stretch>
            <a:fillRect/>
          </a:stretch>
        </p:blipFill>
        <p:spPr>
          <a:xfrm>
            <a:off x="762000" y="1716716"/>
            <a:ext cx="7696200" cy="42268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bwMode="auto">
          <a:xfrm>
            <a:off x="21533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a:off x="4210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3" name="Content Placeholder 22"/>
              <p:cNvSpPr>
                <a:spLocks noGrp="1"/>
              </p:cNvSpPr>
              <p:nvPr>
                <p:ph idx="1"/>
              </p:nvPr>
            </p:nvSpPr>
            <p:spPr>
              <a:xfrm>
                <a:off x="457200" y="3657600"/>
                <a:ext cx="8077200" cy="2514599"/>
              </a:xfrm>
            </p:spPr>
            <p:txBody>
              <a:bodyPr/>
              <a:lstStyle/>
              <a:p>
                <a:pPr marL="457200" indent="-457200">
                  <a:buFont typeface="Arial" panose="020B0604020202090204" pitchFamily="34" charset="0"/>
                  <a:buChar char="•"/>
                </a:pPr>
                <a:r>
                  <a:rPr lang="en-US" b="0" dirty="0">
                    <a:solidFill>
                      <a:schemeClr val="tx1"/>
                    </a:solidFill>
                  </a:rPr>
                  <a:t>We need to find the gradient of the error </a:t>
                </a:r>
                <a:r>
                  <a:rPr lang="en-US" b="0" dirty="0" err="1">
                    <a:solidFill>
                      <a:schemeClr val="tx1"/>
                    </a:solidFill>
                  </a:rPr>
                  <a:t>w.r.t</a:t>
                </a:r>
                <a:r>
                  <a:rPr lang="en-US" b="0" dirty="0">
                    <a:solidFill>
                      <a:schemeClr val="tx1"/>
                    </a:solidFill>
                  </a:rPr>
                  <a:t>. the parameters of each layer, </a:t>
                </a:r>
                <a14:m>
                  <m:oMath xmlns:m="http://schemas.openxmlformats.org/officeDocument/2006/math">
                    <m:f>
                      <m:fPr>
                        <m:ctrlPr>
                          <a:rPr lang="en-US" i="1">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𝑒</m:t>
                        </m:r>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𝑤</m:t>
                            </m:r>
                          </m:e>
                          <m:sub>
                            <m:r>
                              <a:rPr lang="en-US" i="1">
                                <a:solidFill>
                                  <a:srgbClr val="9900CC"/>
                                </a:solidFill>
                                <a:latin typeface="Cambria Math" panose="02040503050406030204" pitchFamily="18" charset="0"/>
                              </a:rPr>
                              <m:t>𝑘</m:t>
                            </m:r>
                          </m:sub>
                        </m:sSub>
                      </m:den>
                    </m:f>
                  </m:oMath>
                </a14:m>
                <a:r>
                  <a:rPr lang="en-US" dirty="0"/>
                  <a:t>, to perform updates</a:t>
                </a:r>
                <a:endParaRPr lang="en-US" dirty="0"/>
              </a:p>
              <a:p>
                <a14:m>
                  <m:oMathPara xmlns:m="http://schemas.openxmlformats.org/officeDocument/2006/math">
                    <m:oMathParaPr>
                      <m:jc m:val="centerGroup"/>
                    </m:oMathParaPr>
                    <m:oMath xmlns:m="http://schemas.openxmlformats.org/officeDocument/2006/math">
                      <m:sSub>
                        <m:sSubPr>
                          <m:ctrlPr>
                            <a:rPr lang="en-US" b="0"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𝑘</m:t>
                          </m:r>
                        </m:sub>
                      </m:sSub>
                      <m:r>
                        <a:rPr lang="en-US" b="0" i="1" smtClean="0">
                          <a:solidFill>
                            <a:srgbClr val="9900CC"/>
                          </a:solidFill>
                          <a:latin typeface="Cambria Math" panose="02040503050406030204" pitchFamily="18" charset="0"/>
                          <a:ea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𝑤</m:t>
                          </m:r>
                        </m:e>
                        <m:sub>
                          <m:r>
                            <a:rPr lang="en-US" i="1">
                              <a:solidFill>
                                <a:srgbClr val="9900CC"/>
                              </a:solidFill>
                              <a:latin typeface="Cambria Math" panose="02040503050406030204" pitchFamily="18" charset="0"/>
                            </a:rPr>
                            <m:t>𝑘</m:t>
                          </m:r>
                        </m:sub>
                      </m:sSub>
                      <m:r>
                        <a:rPr lang="en-US" b="0" i="1" smtClean="0">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ea typeface="Cambria Math" panose="02040503050406030204" pitchFamily="18" charset="0"/>
                        </a:rPr>
                        <m:t>𝜂</m:t>
                      </m:r>
                      <m:f>
                        <m:fPr>
                          <m:ctrlPr>
                            <a:rPr lang="en-US" i="1">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𝑒</m:t>
                          </m:r>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𝑤</m:t>
                              </m:r>
                            </m:e>
                            <m:sub>
                              <m:r>
                                <a:rPr lang="en-US" i="1">
                                  <a:solidFill>
                                    <a:srgbClr val="9900CC"/>
                                  </a:solidFill>
                                  <a:latin typeface="Cambria Math" panose="02040503050406030204" pitchFamily="18" charset="0"/>
                                </a:rPr>
                                <m:t>𝑘</m:t>
                              </m:r>
                            </m:sub>
                          </m:sSub>
                        </m:den>
                      </m:f>
                    </m:oMath>
                  </m:oMathPara>
                </a14:m>
                <a:endParaRPr lang="en-US" i="1" dirty="0">
                  <a:latin typeface="Cambria Math" panose="02040503050406030204" pitchFamily="18" charset="0"/>
                </a:endParaRPr>
              </a:p>
            </p:txBody>
          </p:sp>
        </mc:Choice>
        <mc:Fallback>
          <p:sp>
            <p:nvSpPr>
              <p:cNvPr id="23" name="Content Placeholder 22"/>
              <p:cNvSpPr>
                <a:spLocks noRot="1" noChangeAspect="1" noMove="1" noResize="1" noEditPoints="1" noAdjustHandles="1" noChangeArrowheads="1" noChangeShapeType="1" noTextEdit="1"/>
              </p:cNvSpPr>
              <p:nvPr>
                <p:ph idx="1"/>
              </p:nvPr>
            </p:nvSpPr>
            <p:spPr>
              <a:xfrm>
                <a:off x="457200" y="3657600"/>
                <a:ext cx="8077200" cy="2514599"/>
              </a:xfrm>
              <a:blipFill rotWithShape="1">
                <a:blip r:embed="rId1"/>
                <a:stretch>
                  <a:fillRect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val 4"/>
              <p:cNvSpPr/>
              <p:nvPr/>
            </p:nvSpPr>
            <p:spPr bwMode="auto">
              <a:xfrm>
                <a:off x="609600" y="1447800"/>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𝑥</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5" name="Oval 4"/>
              <p:cNvSpPr>
                <a:spLocks noRot="1" noChangeAspect="1" noMove="1" noResize="1" noEditPoints="1" noAdjustHandles="1" noChangeArrowheads="1" noChangeShapeType="1" noTextEdit="1"/>
              </p:cNvSpPr>
              <p:nvPr/>
            </p:nvSpPr>
            <p:spPr bwMode="auto">
              <a:xfrm>
                <a:off x="609600" y="1447800"/>
                <a:ext cx="1611691" cy="674703"/>
              </a:xfrm>
              <a:prstGeom prst="ellipse">
                <a:avLst/>
              </a:prstGeom>
              <a:blipFill rotWithShape="1">
                <a:blip r:embed="rId2"/>
                <a:stretch>
                  <a:fillRect l="-394" t="-941" r="-390"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bwMode="auto">
              <a:xfrm>
                <a:off x="2652909" y="1447800"/>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lang="en-US" sz="1800" b="0" i="1">
                          <a:latin typeface="Cambria Math" panose="02040503050406030204" pitchFamily="18" charset="0"/>
                        </a:rPr>
                        <m:t>,</m:t>
                      </m:r>
                      <m:sSub>
                        <m:sSubPr>
                          <m:ctrlPr>
                            <a:rPr lang="en-US" sz="1800" b="0" i="1">
                              <a:latin typeface="Cambria Math" panose="02040503050406030204" pitchFamily="18" charset="0"/>
                            </a:rPr>
                          </m:ctrlPr>
                        </m:sSubPr>
                        <m:e>
                          <m:r>
                            <a:rPr lang="en-US" sz="1800" b="0" i="1">
                              <a:latin typeface="Cambria Math" panose="02040503050406030204" pitchFamily="18" charset="0"/>
                            </a:rPr>
                            <m:t>𝑤</m:t>
                          </m:r>
                        </m:e>
                        <m:sub>
                          <m:r>
                            <a:rPr lang="en-US" sz="1800" b="0" i="1" smtClean="0">
                              <a:latin typeface="Cambria Math" panose="02040503050406030204" pitchFamily="18" charset="0"/>
                            </a:rPr>
                            <m:t>2</m:t>
                          </m:r>
                        </m:sub>
                      </m:sSub>
                      <m:r>
                        <a:rPr lang="en-US" sz="1800" b="0" i="1">
                          <a:latin typeface="Cambria Math" panose="02040503050406030204" pitchFamily="18"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9" name="Oval 8"/>
              <p:cNvSpPr>
                <a:spLocks noRot="1" noChangeAspect="1" noMove="1" noResize="1" noEditPoints="1" noAdjustHandles="1" noChangeArrowheads="1" noChangeShapeType="1" noTextEdit="1"/>
              </p:cNvSpPr>
              <p:nvPr/>
            </p:nvSpPr>
            <p:spPr bwMode="auto">
              <a:xfrm>
                <a:off x="2652909" y="1447800"/>
                <a:ext cx="1611691" cy="674703"/>
              </a:xfrm>
              <a:prstGeom prst="ellipse">
                <a:avLst/>
              </a:prstGeom>
              <a:blipFill rotWithShape="1">
                <a:blip r:embed="rId3"/>
                <a:stretch>
                  <a:fillRect l="-426" t="-941" r="-358"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4"/>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𝑘</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5"/>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7" name="Rectangle 16"/>
              <p:cNvSpPr/>
              <p:nvPr/>
            </p:nvSpPr>
            <p:spPr>
              <a:xfrm>
                <a:off x="2209800" y="1383268"/>
                <a:ext cx="47904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a:latin typeface="Cambria Math" panose="02040503050406030204" pitchFamily="18" charset="0"/>
                            </a:rPr>
                            <m:t>1</m:t>
                          </m:r>
                        </m:sub>
                      </m:sSub>
                    </m:oMath>
                  </m:oMathPara>
                </a14:m>
                <a:endParaRPr lang="en-US" sz="1800" dirty="0"/>
              </a:p>
            </p:txBody>
          </p:sp>
        </mc:Choice>
        <mc:Fallback>
          <p:sp>
            <p:nvSpPr>
              <p:cNvPr id="17" name="Rectangle 16"/>
              <p:cNvSpPr>
                <a:spLocks noRot="1" noChangeAspect="1" noMove="1" noResize="1" noEditPoints="1" noAdjustHandles="1" noChangeArrowheads="1" noChangeShapeType="1" noTextEdit="1"/>
              </p:cNvSpPr>
              <p:nvPr/>
            </p:nvSpPr>
            <p:spPr>
              <a:xfrm>
                <a:off x="2209800" y="1383268"/>
                <a:ext cx="479041" cy="369332"/>
              </a:xfrm>
              <a:prstGeom prst="rect">
                <a:avLst/>
              </a:prstGeom>
              <a:blipFill rotWithShape="1">
                <a:blip r:embed="rId6"/>
                <a:stretch>
                  <a:fillRect t="-64" r="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156212" y="1307068"/>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2</m:t>
                          </m:r>
                        </m:sub>
                      </m:sSub>
                    </m:oMath>
                  </m:oMathPara>
                </a14:m>
                <a:endParaRPr lang="en-US" sz="1800" dirty="0"/>
              </a:p>
            </p:txBody>
          </p:sp>
        </mc:Choice>
        <mc:Fallback>
          <p:sp>
            <p:nvSpPr>
              <p:cNvPr id="18" name="Rectangle 17"/>
              <p:cNvSpPr>
                <a:spLocks noRot="1" noChangeAspect="1" noMove="1" noResize="1" noEditPoints="1" noAdjustHandles="1" noChangeArrowheads="1" noChangeShapeType="1" noTextEdit="1"/>
              </p:cNvSpPr>
              <p:nvPr/>
            </p:nvSpPr>
            <p:spPr>
              <a:xfrm>
                <a:off x="4156212" y="1307068"/>
                <a:ext cx="484363" cy="369332"/>
              </a:xfrm>
              <a:prstGeom prst="rect">
                <a:avLst/>
              </a:prstGeom>
              <a:blipFill rotWithShape="1">
                <a:blip r:embed="rId7"/>
                <a:stretch>
                  <a:fillRect l="-28" t="-64" r="1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a:off x="4792975" y="1295400"/>
                <a:ext cx="73308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r>
                            <a:rPr lang="en-US" sz="1800" b="0" i="1" smtClean="0">
                              <a:latin typeface="Cambria Math" panose="02040503050406030204" pitchFamily="18" charset="0"/>
                            </a:rPr>
                            <m:t>−</m:t>
                          </m:r>
                          <m:r>
                            <a:rPr lang="en-US" sz="1800" b="0" i="1" smtClean="0">
                              <a:latin typeface="Cambria Math" panose="02040503050406030204" pitchFamily="18" charset="0"/>
                            </a:rPr>
                            <m:t>1</m:t>
                          </m:r>
                        </m:sub>
                      </m:sSub>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4792975" y="1295400"/>
                <a:ext cx="733085" cy="369332"/>
              </a:xfrm>
              <a:prstGeom prst="rect">
                <a:avLst/>
              </a:prstGeom>
              <a:blipFill rotWithShape="1">
                <a:blip r:embed="rId8"/>
                <a:stretch>
                  <a:fillRect l="-86" r="40"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098901" y="1295400"/>
                <a:ext cx="513474"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098901" y="1295400"/>
                <a:ext cx="513474" cy="369332"/>
              </a:xfrm>
              <a:prstGeom prst="rect">
                <a:avLst/>
              </a:prstGeom>
              <a:blipFill rotWithShape="1">
                <a:blip r:embed="rId9"/>
                <a:stretch>
                  <a:fillRect l="-46" r="123"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10"/>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Rectangle 21"/>
              <p:cNvSpPr/>
              <p:nvPr/>
            </p:nvSpPr>
            <p:spPr>
              <a:xfrm>
                <a:off x="1794" y="1600200"/>
                <a:ext cx="379206"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𝑥</m:t>
                      </m:r>
                    </m:oMath>
                  </m:oMathPara>
                </a14:m>
                <a:endParaRPr lang="en-US" sz="1800" dirty="0"/>
              </a:p>
            </p:txBody>
          </p:sp>
        </mc:Choice>
        <mc:Fallback>
          <p:sp>
            <p:nvSpPr>
              <p:cNvPr id="22" name="Rectangle 21"/>
              <p:cNvSpPr>
                <a:spLocks noRot="1" noChangeAspect="1" noMove="1" noResize="1" noEditPoints="1" noAdjustHandles="1" noChangeArrowheads="1" noChangeShapeType="1" noTextEdit="1"/>
              </p:cNvSpPr>
              <p:nvPr/>
            </p:nvSpPr>
            <p:spPr>
              <a:xfrm>
                <a:off x="1794" y="1600200"/>
                <a:ext cx="379206" cy="369332"/>
              </a:xfrm>
              <a:prstGeom prst="rect">
                <a:avLst/>
              </a:prstGeom>
              <a:blipFill rotWithShape="1">
                <a:blip r:embed="rId11"/>
                <a:stretch>
                  <a:fillRect l="-138" b="107"/>
                </a:stretch>
              </a:blipFill>
            </p:spPr>
            <p:txBody>
              <a:bodyPr/>
              <a:lstStyle/>
              <a:p>
                <a:r>
                  <a:rPr lang="zh-CN" altLang="en-US">
                    <a:noFill/>
                  </a:rPr>
                  <a:t> </a:t>
                </a:r>
              </a:p>
            </p:txBody>
          </p:sp>
        </mc:Fallback>
      </mc:AlternateContent>
      <p:cxnSp>
        <p:nvCxnSpPr>
          <p:cNvPr id="28" name="Straight Arrow Connector 27"/>
          <p:cNvCxnSpPr/>
          <p:nvPr/>
        </p:nvCxnSpPr>
        <p:spPr bwMode="auto">
          <a:xfrm flipV="1">
            <a:off x="304800" y="1773484"/>
            <a:ext cx="306594" cy="113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4612957" y="1676400"/>
            <a:ext cx="492443" cy="461665"/>
          </a:xfrm>
          <a:prstGeom prst="rect">
            <a:avLst/>
          </a:prstGeom>
          <a:noFill/>
        </p:spPr>
        <p:txBody>
          <a:bodyPr wrap="none" rtlCol="0">
            <a:spAutoFit/>
          </a:bodyPr>
          <a:lstStyle/>
          <a:p>
            <a:r>
              <a:rPr lang="en-US" dirty="0"/>
              <a:t>…</a:t>
            </a:r>
            <a:endParaRPr lang="en-US" dirty="0"/>
          </a:p>
        </p:txBody>
      </p:sp>
      <p:sp>
        <p:nvSpPr>
          <p:cNvPr id="13" name="TextBox 12"/>
          <p:cNvSpPr txBox="1"/>
          <p:nvPr/>
        </p:nvSpPr>
        <p:spPr>
          <a:xfrm>
            <a:off x="1794" y="2209800"/>
            <a:ext cx="572593" cy="307777"/>
          </a:xfrm>
          <a:prstGeom prst="rect">
            <a:avLst/>
          </a:prstGeom>
          <a:noFill/>
        </p:spPr>
        <p:txBody>
          <a:bodyPr wrap="none" rtlCol="0">
            <a:spAutoFit/>
          </a:bodyPr>
          <a:lstStyle/>
          <a:p>
            <a:r>
              <a:rPr lang="en-US" sz="1400" b="0" dirty="0">
                <a:solidFill>
                  <a:srgbClr val="00B0F0"/>
                </a:solidFill>
              </a:rPr>
              <a:t>input</a:t>
            </a:r>
            <a:endParaRPr lang="en-US" sz="1400" b="0" dirty="0">
              <a:solidFill>
                <a:srgbClr val="00B0F0"/>
              </a:solidFill>
            </a:endParaRPr>
          </a:p>
        </p:txBody>
      </p:sp>
      <p:sp>
        <p:nvSpPr>
          <p:cNvPr id="34" name="TextBox 33"/>
          <p:cNvSpPr txBox="1"/>
          <p:nvPr/>
        </p:nvSpPr>
        <p:spPr>
          <a:xfrm>
            <a:off x="5738783" y="2209799"/>
            <a:ext cx="1119217" cy="307777"/>
          </a:xfrm>
          <a:prstGeom prst="rect">
            <a:avLst/>
          </a:prstGeom>
          <a:noFill/>
        </p:spPr>
        <p:txBody>
          <a:bodyPr wrap="none" rtlCol="0">
            <a:spAutoFit/>
          </a:bodyPr>
          <a:lstStyle/>
          <a:p>
            <a:r>
              <a:rPr lang="en-US" sz="1400" b="0" dirty="0">
                <a:solidFill>
                  <a:srgbClr val="00B0F0"/>
                </a:solidFill>
              </a:rPr>
              <a:t>output layer</a:t>
            </a:r>
            <a:endParaRPr lang="en-US" sz="1400" b="0" dirty="0">
              <a:solidFill>
                <a:srgbClr val="00B0F0"/>
              </a:solidFill>
            </a:endParaRPr>
          </a:p>
        </p:txBody>
      </p:sp>
      <p:sp>
        <p:nvSpPr>
          <p:cNvPr id="35" name="TextBox 34"/>
          <p:cNvSpPr txBox="1"/>
          <p:nvPr/>
        </p:nvSpPr>
        <p:spPr>
          <a:xfrm>
            <a:off x="7415183" y="2209800"/>
            <a:ext cx="1180131" cy="307777"/>
          </a:xfrm>
          <a:prstGeom prst="rect">
            <a:avLst/>
          </a:prstGeom>
          <a:noFill/>
        </p:spPr>
        <p:txBody>
          <a:bodyPr wrap="none" rtlCol="0">
            <a:spAutoFit/>
          </a:bodyPr>
          <a:lstStyle/>
          <a:p>
            <a:r>
              <a:rPr lang="en-US" sz="1400" b="0" dirty="0">
                <a:solidFill>
                  <a:schemeClr val="accent1"/>
                </a:solidFill>
              </a:rPr>
              <a:t>loss function</a:t>
            </a:r>
            <a:endParaRPr lang="en-US" sz="1400" b="0" dirty="0">
              <a:solidFill>
                <a:schemeClr val="accent1"/>
              </a:solidFill>
            </a:endParaRPr>
          </a:p>
        </p:txBody>
      </p:sp>
      <p:sp>
        <p:nvSpPr>
          <p:cNvPr id="36" name="TextBox 35"/>
          <p:cNvSpPr txBox="1"/>
          <p:nvPr/>
        </p:nvSpPr>
        <p:spPr>
          <a:xfrm>
            <a:off x="8610600" y="2209800"/>
            <a:ext cx="561372" cy="307777"/>
          </a:xfrm>
          <a:prstGeom prst="rect">
            <a:avLst/>
          </a:prstGeom>
          <a:noFill/>
        </p:spPr>
        <p:txBody>
          <a:bodyPr wrap="none" rtlCol="0">
            <a:spAutoFit/>
          </a:bodyPr>
          <a:lstStyle/>
          <a:p>
            <a:r>
              <a:rPr lang="en-US" sz="1400" b="0" dirty="0">
                <a:solidFill>
                  <a:schemeClr val="accent1"/>
                </a:solidFill>
              </a:rPr>
              <a:t>error</a:t>
            </a:r>
            <a:endParaRPr lang="en-US" sz="1400" b="0" dirty="0">
              <a:solidFill>
                <a:schemeClr val="accent1"/>
              </a:solidFill>
            </a:endParaRPr>
          </a:p>
        </p:txBody>
      </p:sp>
      <p:sp>
        <p:nvSpPr>
          <p:cNvPr id="37" name="TextBox 36"/>
          <p:cNvSpPr txBox="1"/>
          <p:nvPr/>
        </p:nvSpPr>
        <p:spPr>
          <a:xfrm>
            <a:off x="609600" y="2209801"/>
            <a:ext cx="1524000" cy="523220"/>
          </a:xfrm>
          <a:prstGeom prst="rect">
            <a:avLst/>
          </a:prstGeom>
          <a:noFill/>
        </p:spPr>
        <p:txBody>
          <a:bodyPr wrap="square" rtlCol="0">
            <a:spAutoFit/>
          </a:bodyPr>
          <a:lstStyle/>
          <a:p>
            <a:pPr algn="ctr"/>
            <a:r>
              <a:rPr lang="en-US" sz="1400" b="0" dirty="0">
                <a:solidFill>
                  <a:srgbClr val="00B0F0"/>
                </a:solidFill>
              </a:rPr>
              <a:t>first layer transformation</a:t>
            </a:r>
            <a:endParaRPr lang="en-US" sz="1400" b="0" dirty="0">
              <a:solidFill>
                <a:srgbClr val="00B0F0"/>
              </a:solidFill>
            </a:endParaRPr>
          </a:p>
        </p:txBody>
      </p:sp>
      <p:sp>
        <p:nvSpPr>
          <p:cNvPr id="38" name="TextBox 37"/>
          <p:cNvSpPr txBox="1"/>
          <p:nvPr/>
        </p:nvSpPr>
        <p:spPr>
          <a:xfrm>
            <a:off x="2667000" y="2209800"/>
            <a:ext cx="1524000" cy="523220"/>
          </a:xfrm>
          <a:prstGeom prst="rect">
            <a:avLst/>
          </a:prstGeom>
          <a:noFill/>
        </p:spPr>
        <p:txBody>
          <a:bodyPr wrap="square" rtlCol="0">
            <a:spAutoFit/>
          </a:bodyPr>
          <a:lstStyle/>
          <a:p>
            <a:pPr algn="ctr"/>
            <a:r>
              <a:rPr lang="en-US" sz="1400" b="0" dirty="0">
                <a:solidFill>
                  <a:srgbClr val="00B0F0"/>
                </a:solidFill>
              </a:rPr>
              <a:t>second layer transformation</a:t>
            </a:r>
            <a:endParaRPr lang="en-US" sz="1400" b="0" dirty="0">
              <a:solidFill>
                <a:srgbClr val="00B0F0"/>
              </a:solidFill>
            </a:endParaRPr>
          </a:p>
        </p:txBody>
      </p:sp>
      <p:sp>
        <p:nvSpPr>
          <p:cNvPr id="27" name="TextBox 26"/>
          <p:cNvSpPr txBox="1"/>
          <p:nvPr/>
        </p:nvSpPr>
        <p:spPr>
          <a:xfrm>
            <a:off x="1647279" y="919048"/>
            <a:ext cx="1524000" cy="523220"/>
          </a:xfrm>
          <a:prstGeom prst="rect">
            <a:avLst/>
          </a:prstGeom>
          <a:noFill/>
        </p:spPr>
        <p:txBody>
          <a:bodyPr wrap="square" rtlCol="0">
            <a:spAutoFit/>
          </a:bodyPr>
          <a:lstStyle/>
          <a:p>
            <a:pPr algn="ctr"/>
            <a:r>
              <a:rPr lang="en-US" sz="1400" b="0" dirty="0">
                <a:solidFill>
                  <a:srgbClr val="00B0F0"/>
                </a:solidFill>
              </a:rPr>
              <a:t>hidden representation</a:t>
            </a:r>
            <a:endParaRPr lang="en-US" sz="1400" b="0" dirty="0">
              <a:solidFill>
                <a:srgbClr val="00B0F0"/>
              </a:solidFill>
            </a:endParaRPr>
          </a:p>
        </p:txBody>
      </p:sp>
      <p:sp>
        <p:nvSpPr>
          <p:cNvPr id="29" name="TextBox 28"/>
          <p:cNvSpPr txBox="1"/>
          <p:nvPr/>
        </p:nvSpPr>
        <p:spPr>
          <a:xfrm>
            <a:off x="6858000" y="945464"/>
            <a:ext cx="681597" cy="307777"/>
          </a:xfrm>
          <a:prstGeom prst="rect">
            <a:avLst/>
          </a:prstGeom>
          <a:noFill/>
        </p:spPr>
        <p:txBody>
          <a:bodyPr wrap="none" rtlCol="0">
            <a:spAutoFit/>
          </a:bodyPr>
          <a:lstStyle/>
          <a:p>
            <a:r>
              <a:rPr lang="en-US" sz="1400" b="0" dirty="0">
                <a:solidFill>
                  <a:srgbClr val="00B0F0"/>
                </a:solidFill>
              </a:rPr>
              <a:t>output</a:t>
            </a:r>
            <a:endParaRPr lang="en-US" sz="1400" b="0" dirty="0">
              <a:solidFill>
                <a:srgbClr val="00B0F0"/>
              </a:solidFill>
            </a:endParaRPr>
          </a:p>
        </p:txBody>
      </p:sp>
      <p:sp>
        <p:nvSpPr>
          <p:cNvPr id="6" name="Title 5"/>
          <p:cNvSpPr>
            <a:spLocks noGrp="1"/>
          </p:cNvSpPr>
          <p:nvPr>
            <p:ph type="title"/>
          </p:nvPr>
        </p:nvSpPr>
        <p:spPr/>
        <p:txBody>
          <a:bodyPr/>
          <a:lstStyle/>
          <a:p>
            <a:pPr algn="ctr"/>
            <a:r>
              <a:rPr lang="en-US" dirty="0"/>
              <a:t>BP examples explained</a:t>
            </a:r>
            <a:endParaRPr lang="en-US" dirty="0"/>
          </a:p>
        </p:txBody>
      </p:sp>
    </p:spTree>
    <p:custDataLst>
      <p:tags r:id="rId1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3">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5" grpId="0" animBg="1"/>
      <p:bldP spid="9" grpId="0" animBg="1"/>
      <p:bldP spid="12" grpId="0" animBg="1"/>
      <p:bldP spid="15" grpId="0" animBg="1"/>
      <p:bldP spid="17" grpId="0"/>
      <p:bldP spid="18" grpId="0"/>
      <p:bldP spid="19" grpId="0"/>
      <p:bldP spid="20" grpId="0"/>
      <p:bldP spid="21" grpId="0"/>
      <p:bldP spid="22" grpId="0"/>
      <p:bldP spid="3" grpId="0"/>
      <p:bldP spid="13" grpId="0"/>
      <p:bldP spid="34" grpId="0"/>
      <p:bldP spid="35" grpId="0"/>
      <p:bldP spid="36" grpId="0"/>
      <p:bldP spid="37" grpId="0"/>
      <p:bldP spid="38" grpId="0"/>
      <p:bldP spid="27"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bwMode="auto">
          <a:xfrm>
            <a:off x="21533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a:off x="4210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Computation graph</a:t>
            </a:r>
            <a:endParaRPr lang="en-US" dirty="0"/>
          </a:p>
        </p:txBody>
      </p:sp>
      <mc:AlternateContent xmlns:mc="http://schemas.openxmlformats.org/markup-compatibility/2006">
        <mc:Choice xmlns:a14="http://schemas.microsoft.com/office/drawing/2010/main" Requires="a14">
          <p:sp>
            <p:nvSpPr>
              <p:cNvPr id="5" name="Oval 4"/>
              <p:cNvSpPr/>
              <p:nvPr/>
            </p:nvSpPr>
            <p:spPr bwMode="auto">
              <a:xfrm>
                <a:off x="609600" y="1447800"/>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𝑥</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5" name="Oval 4"/>
              <p:cNvSpPr>
                <a:spLocks noRot="1" noChangeAspect="1" noMove="1" noResize="1" noEditPoints="1" noAdjustHandles="1" noChangeArrowheads="1" noChangeShapeType="1" noTextEdit="1"/>
              </p:cNvSpPr>
              <p:nvPr/>
            </p:nvSpPr>
            <p:spPr bwMode="auto">
              <a:xfrm>
                <a:off x="609600" y="1447800"/>
                <a:ext cx="1611691" cy="674703"/>
              </a:xfrm>
              <a:prstGeom prst="ellipse">
                <a:avLst/>
              </a:prstGeom>
              <a:blipFill rotWithShape="1">
                <a:blip r:embed="rId1"/>
                <a:stretch>
                  <a:fillRect l="-394" t="-941" r="-390"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bwMode="auto">
              <a:xfrm>
                <a:off x="2652909" y="1447800"/>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lang="en-US" sz="1800" b="0" i="1">
                          <a:latin typeface="Cambria Math" panose="02040503050406030204" pitchFamily="18" charset="0"/>
                        </a:rPr>
                        <m:t>,</m:t>
                      </m:r>
                      <m:sSub>
                        <m:sSubPr>
                          <m:ctrlPr>
                            <a:rPr lang="en-US" sz="1800" b="0" i="1">
                              <a:latin typeface="Cambria Math" panose="02040503050406030204" pitchFamily="18" charset="0"/>
                            </a:rPr>
                          </m:ctrlPr>
                        </m:sSubPr>
                        <m:e>
                          <m:r>
                            <a:rPr lang="en-US" sz="1800" b="0" i="1">
                              <a:latin typeface="Cambria Math" panose="02040503050406030204" pitchFamily="18" charset="0"/>
                            </a:rPr>
                            <m:t>𝑤</m:t>
                          </m:r>
                        </m:e>
                        <m:sub>
                          <m:r>
                            <a:rPr lang="en-US" sz="1800" b="0" i="1" smtClean="0">
                              <a:latin typeface="Cambria Math" panose="02040503050406030204" pitchFamily="18" charset="0"/>
                            </a:rPr>
                            <m:t>2</m:t>
                          </m:r>
                        </m:sub>
                      </m:sSub>
                      <m:r>
                        <a:rPr lang="en-US" sz="1800" b="0" i="1">
                          <a:latin typeface="Cambria Math" panose="02040503050406030204" pitchFamily="18"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9" name="Oval 8"/>
              <p:cNvSpPr>
                <a:spLocks noRot="1" noChangeAspect="1" noMove="1" noResize="1" noEditPoints="1" noAdjustHandles="1" noChangeArrowheads="1" noChangeShapeType="1" noTextEdit="1"/>
              </p:cNvSpPr>
              <p:nvPr/>
            </p:nvSpPr>
            <p:spPr bwMode="auto">
              <a:xfrm>
                <a:off x="2652909" y="1447800"/>
                <a:ext cx="1611691" cy="674703"/>
              </a:xfrm>
              <a:prstGeom prst="ellipse">
                <a:avLst/>
              </a:prstGeom>
              <a:blipFill rotWithShape="1">
                <a:blip r:embed="rId2"/>
                <a:stretch>
                  <a:fillRect l="-426" t="-941" r="-358"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3"/>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𝑘</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4"/>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7" name="Rectangle 16"/>
              <p:cNvSpPr/>
              <p:nvPr/>
            </p:nvSpPr>
            <p:spPr>
              <a:xfrm>
                <a:off x="2209800" y="1383268"/>
                <a:ext cx="47904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a:latin typeface="Cambria Math" panose="02040503050406030204" pitchFamily="18" charset="0"/>
                            </a:rPr>
                            <m:t>1</m:t>
                          </m:r>
                        </m:sub>
                      </m:sSub>
                    </m:oMath>
                  </m:oMathPara>
                </a14:m>
                <a:endParaRPr lang="en-US" sz="1800" dirty="0"/>
              </a:p>
            </p:txBody>
          </p:sp>
        </mc:Choice>
        <mc:Fallback>
          <p:sp>
            <p:nvSpPr>
              <p:cNvPr id="17" name="Rectangle 16"/>
              <p:cNvSpPr>
                <a:spLocks noRot="1" noChangeAspect="1" noMove="1" noResize="1" noEditPoints="1" noAdjustHandles="1" noChangeArrowheads="1" noChangeShapeType="1" noTextEdit="1"/>
              </p:cNvSpPr>
              <p:nvPr/>
            </p:nvSpPr>
            <p:spPr>
              <a:xfrm>
                <a:off x="2209800" y="1383268"/>
                <a:ext cx="479041" cy="369332"/>
              </a:xfrm>
              <a:prstGeom prst="rect">
                <a:avLst/>
              </a:prstGeom>
              <a:blipFill rotWithShape="1">
                <a:blip r:embed="rId5"/>
                <a:stretch>
                  <a:fillRect t="-64" r="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156212" y="1307068"/>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2</m:t>
                          </m:r>
                        </m:sub>
                      </m:sSub>
                    </m:oMath>
                  </m:oMathPara>
                </a14:m>
                <a:endParaRPr lang="en-US" sz="1800" dirty="0"/>
              </a:p>
            </p:txBody>
          </p:sp>
        </mc:Choice>
        <mc:Fallback>
          <p:sp>
            <p:nvSpPr>
              <p:cNvPr id="18" name="Rectangle 17"/>
              <p:cNvSpPr>
                <a:spLocks noRot="1" noChangeAspect="1" noMove="1" noResize="1" noEditPoints="1" noAdjustHandles="1" noChangeArrowheads="1" noChangeShapeType="1" noTextEdit="1"/>
              </p:cNvSpPr>
              <p:nvPr/>
            </p:nvSpPr>
            <p:spPr>
              <a:xfrm>
                <a:off x="4156212" y="1307068"/>
                <a:ext cx="484363" cy="369332"/>
              </a:xfrm>
              <a:prstGeom prst="rect">
                <a:avLst/>
              </a:prstGeom>
              <a:blipFill rotWithShape="1">
                <a:blip r:embed="rId6"/>
                <a:stretch>
                  <a:fillRect l="-28" t="-64" r="1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a:off x="4792975" y="1295400"/>
                <a:ext cx="73308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r>
                            <a:rPr lang="en-US" sz="1800" b="0" i="1" smtClean="0">
                              <a:latin typeface="Cambria Math" panose="02040503050406030204" pitchFamily="18" charset="0"/>
                            </a:rPr>
                            <m:t>−</m:t>
                          </m:r>
                          <m:r>
                            <a:rPr lang="en-US" sz="1800" b="0" i="1" smtClean="0">
                              <a:latin typeface="Cambria Math" panose="02040503050406030204" pitchFamily="18" charset="0"/>
                            </a:rPr>
                            <m:t>1</m:t>
                          </m:r>
                        </m:sub>
                      </m:sSub>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4792975" y="1295400"/>
                <a:ext cx="733085" cy="369332"/>
              </a:xfrm>
              <a:prstGeom prst="rect">
                <a:avLst/>
              </a:prstGeom>
              <a:blipFill rotWithShape="1">
                <a:blip r:embed="rId7"/>
                <a:stretch>
                  <a:fillRect l="-86" r="40"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098901" y="1295400"/>
                <a:ext cx="513474"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098901" y="1295400"/>
                <a:ext cx="513474" cy="369332"/>
              </a:xfrm>
              <a:prstGeom prst="rect">
                <a:avLst/>
              </a:prstGeom>
              <a:blipFill rotWithShape="1">
                <a:blip r:embed="rId8"/>
                <a:stretch>
                  <a:fillRect l="-46" r="123"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9"/>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Rectangle 21"/>
              <p:cNvSpPr/>
              <p:nvPr/>
            </p:nvSpPr>
            <p:spPr>
              <a:xfrm>
                <a:off x="1794" y="1600200"/>
                <a:ext cx="379206"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𝑥</m:t>
                      </m:r>
                    </m:oMath>
                  </m:oMathPara>
                </a14:m>
                <a:endParaRPr lang="en-US" sz="1800" dirty="0"/>
              </a:p>
            </p:txBody>
          </p:sp>
        </mc:Choice>
        <mc:Fallback>
          <p:sp>
            <p:nvSpPr>
              <p:cNvPr id="22" name="Rectangle 21"/>
              <p:cNvSpPr>
                <a:spLocks noRot="1" noChangeAspect="1" noMove="1" noResize="1" noEditPoints="1" noAdjustHandles="1" noChangeArrowheads="1" noChangeShapeType="1" noTextEdit="1"/>
              </p:cNvSpPr>
              <p:nvPr/>
            </p:nvSpPr>
            <p:spPr>
              <a:xfrm>
                <a:off x="1794" y="1600200"/>
                <a:ext cx="379206" cy="369332"/>
              </a:xfrm>
              <a:prstGeom prst="rect">
                <a:avLst/>
              </a:prstGeom>
              <a:blipFill rotWithShape="1">
                <a:blip r:embed="rId10"/>
                <a:stretch>
                  <a:fillRect l="-138" b="107"/>
                </a:stretch>
              </a:blipFill>
            </p:spPr>
            <p:txBody>
              <a:bodyPr/>
              <a:lstStyle/>
              <a:p>
                <a:r>
                  <a:rPr lang="zh-CN" altLang="en-US">
                    <a:noFill/>
                  </a:rPr>
                  <a:t> </a:t>
                </a:r>
              </a:p>
            </p:txBody>
          </p:sp>
        </mc:Fallback>
      </mc:AlternateContent>
      <p:cxnSp>
        <p:nvCxnSpPr>
          <p:cNvPr id="28" name="Straight Arrow Connector 27"/>
          <p:cNvCxnSpPr/>
          <p:nvPr/>
        </p:nvCxnSpPr>
        <p:spPr bwMode="auto">
          <a:xfrm flipV="1">
            <a:off x="304800" y="1773484"/>
            <a:ext cx="306594" cy="113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4612957" y="1676400"/>
            <a:ext cx="492443" cy="461665"/>
          </a:xfrm>
          <a:prstGeom prst="rect">
            <a:avLst/>
          </a:prstGeom>
          <a:noFill/>
        </p:spPr>
        <p:txBody>
          <a:bodyPr wrap="none" rtlCol="0">
            <a:spAutoFit/>
          </a:bodyPr>
          <a:lstStyle/>
          <a:p>
            <a:r>
              <a:rPr lang="en-US" dirty="0"/>
              <a:t>…</a:t>
            </a:r>
            <a:endParaRPr lang="en-US" dirty="0"/>
          </a:p>
        </p:txBody>
      </p:sp>
      <mc:AlternateContent xmlns:mc="http://schemas.openxmlformats.org/markup-compatibility/2006">
        <mc:Choice xmlns:a14="http://schemas.microsoft.com/office/drawing/2010/main" Requires="a14">
          <p:sp>
            <p:nvSpPr>
              <p:cNvPr id="24" name="Rectangle 23"/>
              <p:cNvSpPr/>
              <p:nvPr/>
            </p:nvSpPr>
            <p:spPr>
              <a:xfrm>
                <a:off x="1163375" y="849867"/>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a:latin typeface="Cambria Math" panose="02040503050406030204" pitchFamily="18" charset="0"/>
                            </a:rPr>
                            <m:t>1</m:t>
                          </m:r>
                        </m:sub>
                      </m:sSub>
                    </m:oMath>
                  </m:oMathPara>
                </a14:m>
                <a:endParaRPr lang="en-US" sz="1800" dirty="0"/>
              </a:p>
            </p:txBody>
          </p:sp>
        </mc:Choice>
        <mc:Fallback>
          <p:sp>
            <p:nvSpPr>
              <p:cNvPr id="24" name="Rectangle 23"/>
              <p:cNvSpPr>
                <a:spLocks noRot="1" noChangeAspect="1" noMove="1" noResize="1" noEditPoints="1" noAdjustHandles="1" noChangeArrowheads="1" noChangeShapeType="1" noTextEdit="1"/>
              </p:cNvSpPr>
              <p:nvPr/>
            </p:nvSpPr>
            <p:spPr>
              <a:xfrm>
                <a:off x="1163375" y="849867"/>
                <a:ext cx="513025" cy="369332"/>
              </a:xfrm>
              <a:prstGeom prst="rect">
                <a:avLst/>
              </a:prstGeom>
              <a:blipFill rotWithShape="1">
                <a:blip r:embed="rId11"/>
                <a:stretch>
                  <a:fillRect l="-11" t="-64" b="172"/>
                </a:stretch>
              </a:blipFill>
            </p:spPr>
            <p:txBody>
              <a:bodyPr/>
              <a:lstStyle/>
              <a:p>
                <a:r>
                  <a:rPr lang="zh-CN" altLang="en-US">
                    <a:noFill/>
                  </a:rPr>
                  <a:t> </a:t>
                </a:r>
              </a:p>
            </p:txBody>
          </p:sp>
        </mc:Fallback>
      </mc:AlternateContent>
      <p:cxnSp>
        <p:nvCxnSpPr>
          <p:cNvPr id="25" name="Straight Arrow Connector 24"/>
          <p:cNvCxnSpPr>
            <a:stCxn id="24" idx="2"/>
            <a:endCxn id="5" idx="0"/>
          </p:cNvCxnSpPr>
          <p:nvPr/>
        </p:nvCxnSpPr>
        <p:spPr bwMode="auto">
          <a:xfrm flipH="1">
            <a:off x="1415446" y="1219199"/>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7" name="Rectangle 26"/>
              <p:cNvSpPr/>
              <p:nvPr/>
            </p:nvSpPr>
            <p:spPr>
              <a:xfrm>
                <a:off x="32004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Sub>
                    </m:oMath>
                  </m:oMathPara>
                </a14:m>
                <a:endParaRPr lang="en-US" sz="1800" dirty="0"/>
              </a:p>
            </p:txBody>
          </p:sp>
        </mc:Choice>
        <mc:Fallback>
          <p:sp>
            <p:nvSpPr>
              <p:cNvPr id="27" name="Rectangle 26"/>
              <p:cNvSpPr>
                <a:spLocks noRot="1" noChangeAspect="1" noMove="1" noResize="1" noEditPoints="1" noAdjustHandles="1" noChangeArrowheads="1" noChangeShapeType="1" noTextEdit="1"/>
              </p:cNvSpPr>
              <p:nvPr/>
            </p:nvSpPr>
            <p:spPr>
              <a:xfrm>
                <a:off x="3200400" y="838200"/>
                <a:ext cx="513025" cy="369332"/>
              </a:xfrm>
              <a:prstGeom prst="rect">
                <a:avLst/>
              </a:prstGeom>
              <a:blipFill rotWithShape="1">
                <a:blip r:embed="rId12"/>
                <a:stretch>
                  <a:fillRect r="113" b="107"/>
                </a:stretch>
              </a:blipFill>
            </p:spPr>
            <p:txBody>
              <a:bodyPr/>
              <a:lstStyle/>
              <a:p>
                <a:r>
                  <a:rPr lang="zh-CN" altLang="en-US">
                    <a:noFill/>
                  </a:rPr>
                  <a:t> </a:t>
                </a:r>
              </a:p>
            </p:txBody>
          </p:sp>
        </mc:Fallback>
      </mc:AlternateContent>
      <p:cxnSp>
        <p:nvCxnSpPr>
          <p:cNvPr id="29" name="Straight Arrow Connector 28"/>
          <p:cNvCxnSpPr>
            <a:stCxn id="27" idx="2"/>
          </p:cNvCxnSpPr>
          <p:nvPr/>
        </p:nvCxnSpPr>
        <p:spPr bwMode="auto">
          <a:xfrm flipH="1">
            <a:off x="34524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0" name="Rectangle 29"/>
              <p:cNvSpPr/>
              <p:nvPr/>
            </p:nvSpPr>
            <p:spPr>
              <a:xfrm>
                <a:off x="60198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𝐾</m:t>
                          </m:r>
                        </m:sub>
                      </m:sSub>
                    </m:oMath>
                  </m:oMathPara>
                </a14:m>
                <a:endParaRPr lang="en-US" sz="1800" dirty="0"/>
              </a:p>
            </p:txBody>
          </p:sp>
        </mc:Choice>
        <mc:Fallback>
          <p:sp>
            <p:nvSpPr>
              <p:cNvPr id="30" name="Rectangle 29"/>
              <p:cNvSpPr>
                <a:spLocks noRot="1" noChangeAspect="1" noMove="1" noResize="1" noEditPoints="1" noAdjustHandles="1" noChangeArrowheads="1" noChangeShapeType="1" noTextEdit="1"/>
              </p:cNvSpPr>
              <p:nvPr/>
            </p:nvSpPr>
            <p:spPr>
              <a:xfrm>
                <a:off x="6019800" y="838200"/>
                <a:ext cx="513025" cy="369332"/>
              </a:xfrm>
              <a:prstGeom prst="rect">
                <a:avLst/>
              </a:prstGeom>
              <a:blipFill rotWithShape="1">
                <a:blip r:embed="rId13"/>
                <a:stretch>
                  <a:fillRect r="113" b="107"/>
                </a:stretch>
              </a:blipFill>
            </p:spPr>
            <p:txBody>
              <a:bodyPr/>
              <a:lstStyle/>
              <a:p>
                <a:r>
                  <a:rPr lang="zh-CN" altLang="en-US">
                    <a:noFill/>
                  </a:rPr>
                  <a:t> </a:t>
                </a:r>
              </a:p>
            </p:txBody>
          </p:sp>
        </mc:Fallback>
      </mc:AlternateContent>
      <p:cxnSp>
        <p:nvCxnSpPr>
          <p:cNvPr id="31" name="Straight Arrow Connector 30"/>
          <p:cNvCxnSpPr>
            <a:stCxn id="30" idx="2"/>
          </p:cNvCxnSpPr>
          <p:nvPr/>
        </p:nvCxnSpPr>
        <p:spPr bwMode="auto">
          <a:xfrm flipH="1">
            <a:off x="62718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Chain rule</a:t>
            </a:r>
            <a:endParaRPr lang="en-US" dirty="0"/>
          </a:p>
        </p:txBody>
      </p:sp>
      <mc:AlternateContent xmlns:mc="http://schemas.openxmlformats.org/markup-compatibility/2006">
        <mc:Choice xmlns:a14="http://schemas.microsoft.com/office/drawing/2010/main" Requires="a14">
          <p:sp>
            <p:nvSpPr>
              <p:cNvPr id="23" name="Content Placeholder 22"/>
              <p:cNvSpPr>
                <a:spLocks noGrp="1"/>
              </p:cNvSpPr>
              <p:nvPr>
                <p:ph idx="1"/>
              </p:nvPr>
            </p:nvSpPr>
            <p:spPr>
              <a:xfrm>
                <a:off x="685800" y="2427302"/>
                <a:ext cx="7772400" cy="3744897"/>
              </a:xfrm>
            </p:spPr>
            <p:txBody>
              <a:bodyPr/>
              <a:lstStyle/>
              <a:p>
                <a:r>
                  <a:rPr lang="en-US" dirty="0"/>
                  <a:t> </a:t>
                </a:r>
                <a14:m>
                  <m:oMath xmlns:m="http://schemas.openxmlformats.org/officeDocument/2006/math">
                    <m:r>
                      <a:rPr lang="en-US" b="0" i="1" smtClean="0">
                        <a:solidFill>
                          <a:srgbClr val="9900CC"/>
                        </a:solidFill>
                        <a:latin typeface="Cambria Math" panose="02040503050406030204" pitchFamily="18" charset="0"/>
                      </a:rPr>
                      <m:t>𝑒</m:t>
                    </m:r>
                    <m:r>
                      <a:rPr lang="en-US" b="0" i="1" smtClean="0">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𝑙</m:t>
                    </m:r>
                    <m:d>
                      <m:dPr>
                        <m:ctrlPr>
                          <a:rPr lang="en-US" i="1">
                            <a:solidFill>
                              <a:srgbClr val="9900CC"/>
                            </a:solidFill>
                            <a:latin typeface="Cambria Math" panose="02040503050406030204" pitchFamily="18" charset="0"/>
                          </a:rPr>
                        </m:ctrlPr>
                      </m:dPr>
                      <m:e>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𝑓</m:t>
                            </m:r>
                          </m:e>
                          <m:sub>
                            <m:r>
                              <a:rPr lang="en-US" b="0" i="1" smtClean="0">
                                <a:solidFill>
                                  <a:srgbClr val="9900CC"/>
                                </a:solidFill>
                                <a:latin typeface="Cambria Math" panose="02040503050406030204" pitchFamily="18" charset="0"/>
                              </a:rPr>
                              <m:t>1</m:t>
                            </m:r>
                          </m:sub>
                        </m:sSub>
                        <m:d>
                          <m:dPr>
                            <m:ctrlPr>
                              <a:rPr lang="en-US" b="0" i="1" smtClean="0">
                                <a:solidFill>
                                  <a:srgbClr val="9900CC"/>
                                </a:solidFill>
                                <a:latin typeface="Cambria Math" panose="02040503050406030204" pitchFamily="18" charset="0"/>
                              </a:rPr>
                            </m:ctrlPr>
                          </m:dPr>
                          <m:e>
                            <m:r>
                              <a:rPr lang="en-US" b="0" i="1" smtClean="0">
                                <a:solidFill>
                                  <a:srgbClr val="9900CC"/>
                                </a:solidFill>
                                <a:latin typeface="Cambria Math" panose="02040503050406030204" pitchFamily="18" charset="0"/>
                              </a:rPr>
                              <m:t>𝑥</m:t>
                            </m:r>
                            <m:r>
                              <a:rPr lang="en-US" b="0" i="1" smtClean="0">
                                <a:solidFill>
                                  <a:srgbClr val="9900CC"/>
                                </a:solidFill>
                                <a:latin typeface="Cambria Math" panose="02040503050406030204" pitchFamily="18" charset="0"/>
                              </a:rPr>
                              <m:t>,</m:t>
                            </m:r>
                            <m:sSub>
                              <m:sSubPr>
                                <m:ctrlPr>
                                  <a:rPr lang="en-US" b="0"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1</m:t>
                                </m:r>
                              </m:sub>
                            </m:sSub>
                          </m:e>
                        </m:d>
                        <m:r>
                          <a:rPr lang="en-US" b="0" i="1" smtClean="0">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𝑦</m:t>
                        </m:r>
                      </m:e>
                    </m:d>
                  </m:oMath>
                </a14:m>
                <a:endParaRPr lang="en-US" b="0" dirty="0">
                  <a:solidFill>
                    <a:srgbClr val="9900CC"/>
                  </a:solidFill>
                </a:endParaRPr>
              </a:p>
              <a:p>
                <a14:m>
                  <m:oMath xmlns:m="http://schemas.openxmlformats.org/officeDocument/2006/math">
                    <m:f>
                      <m:fPr>
                        <m:ctrlPr>
                          <a:rPr lang="en-US" i="1">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1</m:t>
                            </m:r>
                          </m:sub>
                        </m:sSub>
                      </m:den>
                    </m:f>
                    <m:r>
                      <a:rPr lang="en-US" i="1">
                        <a:solidFill>
                          <a:srgbClr val="9900CC"/>
                        </a:solidFill>
                        <a:latin typeface="Cambria Math" panose="02040503050406030204" pitchFamily="18" charset="0"/>
                      </a:rPr>
                      <m:t>𝑙</m:t>
                    </m:r>
                    <m:d>
                      <m:dPr>
                        <m:ctrlPr>
                          <a:rPr lang="en-US" i="1">
                            <a:solidFill>
                              <a:srgbClr val="9900CC"/>
                            </a:solidFill>
                            <a:latin typeface="Cambria Math" panose="02040503050406030204" pitchFamily="18" charset="0"/>
                          </a:rPr>
                        </m:ctrlPr>
                      </m:dPr>
                      <m:e>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𝑓</m:t>
                            </m:r>
                          </m:e>
                          <m:sub>
                            <m:r>
                              <a:rPr lang="en-US" i="1">
                                <a:solidFill>
                                  <a:srgbClr val="9900CC"/>
                                </a:solidFill>
                                <a:latin typeface="Cambria Math" panose="02040503050406030204" pitchFamily="18" charset="0"/>
                              </a:rPr>
                              <m:t>1</m:t>
                            </m:r>
                          </m:sub>
                        </m:sSub>
                        <m:d>
                          <m:dPr>
                            <m:ctrlPr>
                              <a:rPr lang="en-US" i="1">
                                <a:solidFill>
                                  <a:srgbClr val="9900CC"/>
                                </a:solidFill>
                                <a:latin typeface="Cambria Math" panose="02040503050406030204" pitchFamily="18" charset="0"/>
                              </a:rPr>
                            </m:ctrlPr>
                          </m:dPr>
                          <m:e>
                            <m:r>
                              <a:rPr lang="en-US" i="1">
                                <a:solidFill>
                                  <a:srgbClr val="9900CC"/>
                                </a:solidFill>
                                <a:latin typeface="Cambria Math" panose="02040503050406030204" pitchFamily="18" charset="0"/>
                              </a:rPr>
                              <m:t>𝑥</m:t>
                            </m:r>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𝑤</m:t>
                                </m:r>
                              </m:e>
                              <m:sub>
                                <m:r>
                                  <a:rPr lang="en-US" i="1">
                                    <a:solidFill>
                                      <a:srgbClr val="9900CC"/>
                                    </a:solidFill>
                                    <a:latin typeface="Cambria Math" panose="02040503050406030204" pitchFamily="18" charset="0"/>
                                  </a:rPr>
                                  <m:t>1</m:t>
                                </m:r>
                              </m:sub>
                            </m:sSub>
                          </m:e>
                        </m:d>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𝑦</m:t>
                        </m:r>
                      </m:e>
                    </m:d>
                    <m:r>
                      <a:rPr lang="en-US" i="1">
                        <a:solidFill>
                          <a:srgbClr val="9900CC"/>
                        </a:solidFill>
                        <a:latin typeface="Cambria Math" panose="02040503050406030204" pitchFamily="18" charset="0"/>
                      </a:rPr>
                      <m:t>=</m:t>
                    </m:r>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1</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1</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en>
                    </m:f>
                  </m:oMath>
                </a14:m>
                <a:r>
                  <a:rPr lang="en-US" dirty="0">
                    <a:solidFill>
                      <a:srgbClr val="FF0000"/>
                    </a:solidFill>
                  </a:rPr>
                  <a:t> </a:t>
                </a:r>
                <a:endParaRPr lang="en-US" dirty="0">
                  <a:solidFill>
                    <a:srgbClr val="FF0000"/>
                  </a:solidFill>
                </a:endParaRPr>
              </a:p>
              <a:p>
                <a:endParaRPr lang="en-US" sz="1400" dirty="0">
                  <a:solidFill>
                    <a:srgbClr val="9900CC"/>
                  </a:solidFill>
                </a:endParaRPr>
              </a:p>
              <a:p>
                <a:r>
                  <a:rPr lang="en-US" dirty="0"/>
                  <a:t>Example:  </a:t>
                </a:r>
                <a14:m>
                  <m:oMath xmlns:m="http://schemas.openxmlformats.org/officeDocument/2006/math">
                    <m:r>
                      <a:rPr lang="en-US" i="1" smtClean="0">
                        <a:solidFill>
                          <a:srgbClr val="C00000"/>
                        </a:solidFill>
                        <a:latin typeface="Cambria Math" panose="02040503050406030204" pitchFamily="18" charset="0"/>
                      </a:rPr>
                      <m:t>𝑒</m:t>
                    </m:r>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𝑦</m:t>
                        </m:r>
                        <m:r>
                          <a:rPr lang="en-US" i="1">
                            <a:solidFill>
                              <a:srgbClr val="C00000"/>
                            </a:solidFill>
                            <a:latin typeface="Cambria Math" panose="02040503050406030204" pitchFamily="18" charset="0"/>
                          </a:rPr>
                          <m:t>−</m:t>
                        </m:r>
                        <m:sSubSup>
                          <m:sSubSupPr>
                            <m:ctrlPr>
                              <a:rPr lang="en-US" i="1" smtClean="0">
                                <a:solidFill>
                                  <a:srgbClr val="C00000"/>
                                </a:solidFill>
                                <a:latin typeface="Cambria Math" panose="02040503050406030204" pitchFamily="18" charset="0"/>
                              </a:rPr>
                            </m:ctrlPr>
                          </m:sSubSupPr>
                          <m:e>
                            <m:r>
                              <a:rPr lang="en-US" b="0" i="1" smtClean="0">
                                <a:solidFill>
                                  <a:srgbClr val="C00000"/>
                                </a:solidFill>
                                <a:latin typeface="Cambria Math" panose="02040503050406030204" pitchFamily="18" charset="0"/>
                              </a:rPr>
                              <m:t>𝑤</m:t>
                            </m:r>
                          </m:e>
                          <m:sub>
                            <m:r>
                              <a:rPr lang="en-US" b="0" i="1" smtClean="0">
                                <a:solidFill>
                                  <a:srgbClr val="C00000"/>
                                </a:solidFill>
                                <a:latin typeface="Cambria Math" panose="02040503050406030204" pitchFamily="18" charset="0"/>
                              </a:rPr>
                              <m:t>1</m:t>
                            </m:r>
                          </m:sub>
                          <m:sup>
                            <m:r>
                              <a:rPr lang="en-US" b="0" i="1" smtClean="0">
                                <a:solidFill>
                                  <a:srgbClr val="C00000"/>
                                </a:solidFill>
                                <a:latin typeface="Cambria Math" panose="02040503050406030204" pitchFamily="18" charset="0"/>
                              </a:rPr>
                              <m:t>𝑇</m:t>
                            </m:r>
                          </m:sup>
                        </m:sSubSup>
                        <m:r>
                          <a:rPr lang="en-US" i="1">
                            <a:solidFill>
                              <a:srgbClr val="C00000"/>
                            </a:solidFill>
                            <a:latin typeface="Cambria Math" panose="02040503050406030204" pitchFamily="18" charset="0"/>
                          </a:rPr>
                          <m:t>𝑥</m:t>
                        </m:r>
                        <m:r>
                          <a:rPr lang="en-US" i="1">
                            <a:solidFill>
                              <a:srgbClr val="C00000"/>
                            </a:solidFill>
                            <a:latin typeface="Cambria Math" panose="02040503050406030204" pitchFamily="18" charset="0"/>
                          </a:rPr>
                          <m:t>)</m:t>
                        </m:r>
                      </m:e>
                      <m:sup>
                        <m:r>
                          <a:rPr lang="en-US" i="1">
                            <a:solidFill>
                              <a:srgbClr val="C00000"/>
                            </a:solidFill>
                            <a:latin typeface="Cambria Math" panose="02040503050406030204" pitchFamily="18" charset="0"/>
                          </a:rPr>
                          <m:t>2</m:t>
                        </m:r>
                      </m:sup>
                    </m:sSup>
                  </m:oMath>
                </a14:m>
                <a:endParaRPr lang="en-US" i="1" dirty="0">
                  <a:solidFill>
                    <a:srgbClr val="9900CC"/>
                  </a:solidFill>
                  <a:latin typeface="Cambria Math" panose="02040503050406030204" pitchFamily="18" charset="0"/>
                </a:endParaRPr>
              </a:p>
              <a:p>
                <a:r>
                  <a:rPr lang="en-US" dirty="0">
                    <a:solidFill>
                      <a:srgbClr val="9900CC"/>
                    </a:solidFill>
                  </a:rPr>
                  <a:t> </a:t>
                </a:r>
                <a14:m>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b="0" i="1" smtClean="0">
                            <a:solidFill>
                              <a:srgbClr val="00B050"/>
                            </a:solidFill>
                            <a:latin typeface="Cambria Math" panose="02040503050406030204" pitchFamily="18" charset="0"/>
                          </a:rPr>
                          <m:t>ℎ</m:t>
                        </m:r>
                      </m:e>
                      <m:sub>
                        <m:r>
                          <a:rPr lang="en-US" sz="2400" b="0" i="1" smtClean="0">
                            <a:solidFill>
                              <a:srgbClr val="00B050"/>
                            </a:solidFill>
                            <a:latin typeface="Cambria Math" panose="02040503050406030204" pitchFamily="18" charset="0"/>
                          </a:rPr>
                          <m:t>1</m:t>
                        </m:r>
                      </m:sub>
                    </m:sSub>
                    <m:r>
                      <a:rPr lang="en-US" sz="2400" b="0" i="1" smtClean="0">
                        <a:solidFill>
                          <a:srgbClr val="00B050"/>
                        </a:solidFill>
                        <a:latin typeface="Cambria Math" panose="02040503050406030204" pitchFamily="18" charset="0"/>
                      </a:rPr>
                      <m:t>=</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𝑓</m:t>
                        </m:r>
                      </m:e>
                      <m:sub>
                        <m:r>
                          <a:rPr lang="en-US" sz="2400" i="1">
                            <a:solidFill>
                              <a:srgbClr val="00B050"/>
                            </a:solidFill>
                            <a:latin typeface="Cambria Math" panose="02040503050406030204" pitchFamily="18" charset="0"/>
                          </a:rPr>
                          <m:t>1</m:t>
                        </m:r>
                      </m:sub>
                    </m:sSub>
                    <m:d>
                      <m:dPr>
                        <m:ctrlPr>
                          <a:rPr lang="en-US" sz="2400" i="1">
                            <a:solidFill>
                              <a:srgbClr val="00B050"/>
                            </a:solidFill>
                            <a:latin typeface="Cambria Math" panose="02040503050406030204" pitchFamily="18" charset="0"/>
                          </a:rPr>
                        </m:ctrlPr>
                      </m:dPr>
                      <m:e>
                        <m:r>
                          <a:rPr lang="en-US" sz="2400" i="1">
                            <a:solidFill>
                              <a:srgbClr val="00B050"/>
                            </a:solidFill>
                            <a:latin typeface="Cambria Math" panose="02040503050406030204" pitchFamily="18" charset="0"/>
                          </a:rPr>
                          <m:t>𝑥</m:t>
                        </m:r>
                        <m:r>
                          <a:rPr lang="en-US" sz="2400" i="1">
                            <a:solidFill>
                              <a:srgbClr val="00B050"/>
                            </a:solidFill>
                            <a:latin typeface="Cambria Math" panose="02040503050406030204" pitchFamily="18" charset="0"/>
                          </a:rPr>
                          <m:t>,</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𝑤</m:t>
                            </m:r>
                          </m:e>
                          <m:sub>
                            <m:r>
                              <a:rPr lang="en-US" sz="2400" i="1">
                                <a:solidFill>
                                  <a:srgbClr val="00B050"/>
                                </a:solidFill>
                                <a:latin typeface="Cambria Math" panose="02040503050406030204" pitchFamily="18" charset="0"/>
                              </a:rPr>
                              <m:t>1</m:t>
                            </m:r>
                          </m:sub>
                        </m:sSub>
                      </m:e>
                    </m:d>
                    <m:r>
                      <a:rPr lang="en-US" sz="2400" b="0" i="1" smtClean="0">
                        <a:solidFill>
                          <a:srgbClr val="00B050"/>
                        </a:solidFill>
                        <a:latin typeface="Cambria Math" panose="02040503050406030204" pitchFamily="18" charset="0"/>
                      </a:rPr>
                      <m:t>=</m:t>
                    </m:r>
                    <m:sSubSup>
                      <m:sSubSupPr>
                        <m:ctrlPr>
                          <a:rPr lang="en-US" sz="2400" i="1">
                            <a:solidFill>
                              <a:srgbClr val="00B050"/>
                            </a:solidFill>
                            <a:latin typeface="Cambria Math" panose="02040503050406030204" pitchFamily="18" charset="0"/>
                          </a:rPr>
                        </m:ctrlPr>
                      </m:sSubSupPr>
                      <m:e>
                        <m:r>
                          <a:rPr lang="en-US" sz="2400" i="1">
                            <a:solidFill>
                              <a:srgbClr val="00B050"/>
                            </a:solidFill>
                            <a:latin typeface="Cambria Math" panose="02040503050406030204" pitchFamily="18" charset="0"/>
                          </a:rPr>
                          <m:t>𝑤</m:t>
                        </m:r>
                      </m:e>
                      <m:sub>
                        <m:r>
                          <a:rPr lang="en-US" sz="2400" i="1">
                            <a:solidFill>
                              <a:srgbClr val="00B050"/>
                            </a:solidFill>
                            <a:latin typeface="Cambria Math" panose="02040503050406030204" pitchFamily="18" charset="0"/>
                          </a:rPr>
                          <m:t>1</m:t>
                        </m:r>
                      </m:sub>
                      <m:sup>
                        <m:r>
                          <a:rPr lang="en-US" sz="2400" i="1">
                            <a:solidFill>
                              <a:srgbClr val="00B050"/>
                            </a:solidFill>
                            <a:latin typeface="Cambria Math" panose="02040503050406030204" pitchFamily="18" charset="0"/>
                          </a:rPr>
                          <m:t>𝑇</m:t>
                        </m:r>
                      </m:sup>
                    </m:sSubSup>
                    <m:r>
                      <a:rPr lang="en-US" sz="2400" i="1">
                        <a:solidFill>
                          <a:srgbClr val="00B050"/>
                        </a:solidFill>
                        <a:latin typeface="Cambria Math" panose="02040503050406030204" pitchFamily="18" charset="0"/>
                      </a:rPr>
                      <m:t>𝑥</m:t>
                    </m:r>
                  </m:oMath>
                </a14:m>
                <a:endParaRPr lang="en-US" sz="2400" i="1" dirty="0">
                  <a:solidFill>
                    <a:srgbClr val="00B050"/>
                  </a:solidFill>
                  <a:latin typeface="Cambria Math" panose="02040503050406030204" pitchFamily="18" charset="0"/>
                </a:endParaRPr>
              </a:p>
              <a:p>
                <a:r>
                  <a:rPr lang="en-US" sz="2400" dirty="0">
                    <a:solidFill>
                      <a:srgbClr val="00B050"/>
                    </a:solidFill>
                  </a:rPr>
                  <a:t> </a:t>
                </a:r>
                <a14:m>
                  <m:oMath xmlns:m="http://schemas.openxmlformats.org/officeDocument/2006/math">
                    <m:r>
                      <a:rPr lang="en-US" sz="2400" b="0" i="1" smtClean="0">
                        <a:solidFill>
                          <a:srgbClr val="00B050"/>
                        </a:solidFill>
                        <a:latin typeface="Cambria Math" panose="02040503050406030204" pitchFamily="18" charset="0"/>
                      </a:rPr>
                      <m:t>𝑒</m:t>
                    </m:r>
                    <m:r>
                      <a:rPr lang="en-US" sz="2400" b="0" i="1" smtClean="0">
                        <a:solidFill>
                          <a:srgbClr val="00B050"/>
                        </a:solidFill>
                        <a:latin typeface="Cambria Math" panose="02040503050406030204" pitchFamily="18" charset="0"/>
                      </a:rPr>
                      <m:t>=</m:t>
                    </m:r>
                    <m:r>
                      <a:rPr lang="en-US" sz="2400" b="0" i="1" smtClean="0">
                        <a:solidFill>
                          <a:srgbClr val="00B050"/>
                        </a:solidFill>
                        <a:latin typeface="Cambria Math" panose="02040503050406030204" pitchFamily="18" charset="0"/>
                      </a:rPr>
                      <m:t>𝑙</m:t>
                    </m:r>
                    <m:d>
                      <m:dPr>
                        <m:ctrlPr>
                          <a:rPr lang="en-US" sz="2400" b="0" i="1" smtClean="0">
                            <a:solidFill>
                              <a:srgbClr val="00B050"/>
                            </a:solidFill>
                            <a:latin typeface="Cambria Math" panose="02040503050406030204" pitchFamily="18" charset="0"/>
                          </a:rPr>
                        </m:ctrlPr>
                      </m:dPr>
                      <m:e>
                        <m:sSub>
                          <m:sSubPr>
                            <m:ctrlPr>
                              <a:rPr lang="en-US" sz="2400" b="0" i="1" smtClean="0">
                                <a:solidFill>
                                  <a:srgbClr val="00B050"/>
                                </a:solidFill>
                                <a:latin typeface="Cambria Math" panose="02040503050406030204" pitchFamily="18" charset="0"/>
                              </a:rPr>
                            </m:ctrlPr>
                          </m:sSubPr>
                          <m:e>
                            <m:r>
                              <a:rPr lang="en-US" sz="2400" b="0" i="1" smtClean="0">
                                <a:solidFill>
                                  <a:srgbClr val="00B050"/>
                                </a:solidFill>
                                <a:latin typeface="Cambria Math" panose="02040503050406030204" pitchFamily="18" charset="0"/>
                              </a:rPr>
                              <m:t>ℎ</m:t>
                            </m:r>
                          </m:e>
                          <m:sub>
                            <m:r>
                              <a:rPr lang="en-US" sz="2400" b="0" i="1" smtClean="0">
                                <a:solidFill>
                                  <a:srgbClr val="00B050"/>
                                </a:solidFill>
                                <a:latin typeface="Cambria Math" panose="02040503050406030204" pitchFamily="18" charset="0"/>
                              </a:rPr>
                              <m:t>1</m:t>
                            </m:r>
                          </m:sub>
                        </m:sSub>
                        <m:r>
                          <a:rPr lang="en-US" sz="2400" b="0" i="1" smtClean="0">
                            <a:solidFill>
                              <a:srgbClr val="00B050"/>
                            </a:solidFill>
                            <a:latin typeface="Cambria Math" panose="02040503050406030204" pitchFamily="18" charset="0"/>
                          </a:rPr>
                          <m:t>,</m:t>
                        </m:r>
                        <m:r>
                          <a:rPr lang="en-US" sz="2400" b="0" i="1" smtClean="0">
                            <a:solidFill>
                              <a:srgbClr val="00B050"/>
                            </a:solidFill>
                            <a:latin typeface="Cambria Math" panose="02040503050406030204" pitchFamily="18" charset="0"/>
                          </a:rPr>
                          <m:t>𝑦</m:t>
                        </m:r>
                      </m:e>
                    </m:d>
                    <m:r>
                      <a:rPr lang="en-US" sz="2400" b="0" i="1" smtClean="0">
                        <a:solidFill>
                          <a:srgbClr val="00B050"/>
                        </a:solidFill>
                        <a:latin typeface="Cambria Math" panose="02040503050406030204" pitchFamily="18" charset="0"/>
                      </a:rPr>
                      <m:t>=</m:t>
                    </m:r>
                    <m:sSup>
                      <m:sSupPr>
                        <m:ctrlPr>
                          <a:rPr lang="en-US" sz="2400" b="0" i="1" smtClean="0">
                            <a:solidFill>
                              <a:srgbClr val="00B050"/>
                            </a:solidFill>
                            <a:latin typeface="Cambria Math" panose="02040503050406030204" pitchFamily="18" charset="0"/>
                          </a:rPr>
                        </m:ctrlPr>
                      </m:sSupPr>
                      <m:e>
                        <m:r>
                          <a:rPr lang="en-US" sz="2400" i="1">
                            <a:solidFill>
                              <a:srgbClr val="00B050"/>
                            </a:solidFill>
                            <a:latin typeface="Cambria Math" panose="02040503050406030204" pitchFamily="18" charset="0"/>
                          </a:rPr>
                          <m:t>(</m:t>
                        </m:r>
                        <m:r>
                          <a:rPr lang="en-US" sz="2400" i="1">
                            <a:solidFill>
                              <a:srgbClr val="00B050"/>
                            </a:solidFill>
                            <a:latin typeface="Cambria Math" panose="02040503050406030204" pitchFamily="18" charset="0"/>
                          </a:rPr>
                          <m:t>𝑦</m:t>
                        </m:r>
                        <m:r>
                          <a:rPr lang="en-US" sz="2400" i="1">
                            <a:solidFill>
                              <a:srgbClr val="00B050"/>
                            </a:solidFill>
                            <a:latin typeface="Cambria Math" panose="02040503050406030204" pitchFamily="18" charset="0"/>
                          </a:rPr>
                          <m:t>−</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ℎ</m:t>
                            </m:r>
                          </m:e>
                          <m:sub>
                            <m:r>
                              <a:rPr lang="en-US" sz="2400" i="1">
                                <a:solidFill>
                                  <a:srgbClr val="00B050"/>
                                </a:solidFill>
                                <a:latin typeface="Cambria Math" panose="02040503050406030204" pitchFamily="18" charset="0"/>
                              </a:rPr>
                              <m:t>1</m:t>
                            </m:r>
                          </m:sub>
                        </m:sSub>
                        <m:r>
                          <a:rPr lang="en-US" sz="2400" i="1">
                            <a:solidFill>
                              <a:srgbClr val="00B050"/>
                            </a:solidFill>
                            <a:latin typeface="Cambria Math" panose="02040503050406030204" pitchFamily="18" charset="0"/>
                          </a:rPr>
                          <m:t>)</m:t>
                        </m:r>
                      </m:e>
                      <m:sup>
                        <m:r>
                          <a:rPr lang="en-US" sz="2400" b="0" i="1" smtClean="0">
                            <a:solidFill>
                              <a:srgbClr val="00B050"/>
                            </a:solidFill>
                            <a:latin typeface="Cambria Math" panose="02040503050406030204" pitchFamily="18" charset="0"/>
                          </a:rPr>
                          <m:t>2</m:t>
                        </m:r>
                      </m:sup>
                    </m:sSup>
                  </m:oMath>
                </a14:m>
                <a:endParaRPr lang="en-US" sz="2400" dirty="0">
                  <a:solidFill>
                    <a:srgbClr val="00B050"/>
                  </a:solidFill>
                </a:endParaRPr>
              </a:p>
              <a:p>
                <a:endParaRPr lang="en-US" sz="1400" dirty="0">
                  <a:solidFill>
                    <a:srgbClr val="9900CC"/>
                  </a:solidFill>
                </a:endParaRPr>
              </a:p>
              <a:p>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smtClean="0">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1</m:t>
                              </m:r>
                            </m:sub>
                          </m:sSub>
                        </m:den>
                      </m:f>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1</m:t>
                              </m:r>
                            </m:sub>
                          </m:sSub>
                        </m:num>
                        <m:den>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en>
                      </m:f>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𝑥</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𝑇</m:t>
                              </m:r>
                            </m:sup>
                          </m:sSubSup>
                          <m:r>
                            <a:rPr lang="en-US" i="1">
                              <a:solidFill>
                                <a:srgbClr val="FF0000"/>
                              </a:solidFill>
                              <a:latin typeface="Cambria Math" panose="02040503050406030204" pitchFamily="18" charset="0"/>
                            </a:rPr>
                            <m:t>𝑥</m:t>
                          </m:r>
                        </m:e>
                      </m:d>
                    </m:oMath>
                  </m:oMathPara>
                </a14:m>
                <a:endParaRPr lang="en-US" dirty="0">
                  <a:solidFill>
                    <a:srgbClr val="9900CC"/>
                  </a:solidFill>
                </a:endParaRPr>
              </a:p>
              <a:p>
                <a:endParaRPr lang="en-US" i="1" dirty="0">
                  <a:solidFill>
                    <a:srgbClr val="9900CC"/>
                  </a:solidFill>
                  <a:latin typeface="Cambria Math" panose="02040503050406030204" pitchFamily="18" charset="0"/>
                </a:endParaRPr>
              </a:p>
            </p:txBody>
          </p:sp>
        </mc:Choice>
        <mc:Fallback>
          <p:sp>
            <p:nvSpPr>
              <p:cNvPr id="23" name="Content Placeholder 22"/>
              <p:cNvSpPr>
                <a:spLocks noRot="1" noChangeAspect="1" noMove="1" noResize="1" noEditPoints="1" noAdjustHandles="1" noChangeArrowheads="1" noChangeShapeType="1" noTextEdit="1"/>
              </p:cNvSpPr>
              <p:nvPr>
                <p:ph idx="1"/>
              </p:nvPr>
            </p:nvSpPr>
            <p:spPr>
              <a:xfrm>
                <a:off x="685800" y="2427302"/>
                <a:ext cx="7772400" cy="3744897"/>
              </a:xfrm>
              <a:blipFill rotWithShape="1">
                <a:blip r:embed="rId1"/>
                <a:stretch>
                  <a:fillRect t="-9" b="-307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𝑥</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2"/>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3"/>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9" name="Rectangle 18"/>
              <p:cNvSpPr/>
              <p:nvPr/>
            </p:nvSpPr>
            <p:spPr>
              <a:xfrm>
                <a:off x="4573794" y="1600200"/>
                <a:ext cx="379206"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𝑥</m:t>
                      </m:r>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4573794" y="1600200"/>
                <a:ext cx="379206" cy="369332"/>
              </a:xfrm>
              <a:prstGeom prst="rect">
                <a:avLst/>
              </a:prstGeom>
              <a:blipFill rotWithShape="1">
                <a:blip r:embed="rId4"/>
                <a:stretch>
                  <a:fillRect l="-138"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116117" y="1295400"/>
                <a:ext cx="47904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1</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116117" y="1295400"/>
                <a:ext cx="479041" cy="369332"/>
              </a:xfrm>
              <a:prstGeom prst="rect">
                <a:avLst/>
              </a:prstGeom>
              <a:blipFill rotWithShape="1">
                <a:blip r:embed="rId5"/>
                <a:stretch>
                  <a:fillRect l="-64" r="116"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6"/>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Rectangle 12"/>
              <p:cNvSpPr/>
              <p:nvPr/>
            </p:nvSpPr>
            <p:spPr>
              <a:xfrm>
                <a:off x="60198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Sub>
                    </m:oMath>
                  </m:oMathPara>
                </a14:m>
                <a:endParaRPr lang="en-US" sz="1800" dirty="0"/>
              </a:p>
            </p:txBody>
          </p:sp>
        </mc:Choice>
        <mc:Fallback>
          <p:sp>
            <p:nvSpPr>
              <p:cNvPr id="13" name="Rectangle 12"/>
              <p:cNvSpPr>
                <a:spLocks noRot="1" noChangeAspect="1" noMove="1" noResize="1" noEditPoints="1" noAdjustHandles="1" noChangeArrowheads="1" noChangeShapeType="1" noTextEdit="1"/>
              </p:cNvSpPr>
              <p:nvPr/>
            </p:nvSpPr>
            <p:spPr>
              <a:xfrm>
                <a:off x="6019800" y="838200"/>
                <a:ext cx="513025" cy="369332"/>
              </a:xfrm>
              <a:prstGeom prst="rect">
                <a:avLst/>
              </a:prstGeom>
              <a:blipFill rotWithShape="1">
                <a:blip r:embed="rId7"/>
                <a:stretch>
                  <a:fillRect r="113" b="107"/>
                </a:stretch>
              </a:blipFill>
            </p:spPr>
            <p:txBody>
              <a:bodyPr/>
              <a:lstStyle/>
              <a:p>
                <a:r>
                  <a:rPr lang="zh-CN" altLang="en-US">
                    <a:noFill/>
                  </a:rPr>
                  <a:t> </a:t>
                </a:r>
              </a:p>
            </p:txBody>
          </p:sp>
        </mc:Fallback>
      </mc:AlternateContent>
      <p:cxnSp>
        <p:nvCxnSpPr>
          <p:cNvPr id="14" name="Straight Arrow Connector 13"/>
          <p:cNvCxnSpPr>
            <a:stCxn id="13" idx="2"/>
          </p:cNvCxnSpPr>
          <p:nvPr/>
        </p:nvCxnSpPr>
        <p:spPr bwMode="auto">
          <a:xfrm flipH="1">
            <a:off x="62718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 name="Rectangle 2"/>
              <p:cNvSpPr/>
              <p:nvPr/>
            </p:nvSpPr>
            <p:spPr>
              <a:xfrm>
                <a:off x="685800" y="1524000"/>
                <a:ext cx="3549370" cy="523220"/>
              </a:xfrm>
              <a:prstGeom prst="rect">
                <a:avLst/>
              </a:prstGeom>
            </p:spPr>
            <p:txBody>
              <a:bodyPr wrap="none">
                <a:spAutoFit/>
              </a:bodyPr>
              <a:lstStyle/>
              <a:p>
                <a:r>
                  <a:rPr lang="en-US" sz="2800" b="0" dirty="0"/>
                  <a:t>Let’s start with </a:t>
                </a:r>
                <a14:m>
                  <m:oMath xmlns:m="http://schemas.openxmlformats.org/officeDocument/2006/math">
                    <m:r>
                      <a:rPr lang="en-US" sz="2800" b="0" i="1" dirty="0" smtClean="0">
                        <a:solidFill>
                          <a:srgbClr val="C00000"/>
                        </a:solidFill>
                        <a:latin typeface="Cambria Math" panose="02040503050406030204" pitchFamily="18" charset="0"/>
                      </a:rPr>
                      <m:t>𝑘</m:t>
                    </m:r>
                    <m:r>
                      <a:rPr lang="en-US" sz="2800" b="0" i="1" dirty="0" smtClean="0">
                        <a:solidFill>
                          <a:srgbClr val="C00000"/>
                        </a:solidFill>
                        <a:latin typeface="Cambria Math" panose="02040503050406030204" pitchFamily="18" charset="0"/>
                      </a:rPr>
                      <m:t>=</m:t>
                    </m:r>
                    <m:r>
                      <a:rPr lang="en-US" sz="2800" b="0" i="1" dirty="0" smtClean="0">
                        <a:solidFill>
                          <a:srgbClr val="C00000"/>
                        </a:solidFill>
                        <a:latin typeface="Cambria Math" panose="02040503050406030204" pitchFamily="18" charset="0"/>
                      </a:rPr>
                      <m:t>1</m:t>
                    </m:r>
                  </m:oMath>
                </a14:m>
                <a:endParaRPr lang="en-US" sz="2800" dirty="0"/>
              </a:p>
            </p:txBody>
          </p:sp>
        </mc:Choice>
        <mc:Fallback>
          <p:sp>
            <p:nvSpPr>
              <p:cNvPr id="3" name="Rectangle 2"/>
              <p:cNvSpPr>
                <a:spLocks noRot="1" noChangeAspect="1" noMove="1" noResize="1" noEditPoints="1" noAdjustHandles="1" noChangeArrowheads="1" noChangeShapeType="1" noTextEdit="1"/>
              </p:cNvSpPr>
              <p:nvPr/>
            </p:nvSpPr>
            <p:spPr>
              <a:xfrm>
                <a:off x="685800" y="1524000"/>
                <a:ext cx="3549370" cy="523220"/>
              </a:xfrm>
              <a:prstGeom prst="rect">
                <a:avLst/>
              </a:prstGeom>
              <a:blipFill rotWithShape="1">
                <a:blip r:embed="rId8"/>
                <a:stretch>
                  <a:fillRect r="10" b="-42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7010400" y="1905000"/>
                <a:ext cx="565539"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r>
                            <a:rPr lang="en-US" sz="1600" b="0" i="1">
                              <a:solidFill>
                                <a:srgbClr val="FF0000"/>
                              </a:solidFill>
                              <a:latin typeface="Cambria Math" panose="02040503050406030204" pitchFamily="18" charset="0"/>
                            </a:rPr>
                            <m:t>𝑒</m:t>
                          </m:r>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1</m:t>
                              </m:r>
                            </m:sub>
                          </m:sSub>
                        </m:den>
                      </m:f>
                    </m:oMath>
                  </m:oMathPara>
                </a14:m>
                <a:endParaRPr lang="en-US" sz="1600" dirty="0">
                  <a:solidFill>
                    <a:srgbClr val="FF0000"/>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7010400" y="1905000"/>
                <a:ext cx="565539" cy="600805"/>
              </a:xfrm>
              <a:prstGeom prst="rect">
                <a:avLst/>
              </a:prstGeom>
              <a:blipFill rotWithShape="1">
                <a:blip r:embed="rId9"/>
                <a:stretch>
                  <a:fillRect r="69"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Rectangle 16"/>
              <p:cNvSpPr/>
              <p:nvPr/>
            </p:nvSpPr>
            <p:spPr>
              <a:xfrm>
                <a:off x="6260785" y="2227424"/>
                <a:ext cx="597215"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1</m:t>
                              </m:r>
                            </m:sub>
                          </m:sSub>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a:solidFill>
                                    <a:srgbClr val="FF0000"/>
                                  </a:solidFill>
                                  <a:latin typeface="Cambria Math" panose="02040503050406030204" pitchFamily="18" charset="0"/>
                                </a:rPr>
                                <m:t>1</m:t>
                              </m:r>
                            </m:sub>
                          </m:sSub>
                        </m:den>
                      </m:f>
                    </m:oMath>
                  </m:oMathPara>
                </a14:m>
                <a:endParaRPr lang="en-US" sz="1600" dirty="0">
                  <a:solidFill>
                    <a:srgbClr val="FF0000"/>
                  </a:solidFill>
                </a:endParaRPr>
              </a:p>
            </p:txBody>
          </p:sp>
        </mc:Choice>
        <mc:Fallback>
          <p:sp>
            <p:nvSpPr>
              <p:cNvPr id="17" name="Rectangle 16"/>
              <p:cNvSpPr>
                <a:spLocks noRot="1" noChangeAspect="1" noMove="1" noResize="1" noEditPoints="1" noAdjustHandles="1" noChangeArrowheads="1" noChangeShapeType="1" noTextEdit="1"/>
              </p:cNvSpPr>
              <p:nvPr/>
            </p:nvSpPr>
            <p:spPr>
              <a:xfrm>
                <a:off x="6260785" y="2227424"/>
                <a:ext cx="597215" cy="600805"/>
              </a:xfrm>
              <a:prstGeom prst="rect">
                <a:avLst/>
              </a:prstGeom>
              <a:blipFill rotWithShape="1">
                <a:blip r:embed="rId10"/>
                <a:stretch>
                  <a:fillRect l="-54" t="-80" b="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4876800" y="4953000"/>
                <a:ext cx="4073103" cy="72789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a:solidFill>
                                <a:srgbClr val="FF0000"/>
                              </a:solidFill>
                              <a:latin typeface="Cambria Math" panose="02040503050406030204" pitchFamily="18" charset="0"/>
                            </a:rPr>
                            <m:t>𝜕</m:t>
                          </m:r>
                          <m:r>
                            <a:rPr lang="en-US" sz="2000" b="0" i="1">
                              <a:solidFill>
                                <a:srgbClr val="FF0000"/>
                              </a:solidFill>
                              <a:latin typeface="Cambria Math" panose="02040503050406030204" pitchFamily="18" charset="0"/>
                            </a:rPr>
                            <m:t>𝑒</m:t>
                          </m:r>
                        </m:num>
                        <m:den>
                          <m:r>
                            <a:rPr lang="en-US" sz="2000" b="0" i="1">
                              <a:solidFill>
                                <a:srgbClr val="FF0000"/>
                              </a:solidFill>
                              <a:latin typeface="Cambria Math" panose="02040503050406030204" pitchFamily="18" charset="0"/>
                            </a:rPr>
                            <m:t>𝜕</m:t>
                          </m:r>
                          <m:sSub>
                            <m:sSubPr>
                              <m:ctrlPr>
                                <a:rPr lang="en-US" sz="2000" b="0" i="1">
                                  <a:solidFill>
                                    <a:srgbClr val="FF0000"/>
                                  </a:solidFill>
                                  <a:latin typeface="Cambria Math" panose="02040503050406030204" pitchFamily="18" charset="0"/>
                                </a:rPr>
                              </m:ctrlPr>
                            </m:sSubPr>
                            <m:e>
                              <m:r>
                                <a:rPr lang="en-US" sz="2000" b="0" i="1">
                                  <a:solidFill>
                                    <a:srgbClr val="FF0000"/>
                                  </a:solidFill>
                                  <a:latin typeface="Cambria Math" panose="02040503050406030204" pitchFamily="18" charset="0"/>
                                </a:rPr>
                                <m:t>ℎ</m:t>
                              </m:r>
                            </m:e>
                            <m:sub>
                              <m:r>
                                <a:rPr lang="en-US" sz="2000" b="0" i="1">
                                  <a:solidFill>
                                    <a:srgbClr val="FF0000"/>
                                  </a:solidFill>
                                  <a:latin typeface="Cambria Math" panose="02040503050406030204" pitchFamily="18" charset="0"/>
                                </a:rPr>
                                <m:t>1</m:t>
                              </m:r>
                            </m:sub>
                          </m:sSub>
                        </m:den>
                      </m:f>
                      <m:r>
                        <a:rPr lang="en-US" sz="2000" b="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m:t>
                      </m:r>
                      <m:r>
                        <a:rPr lang="en-US" sz="2000" b="0" i="1">
                          <a:solidFill>
                            <a:srgbClr val="FF0000"/>
                          </a:solidFill>
                          <a:latin typeface="Cambria Math" panose="02040503050406030204" pitchFamily="18" charset="0"/>
                        </a:rPr>
                        <m:t>2</m:t>
                      </m:r>
                      <m:d>
                        <m:dPr>
                          <m:ctrlPr>
                            <a:rPr lang="en-US" sz="2000" b="0" i="1">
                              <a:solidFill>
                                <a:srgbClr val="FF0000"/>
                              </a:solidFill>
                              <a:latin typeface="Cambria Math" panose="02040503050406030204" pitchFamily="18" charset="0"/>
                            </a:rPr>
                          </m:ctrlPr>
                        </m:dPr>
                        <m:e>
                          <m:r>
                            <a:rPr lang="en-US" sz="2000" b="0" i="1">
                              <a:solidFill>
                                <a:srgbClr val="FF0000"/>
                              </a:solidFill>
                              <a:latin typeface="Cambria Math" panose="02040503050406030204" pitchFamily="18" charset="0"/>
                            </a:rPr>
                            <m:t>𝑦</m:t>
                          </m:r>
                          <m:r>
                            <a:rPr lang="en-US" sz="2000" b="0" i="1">
                              <a:solidFill>
                                <a:srgbClr val="FF0000"/>
                              </a:solidFill>
                              <a:latin typeface="Cambria Math" panose="02040503050406030204" pitchFamily="18" charset="0"/>
                            </a:rPr>
                            <m:t>−</m:t>
                          </m:r>
                          <m:sSub>
                            <m:sSubPr>
                              <m:ctrlPr>
                                <a:rPr lang="en-US" sz="2000" b="0" i="1">
                                  <a:solidFill>
                                    <a:srgbClr val="FF0000"/>
                                  </a:solidFill>
                                  <a:latin typeface="Cambria Math" panose="02040503050406030204" pitchFamily="18" charset="0"/>
                                </a:rPr>
                              </m:ctrlPr>
                            </m:sSubPr>
                            <m:e>
                              <m:r>
                                <a:rPr lang="en-US" sz="2000" b="0" i="1">
                                  <a:solidFill>
                                    <a:srgbClr val="FF0000"/>
                                  </a:solidFill>
                                  <a:latin typeface="Cambria Math" panose="02040503050406030204" pitchFamily="18" charset="0"/>
                                </a:rPr>
                                <m:t>ℎ</m:t>
                              </m:r>
                            </m:e>
                            <m:sub>
                              <m:r>
                                <a:rPr lang="en-US" sz="2000" b="0" i="1">
                                  <a:solidFill>
                                    <a:srgbClr val="FF0000"/>
                                  </a:solidFill>
                                  <a:latin typeface="Cambria Math" panose="02040503050406030204" pitchFamily="18" charset="0"/>
                                </a:rPr>
                                <m:t>1</m:t>
                              </m:r>
                            </m:sub>
                          </m:sSub>
                        </m:e>
                      </m:d>
                      <m:r>
                        <a:rPr lang="en-US" sz="2000" b="0" i="1" smtClean="0">
                          <a:solidFill>
                            <a:srgbClr val="FF0000"/>
                          </a:solidFill>
                          <a:latin typeface="Cambria Math" panose="02040503050406030204" pitchFamily="18" charset="0"/>
                        </a:rPr>
                        <m:t>=−</m:t>
                      </m:r>
                      <m:r>
                        <a:rPr lang="en-US" sz="2000" b="0" i="1">
                          <a:solidFill>
                            <a:srgbClr val="FF0000"/>
                          </a:solidFill>
                          <a:latin typeface="Cambria Math" panose="02040503050406030204" pitchFamily="18" charset="0"/>
                        </a:rPr>
                        <m:t>2</m:t>
                      </m:r>
                      <m:d>
                        <m:dPr>
                          <m:ctrlPr>
                            <a:rPr lang="en-US" sz="2000" b="0" i="1">
                              <a:solidFill>
                                <a:srgbClr val="FF0000"/>
                              </a:solidFill>
                              <a:latin typeface="Cambria Math" panose="02040503050406030204" pitchFamily="18" charset="0"/>
                            </a:rPr>
                          </m:ctrlPr>
                        </m:dPr>
                        <m:e>
                          <m:r>
                            <a:rPr lang="en-US" sz="2000" b="0" i="1">
                              <a:solidFill>
                                <a:srgbClr val="FF0000"/>
                              </a:solidFill>
                              <a:latin typeface="Cambria Math" panose="02040503050406030204" pitchFamily="18" charset="0"/>
                            </a:rPr>
                            <m:t>𝑦</m:t>
                          </m:r>
                          <m:r>
                            <a:rPr lang="en-US" sz="2000" b="0" i="1">
                              <a:solidFill>
                                <a:srgbClr val="FF0000"/>
                              </a:solidFill>
                              <a:latin typeface="Cambria Math" panose="02040503050406030204" pitchFamily="18" charset="0"/>
                            </a:rPr>
                            <m:t>−</m:t>
                          </m:r>
                          <m:sSubSup>
                            <m:sSubSupPr>
                              <m:ctrlPr>
                                <a:rPr lang="en-US" sz="2000" i="1">
                                  <a:solidFill>
                                    <a:srgbClr val="FF0000"/>
                                  </a:solidFill>
                                  <a:latin typeface="Cambria Math" panose="02040503050406030204" pitchFamily="18" charset="0"/>
                                </a:rPr>
                              </m:ctrlPr>
                            </m:sSubSup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1</m:t>
                              </m:r>
                            </m:sub>
                            <m:sup>
                              <m:r>
                                <a:rPr lang="en-US" sz="2000" i="1">
                                  <a:solidFill>
                                    <a:srgbClr val="FF0000"/>
                                  </a:solidFill>
                                  <a:latin typeface="Cambria Math" panose="02040503050406030204" pitchFamily="18" charset="0"/>
                                </a:rPr>
                                <m:t>𝑇</m:t>
                              </m:r>
                            </m:sup>
                          </m:sSubSup>
                          <m:r>
                            <a:rPr lang="en-US" sz="2000" i="1">
                              <a:solidFill>
                                <a:srgbClr val="FF0000"/>
                              </a:solidFill>
                              <a:latin typeface="Cambria Math" panose="02040503050406030204" pitchFamily="18" charset="0"/>
                            </a:rPr>
                            <m:t>𝑥</m:t>
                          </m:r>
                        </m:e>
                      </m:d>
                    </m:oMath>
                  </m:oMathPara>
                </a14:m>
                <a:endParaRPr lang="en-US" sz="2000" dirty="0">
                  <a:solidFill>
                    <a:srgbClr val="FF0000"/>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4876800" y="4953000"/>
                <a:ext cx="4073103" cy="727892"/>
              </a:xfrm>
              <a:prstGeom prst="rect">
                <a:avLst/>
              </a:prstGeom>
              <a:blipFill rotWithShape="1">
                <a:blip r:embed="rId11"/>
                <a:stretch>
                  <a:fillRect r="5"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876800" y="4343400"/>
                <a:ext cx="1177566" cy="72789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a:solidFill>
                                <a:srgbClr val="FF0000"/>
                              </a:solidFill>
                              <a:latin typeface="Cambria Math" panose="02040503050406030204" pitchFamily="18" charset="0"/>
                            </a:rPr>
                            <m:t>𝜕</m:t>
                          </m:r>
                          <m:sSub>
                            <m:sSubPr>
                              <m:ctrlPr>
                                <a:rPr lang="en-US" sz="2000" b="0" i="1">
                                  <a:solidFill>
                                    <a:srgbClr val="FF0000"/>
                                  </a:solidFill>
                                  <a:latin typeface="Cambria Math" panose="02040503050406030204" pitchFamily="18" charset="0"/>
                                </a:rPr>
                              </m:ctrlPr>
                            </m:sSubPr>
                            <m:e>
                              <m:r>
                                <a:rPr lang="en-US" sz="2000" b="0" i="1">
                                  <a:solidFill>
                                    <a:srgbClr val="FF0000"/>
                                  </a:solidFill>
                                  <a:latin typeface="Cambria Math" panose="02040503050406030204" pitchFamily="18" charset="0"/>
                                </a:rPr>
                                <m:t>ℎ</m:t>
                              </m:r>
                            </m:e>
                            <m:sub>
                              <m:r>
                                <a:rPr lang="en-US" sz="2000" b="0" i="1">
                                  <a:solidFill>
                                    <a:srgbClr val="FF0000"/>
                                  </a:solidFill>
                                  <a:latin typeface="Cambria Math" panose="02040503050406030204" pitchFamily="18" charset="0"/>
                                </a:rPr>
                                <m:t>1</m:t>
                              </m:r>
                            </m:sub>
                          </m:sSub>
                        </m:num>
                        <m:den>
                          <m:r>
                            <a:rPr lang="en-US" sz="2000" b="0" i="1">
                              <a:solidFill>
                                <a:srgbClr val="FF0000"/>
                              </a:solidFill>
                              <a:latin typeface="Cambria Math" panose="02040503050406030204" pitchFamily="18" charset="0"/>
                            </a:rPr>
                            <m:t>𝜕</m:t>
                          </m:r>
                          <m:sSub>
                            <m:sSubPr>
                              <m:ctrlPr>
                                <a:rPr lang="en-US" sz="2000" b="0" i="1">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𝑤</m:t>
                              </m:r>
                            </m:e>
                            <m:sub>
                              <m:r>
                                <a:rPr lang="en-US" sz="2000" b="0" i="1">
                                  <a:solidFill>
                                    <a:srgbClr val="FF0000"/>
                                  </a:solidFill>
                                  <a:latin typeface="Cambria Math" panose="02040503050406030204" pitchFamily="18" charset="0"/>
                                </a:rPr>
                                <m:t>1</m:t>
                              </m:r>
                            </m:sub>
                          </m:sSub>
                        </m:den>
                      </m:f>
                      <m:r>
                        <a:rPr lang="en-US" sz="2000" b="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𝑥</m:t>
                      </m:r>
                    </m:oMath>
                  </m:oMathPara>
                </a14:m>
                <a:endParaRPr lang="en-US" sz="2000" dirty="0">
                  <a:solidFill>
                    <a:srgbClr val="FF0000"/>
                  </a:solidFill>
                </a:endParaRPr>
              </a:p>
            </p:txBody>
          </p:sp>
        </mc:Choice>
        <mc:Fallback>
          <p:sp>
            <p:nvSpPr>
              <p:cNvPr id="18" name="Rectangle 17"/>
              <p:cNvSpPr>
                <a:spLocks noRot="1" noChangeAspect="1" noMove="1" noResize="1" noEditPoints="1" noAdjustHandles="1" noChangeArrowheads="1" noChangeShapeType="1" noTextEdit="1"/>
              </p:cNvSpPr>
              <p:nvPr/>
            </p:nvSpPr>
            <p:spPr>
              <a:xfrm>
                <a:off x="4876800" y="4343400"/>
                <a:ext cx="1177566" cy="727892"/>
              </a:xfrm>
              <a:prstGeom prst="rect">
                <a:avLst/>
              </a:prstGeom>
              <a:blipFill rotWithShape="1">
                <a:blip r:embed="rId12"/>
                <a:stretch>
                  <a:fillRect r="23" b="25"/>
                </a:stretch>
              </a:blipFill>
            </p:spPr>
            <p:txBody>
              <a:bodyPr/>
              <a:lstStyle/>
              <a:p>
                <a:r>
                  <a:rPr lang="zh-CN" altLang="en-US">
                    <a:noFill/>
                  </a:rPr>
                  <a:t> </a:t>
                </a:r>
              </a:p>
            </p:txBody>
          </p:sp>
        </mc:Fallback>
      </mc:AlternateContent>
      <p:sp>
        <p:nvSpPr>
          <p:cNvPr id="7" name="Oval 6"/>
          <p:cNvSpPr/>
          <p:nvPr/>
        </p:nvSpPr>
        <p:spPr bwMode="auto">
          <a:xfrm>
            <a:off x="6019800" y="898278"/>
            <a:ext cx="478459" cy="309253"/>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1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4" grpId="0"/>
      <p:bldP spid="17" grpId="0"/>
      <p:bldP spid="5" grpId="0"/>
      <p:bldP spid="18"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bwMode="auto">
          <a:xfrm>
            <a:off x="2895600" y="1796249"/>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Chain rule</a:t>
            </a:r>
            <a:endParaRPr lang="en-US" dirty="0"/>
          </a:p>
        </p:txBody>
      </p:sp>
      <mc:AlternateContent xmlns:mc="http://schemas.openxmlformats.org/markup-compatibility/2006">
        <mc:Choice xmlns:a14="http://schemas.microsoft.com/office/drawing/2010/main" Requires="a14">
          <p:sp>
            <p:nvSpPr>
              <p:cNvPr id="23" name="Content Placeholder 22"/>
              <p:cNvSpPr>
                <a:spLocks noGrp="1"/>
              </p:cNvSpPr>
              <p:nvPr>
                <p:ph idx="1"/>
              </p:nvPr>
            </p:nvSpPr>
            <p:spPr>
              <a:xfrm>
                <a:off x="457200" y="2209800"/>
                <a:ext cx="9969846" cy="3744897"/>
              </a:xfrm>
            </p:spPr>
            <p:txBody>
              <a:bodyPr/>
              <a:lstStyle/>
              <a:p>
                <a:r>
                  <a:rPr lang="en-US" dirty="0"/>
                  <a:t> </a:t>
                </a:r>
                <a14:m>
                  <m:oMath xmlns:m="http://schemas.openxmlformats.org/officeDocument/2006/math">
                    <m:r>
                      <a:rPr lang="en-US" i="1" smtClean="0">
                        <a:solidFill>
                          <a:srgbClr val="9900CC"/>
                        </a:solidFill>
                        <a:latin typeface="Cambria Math" panose="02040503050406030204" pitchFamily="18" charset="0"/>
                      </a:rPr>
                      <m:t>𝑒</m:t>
                    </m:r>
                    <m:r>
                      <a:rPr lang="en-US" i="1" smtClean="0">
                        <a:solidFill>
                          <a:srgbClr val="9900CC"/>
                        </a:solidFill>
                        <a:latin typeface="Cambria Math" panose="02040503050406030204" pitchFamily="18" charset="0"/>
                      </a:rPr>
                      <m:t>=</m:t>
                    </m:r>
                    <m:r>
                      <a:rPr lang="en-US" i="1" smtClean="0">
                        <a:solidFill>
                          <a:srgbClr val="9900CC"/>
                        </a:solidFill>
                        <a:latin typeface="Cambria Math" panose="02040503050406030204" pitchFamily="18" charset="0"/>
                      </a:rPr>
                      <m:t>𝑙</m:t>
                    </m:r>
                    <m:d>
                      <m:dPr>
                        <m:ctrlPr>
                          <a:rPr lang="en-US" i="1">
                            <a:solidFill>
                              <a:srgbClr val="9900CC"/>
                            </a:solidFill>
                            <a:latin typeface="Cambria Math" panose="02040503050406030204" pitchFamily="18" charset="0"/>
                          </a:rPr>
                        </m:ctrlPr>
                      </m:dPr>
                      <m:e>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𝑓</m:t>
                            </m:r>
                          </m:e>
                          <m:sub>
                            <m:r>
                              <a:rPr lang="en-US" b="0" i="1" smtClean="0">
                                <a:solidFill>
                                  <a:srgbClr val="9900CC"/>
                                </a:solidFill>
                                <a:latin typeface="Cambria Math" panose="02040503050406030204" pitchFamily="18" charset="0"/>
                              </a:rPr>
                              <m:t>2</m:t>
                            </m:r>
                          </m:sub>
                        </m:sSub>
                        <m:r>
                          <a:rPr lang="en-US" i="1">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𝑓</m:t>
                            </m:r>
                          </m:e>
                          <m:sub>
                            <m:r>
                              <a:rPr lang="en-US" b="0" i="1" smtClean="0">
                                <a:solidFill>
                                  <a:srgbClr val="9900CC"/>
                                </a:solidFill>
                                <a:latin typeface="Cambria Math" panose="02040503050406030204" pitchFamily="18" charset="0"/>
                              </a:rPr>
                              <m:t>1</m:t>
                            </m:r>
                          </m:sub>
                        </m:sSub>
                        <m:r>
                          <a:rPr lang="en-US" b="0" i="1" smtClean="0">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r>
                          <a:rPr lang="en-US" b="0" i="1" smtClean="0">
                            <a:solidFill>
                              <a:srgbClr val="9900CC"/>
                            </a:solidFill>
                            <a:latin typeface="Cambria Math" panose="02040503050406030204" pitchFamily="18" charset="0"/>
                          </a:rPr>
                          <m:t>,</m:t>
                        </m:r>
                        <m:sSub>
                          <m:sSubPr>
                            <m:ctrlPr>
                              <a:rPr lang="en-US" b="0"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1</m:t>
                            </m:r>
                          </m:sub>
                        </m:sSub>
                        <m:r>
                          <a:rPr lang="en-US" b="0" i="1" smtClean="0">
                            <a:solidFill>
                              <a:srgbClr val="9900CC"/>
                            </a:solidFill>
                            <a:latin typeface="Cambria Math" panose="02040503050406030204" pitchFamily="18" charset="0"/>
                          </a:rPr>
                          <m:t>)</m:t>
                        </m:r>
                        <m:r>
                          <a:rPr lang="en-US" i="1">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2</m:t>
                            </m:r>
                          </m:sub>
                        </m:sSub>
                        <m:r>
                          <a:rPr lang="en-US" i="1">
                            <a:solidFill>
                              <a:srgbClr val="9900CC"/>
                            </a:solidFill>
                            <a:latin typeface="Cambria Math" panose="02040503050406030204" pitchFamily="18" charset="0"/>
                          </a:rPr>
                          <m:t>)</m:t>
                        </m:r>
                      </m:e>
                    </m:d>
                  </m:oMath>
                </a14:m>
                <a:endParaRPr lang="en-US" dirty="0"/>
              </a:p>
              <a:p>
                <a:endParaRPr lang="en-US" sz="1400" dirty="0"/>
              </a:p>
              <a:p>
                <a:pPr algn="ctr"/>
                <a:r>
                  <a:rPr lang="en-US" dirty="0"/>
                  <a:t> </a:t>
                </a:r>
                <a14:m>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den>
                    </m:f>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2</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2</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den>
                    </m:f>
                    <m:r>
                      <a:rPr lang="en-US" b="0" i="1" smtClean="0">
                        <a:solidFill>
                          <a:srgbClr val="FF0000"/>
                        </a:solidFill>
                        <a:latin typeface="Cambria Math" panose="02040503050406030204" pitchFamily="18" charset="0"/>
                      </a:rPr>
                      <m:t>                  </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m:t>
                            </m:r>
                          </m:sub>
                        </m:sSub>
                      </m:den>
                    </m:f>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2</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2</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1</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1</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m:t>
                            </m:r>
                          </m:sub>
                        </m:sSub>
                      </m:den>
                    </m:f>
                  </m:oMath>
                </a14:m>
                <a:endParaRPr lang="en-US" dirty="0"/>
              </a:p>
              <a:p>
                <a:endParaRPr lang="en-US" sz="2000" i="1" dirty="0">
                  <a:latin typeface="Cambria Math" panose="02040503050406030204" pitchFamily="18" charset="0"/>
                </a:endParaRPr>
              </a:p>
            </p:txBody>
          </p:sp>
        </mc:Choice>
        <mc:Fallback>
          <p:sp>
            <p:nvSpPr>
              <p:cNvPr id="23" name="Content Placeholder 22"/>
              <p:cNvSpPr>
                <a:spLocks noRot="1" noChangeAspect="1" noMove="1" noResize="1" noEditPoints="1" noAdjustHandles="1" noChangeArrowheads="1" noChangeShapeType="1" noTextEdit="1"/>
              </p:cNvSpPr>
              <p:nvPr>
                <p:ph idx="1"/>
              </p:nvPr>
            </p:nvSpPr>
            <p:spPr>
              <a:xfrm>
                <a:off x="457200" y="2209800"/>
                <a:ext cx="9969846" cy="3744897"/>
              </a:xfrm>
              <a:blipFill rotWithShape="1">
                <a:blip r:embed="rId1"/>
                <a:stretch>
                  <a:fillRect r="3"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bwMode="auto">
              <a:xfrm>
                <a:off x="3395161"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𝑥</m:t>
                      </m:r>
                      <m:r>
                        <a:rPr lang="en-US" sz="1800" b="0" i="1">
                          <a:latin typeface="Cambria Math" panose="02040503050406030204" pitchFamily="18" charset="0"/>
                        </a:rPr>
                        <m:t>,</m:t>
                      </m:r>
                      <m:sSub>
                        <m:sSubPr>
                          <m:ctrlPr>
                            <a:rPr lang="en-US" sz="1800" b="0" i="1">
                              <a:latin typeface="Cambria Math" panose="02040503050406030204" pitchFamily="18" charset="0"/>
                            </a:rPr>
                          </m:ctrlPr>
                        </m:sSubPr>
                        <m:e>
                          <m:r>
                            <a:rPr lang="en-US" sz="1800" b="0" i="1">
                              <a:latin typeface="Cambria Math" panose="02040503050406030204" pitchFamily="18" charset="0"/>
                            </a:rPr>
                            <m:t>𝑤</m:t>
                          </m:r>
                        </m:e>
                        <m:sub>
                          <m:r>
                            <a:rPr lang="en-US" sz="1800" b="0" i="1" smtClean="0">
                              <a:latin typeface="Cambria Math" panose="02040503050406030204" pitchFamily="18" charset="0"/>
                            </a:rPr>
                            <m:t>1</m:t>
                          </m:r>
                        </m:sub>
                      </m:sSub>
                      <m:r>
                        <a:rPr lang="en-US" sz="1800" b="0" i="1">
                          <a:latin typeface="Cambria Math" panose="02040503050406030204" pitchFamily="18"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9" name="Oval 8"/>
              <p:cNvSpPr>
                <a:spLocks noRot="1" noChangeAspect="1" noMove="1" noResize="1" noEditPoints="1" noAdjustHandles="1" noChangeArrowheads="1" noChangeShapeType="1" noTextEdit="1"/>
              </p:cNvSpPr>
              <p:nvPr/>
            </p:nvSpPr>
            <p:spPr bwMode="auto">
              <a:xfrm>
                <a:off x="3395161" y="1458897"/>
                <a:ext cx="1611691" cy="674703"/>
              </a:xfrm>
              <a:prstGeom prst="ellipse">
                <a:avLst/>
              </a:prstGeom>
              <a:blipFill rotWithShape="1">
                <a:blip r:embed="rId2"/>
                <a:stretch>
                  <a:fillRect l="-422" t="-986" r="-362"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3"/>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4"/>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7" name="Rectangle 16"/>
              <p:cNvSpPr/>
              <p:nvPr/>
            </p:nvSpPr>
            <p:spPr>
              <a:xfrm>
                <a:off x="2501312" y="1627623"/>
                <a:ext cx="379206"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𝑥</m:t>
                      </m:r>
                    </m:oMath>
                  </m:oMathPara>
                </a14:m>
                <a:endParaRPr lang="en-US" sz="1800" dirty="0"/>
              </a:p>
            </p:txBody>
          </p:sp>
        </mc:Choice>
        <mc:Fallback>
          <p:sp>
            <p:nvSpPr>
              <p:cNvPr id="17" name="Rectangle 16"/>
              <p:cNvSpPr>
                <a:spLocks noRot="1" noChangeAspect="1" noMove="1" noResize="1" noEditPoints="1" noAdjustHandles="1" noChangeArrowheads="1" noChangeShapeType="1" noTextEdit="1"/>
              </p:cNvSpPr>
              <p:nvPr/>
            </p:nvSpPr>
            <p:spPr>
              <a:xfrm>
                <a:off x="2501312" y="1627623"/>
                <a:ext cx="379206" cy="369332"/>
              </a:xfrm>
              <a:prstGeom prst="rect">
                <a:avLst/>
              </a:prstGeom>
              <a:blipFill rotWithShape="1">
                <a:blip r:embed="rId5"/>
                <a:stretch>
                  <a:fillRect l="-12" t="-32" r="42"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901125" y="1318165"/>
                <a:ext cx="47904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1</m:t>
                          </m:r>
                        </m:sub>
                      </m:sSub>
                    </m:oMath>
                  </m:oMathPara>
                </a14:m>
                <a:endParaRPr lang="en-US" sz="1800" dirty="0"/>
              </a:p>
            </p:txBody>
          </p:sp>
        </mc:Choice>
        <mc:Fallback>
          <p:sp>
            <p:nvSpPr>
              <p:cNvPr id="18" name="Rectangle 17"/>
              <p:cNvSpPr>
                <a:spLocks noRot="1" noChangeAspect="1" noMove="1" noResize="1" noEditPoints="1" noAdjustHandles="1" noChangeArrowheads="1" noChangeShapeType="1" noTextEdit="1"/>
              </p:cNvSpPr>
              <p:nvPr/>
            </p:nvSpPr>
            <p:spPr>
              <a:xfrm>
                <a:off x="4901125" y="1318165"/>
                <a:ext cx="479041" cy="369332"/>
              </a:xfrm>
              <a:prstGeom prst="rect">
                <a:avLst/>
              </a:prstGeom>
              <a:blipFill rotWithShape="1">
                <a:blip r:embed="rId6"/>
                <a:stretch>
                  <a:fillRect l="-41" t="-146" r="93" b="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113457" y="1295400"/>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2</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113457" y="1295400"/>
                <a:ext cx="484363" cy="369332"/>
              </a:xfrm>
              <a:prstGeom prst="rect">
                <a:avLst/>
              </a:prstGeom>
              <a:blipFill rotWithShape="1">
                <a:blip r:embed="rId7"/>
                <a:stretch>
                  <a:fillRect l="-39" r="9"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8"/>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a:off x="60198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Sub>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6019800" y="838200"/>
                <a:ext cx="513025" cy="369332"/>
              </a:xfrm>
              <a:prstGeom prst="rect">
                <a:avLst/>
              </a:prstGeom>
              <a:blipFill rotWithShape="1">
                <a:blip r:embed="rId9"/>
                <a:stretch>
                  <a:fillRect r="113" b="107"/>
                </a:stretch>
              </a:blipFill>
            </p:spPr>
            <p:txBody>
              <a:bodyPr/>
              <a:lstStyle/>
              <a:p>
                <a:r>
                  <a:rPr lang="zh-CN" altLang="en-US">
                    <a:noFill/>
                  </a:rPr>
                  <a:t> </a:t>
                </a:r>
              </a:p>
            </p:txBody>
          </p:sp>
        </mc:Fallback>
      </mc:AlternateContent>
      <p:cxnSp>
        <p:nvCxnSpPr>
          <p:cNvPr id="22" name="Straight Arrow Connector 21"/>
          <p:cNvCxnSpPr>
            <a:stCxn id="19" idx="2"/>
          </p:cNvCxnSpPr>
          <p:nvPr/>
        </p:nvCxnSpPr>
        <p:spPr bwMode="auto">
          <a:xfrm flipH="1">
            <a:off x="62718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4" name="Rectangle 23"/>
              <p:cNvSpPr/>
              <p:nvPr/>
            </p:nvSpPr>
            <p:spPr>
              <a:xfrm>
                <a:off x="3958146" y="870259"/>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Sub>
                    </m:oMath>
                  </m:oMathPara>
                </a14:m>
                <a:endParaRPr lang="en-US" sz="1800" dirty="0"/>
              </a:p>
            </p:txBody>
          </p:sp>
        </mc:Choice>
        <mc:Fallback>
          <p:sp>
            <p:nvSpPr>
              <p:cNvPr id="24" name="Rectangle 23"/>
              <p:cNvSpPr>
                <a:spLocks noRot="1" noChangeAspect="1" noMove="1" noResize="1" noEditPoints="1" noAdjustHandles="1" noChangeArrowheads="1" noChangeShapeType="1" noTextEdit="1"/>
              </p:cNvSpPr>
              <p:nvPr/>
            </p:nvSpPr>
            <p:spPr>
              <a:xfrm>
                <a:off x="3958146" y="870259"/>
                <a:ext cx="513025" cy="369332"/>
              </a:xfrm>
              <a:prstGeom prst="rect">
                <a:avLst/>
              </a:prstGeom>
              <a:blipFill rotWithShape="1">
                <a:blip r:embed="rId10"/>
                <a:stretch>
                  <a:fillRect l="-37" t="-84" r="27" b="19"/>
                </a:stretch>
              </a:blipFill>
            </p:spPr>
            <p:txBody>
              <a:bodyPr/>
              <a:lstStyle/>
              <a:p>
                <a:r>
                  <a:rPr lang="zh-CN" altLang="en-US">
                    <a:noFill/>
                  </a:rPr>
                  <a:t> </a:t>
                </a:r>
              </a:p>
            </p:txBody>
          </p:sp>
        </mc:Fallback>
      </mc:AlternateContent>
      <p:cxnSp>
        <p:nvCxnSpPr>
          <p:cNvPr id="25" name="Straight Arrow Connector 24"/>
          <p:cNvCxnSpPr>
            <a:stCxn id="24" idx="2"/>
          </p:cNvCxnSpPr>
          <p:nvPr/>
        </p:nvCxnSpPr>
        <p:spPr bwMode="auto">
          <a:xfrm flipH="1">
            <a:off x="4210217" y="1239591"/>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 name="Rectangle 2"/>
              <p:cNvSpPr/>
              <p:nvPr/>
            </p:nvSpPr>
            <p:spPr>
              <a:xfrm>
                <a:off x="812679" y="1534180"/>
                <a:ext cx="1159356"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0" i="1" dirty="0" smtClean="0">
                          <a:solidFill>
                            <a:srgbClr val="C00000"/>
                          </a:solidFill>
                          <a:latin typeface="Cambria Math" panose="02040503050406030204" pitchFamily="18" charset="0"/>
                        </a:rPr>
                        <m:t>𝑘</m:t>
                      </m:r>
                      <m:r>
                        <a:rPr lang="en-US" sz="2800" b="0" i="1" dirty="0" smtClean="0">
                          <a:solidFill>
                            <a:srgbClr val="C00000"/>
                          </a:solidFill>
                          <a:latin typeface="Cambria Math" panose="02040503050406030204" pitchFamily="18" charset="0"/>
                        </a:rPr>
                        <m:t>=</m:t>
                      </m:r>
                      <m:r>
                        <a:rPr lang="en-US" sz="2800" b="0" i="1" dirty="0" smtClean="0">
                          <a:solidFill>
                            <a:srgbClr val="C00000"/>
                          </a:solidFill>
                          <a:latin typeface="Cambria Math" panose="02040503050406030204" pitchFamily="18" charset="0"/>
                        </a:rPr>
                        <m:t>2</m:t>
                      </m:r>
                    </m:oMath>
                  </m:oMathPara>
                </a14:m>
                <a:endParaRPr lang="en-US" sz="2800" b="0" dirty="0">
                  <a:solidFill>
                    <a:srgbClr val="C00000"/>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812679" y="1534180"/>
                <a:ext cx="1159356" cy="523220"/>
              </a:xfrm>
              <a:prstGeom prst="rect">
                <a:avLst/>
              </a:prstGeom>
              <a:blipFill rotWithShape="1">
                <a:blip r:embed="rId11"/>
                <a:stretch>
                  <a:fillRect l="-44" t="-4" r="31" b="-42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6973516" y="1871732"/>
                <a:ext cx="570284"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r>
                            <a:rPr lang="en-US" sz="1600" b="0" i="1">
                              <a:solidFill>
                                <a:srgbClr val="FF0000"/>
                              </a:solidFill>
                              <a:latin typeface="Cambria Math" panose="02040503050406030204" pitchFamily="18" charset="0"/>
                            </a:rPr>
                            <m:t>𝑒</m:t>
                          </m:r>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2</m:t>
                              </m:r>
                            </m:sub>
                          </m:sSub>
                        </m:den>
                      </m:f>
                    </m:oMath>
                  </m:oMathPara>
                </a14:m>
                <a:endParaRPr lang="en-US" sz="1600" dirty="0"/>
              </a:p>
            </p:txBody>
          </p:sp>
        </mc:Choice>
        <mc:Fallback>
          <p:sp>
            <p:nvSpPr>
              <p:cNvPr id="4" name="Rectangle 3"/>
              <p:cNvSpPr>
                <a:spLocks noRot="1" noChangeAspect="1" noMove="1" noResize="1" noEditPoints="1" noAdjustHandles="1" noChangeArrowheads="1" noChangeShapeType="1" noTextEdit="1"/>
              </p:cNvSpPr>
              <p:nvPr/>
            </p:nvSpPr>
            <p:spPr>
              <a:xfrm>
                <a:off x="6973516" y="1871732"/>
                <a:ext cx="570284" cy="600805"/>
              </a:xfrm>
              <a:prstGeom prst="rect">
                <a:avLst/>
              </a:prstGeom>
              <a:blipFill rotWithShape="1">
                <a:blip r:embed="rId12"/>
                <a:stretch>
                  <a:fillRect l="-102" t="-64"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6332240" y="2142395"/>
                <a:ext cx="601960"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2</m:t>
                              </m:r>
                            </m:sub>
                          </m:sSub>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𝑤</m:t>
                              </m:r>
                            </m:e>
                            <m:sub>
                              <m:r>
                                <a:rPr lang="en-US" sz="1600" b="0" i="1">
                                  <a:solidFill>
                                    <a:srgbClr val="FF0000"/>
                                  </a:solidFill>
                                  <a:latin typeface="Cambria Math" panose="02040503050406030204" pitchFamily="18" charset="0"/>
                                </a:rPr>
                                <m:t>2</m:t>
                              </m:r>
                            </m:sub>
                          </m:sSub>
                        </m:den>
                      </m:f>
                    </m:oMath>
                  </m:oMathPara>
                </a14:m>
                <a:endParaRPr lang="en-US" sz="1600" dirty="0"/>
              </a:p>
            </p:txBody>
          </p:sp>
        </mc:Choice>
        <mc:Fallback>
          <p:sp>
            <p:nvSpPr>
              <p:cNvPr id="5" name="Rectangle 4"/>
              <p:cNvSpPr>
                <a:spLocks noRot="1" noChangeAspect="1" noMove="1" noResize="1" noEditPoints="1" noAdjustHandles="1" noChangeArrowheads="1" noChangeShapeType="1" noTextEdit="1"/>
              </p:cNvSpPr>
              <p:nvPr/>
            </p:nvSpPr>
            <p:spPr>
              <a:xfrm>
                <a:off x="6332240" y="2142395"/>
                <a:ext cx="601960" cy="600805"/>
              </a:xfrm>
              <a:prstGeom prst="rect">
                <a:avLst/>
              </a:prstGeom>
              <a:blipFill rotWithShape="1">
                <a:blip r:embed="rId13"/>
                <a:stretch>
                  <a:fillRect l="-3" t="-90"/>
                </a:stretch>
              </a:blipFill>
            </p:spPr>
            <p:txBody>
              <a:bodyPr/>
              <a:lstStyle/>
              <a:p>
                <a:r>
                  <a:rPr lang="zh-CN" altLang="en-US">
                    <a:noFill/>
                  </a:rPr>
                  <a:t> </a:t>
                </a:r>
              </a:p>
            </p:txBody>
          </p:sp>
        </mc:Fallback>
      </mc:AlternateContent>
      <p:sp>
        <p:nvSpPr>
          <p:cNvPr id="40" name="Oval 39"/>
          <p:cNvSpPr/>
          <p:nvPr/>
        </p:nvSpPr>
        <p:spPr bwMode="auto">
          <a:xfrm>
            <a:off x="6019800" y="898278"/>
            <a:ext cx="478459" cy="309253"/>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1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4" grpId="0"/>
      <p:bldP spid="5" grpId="0"/>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bwMode="auto">
          <a:xfrm>
            <a:off x="2895600" y="1796249"/>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Chain rule</a:t>
            </a:r>
            <a:endParaRPr lang="en-US" dirty="0"/>
          </a:p>
        </p:txBody>
      </p:sp>
      <mc:AlternateContent xmlns:mc="http://schemas.openxmlformats.org/markup-compatibility/2006">
        <mc:Choice xmlns:a14="http://schemas.microsoft.com/office/drawing/2010/main" Requires="a14">
          <p:sp>
            <p:nvSpPr>
              <p:cNvPr id="23" name="Content Placeholder 22"/>
              <p:cNvSpPr>
                <a:spLocks noGrp="1"/>
              </p:cNvSpPr>
              <p:nvPr>
                <p:ph idx="1"/>
              </p:nvPr>
            </p:nvSpPr>
            <p:spPr>
              <a:xfrm>
                <a:off x="457200" y="1932305"/>
                <a:ext cx="9969846" cy="3744897"/>
              </a:xfrm>
            </p:spPr>
            <p:txBody>
              <a:bodyPr/>
              <a:lstStyle/>
              <a:p>
                <a:r>
                  <a:rPr lang="en-US" dirty="0"/>
                  <a:t> </a:t>
                </a:r>
                <a14:m>
                  <m:oMath xmlns:m="http://schemas.openxmlformats.org/officeDocument/2006/math">
                    <m:r>
                      <a:rPr lang="en-US" i="1" smtClean="0">
                        <a:solidFill>
                          <a:srgbClr val="9900CC"/>
                        </a:solidFill>
                        <a:latin typeface="Cambria Math" panose="02040503050406030204" pitchFamily="18" charset="0"/>
                      </a:rPr>
                      <m:t>𝑒</m:t>
                    </m:r>
                    <m:r>
                      <a:rPr lang="en-US" i="1" smtClean="0">
                        <a:solidFill>
                          <a:srgbClr val="9900CC"/>
                        </a:solidFill>
                        <a:latin typeface="Cambria Math" panose="02040503050406030204" pitchFamily="18" charset="0"/>
                      </a:rPr>
                      <m:t>=</m:t>
                    </m:r>
                    <m:r>
                      <a:rPr lang="en-US" i="1" smtClean="0">
                        <a:solidFill>
                          <a:srgbClr val="9900CC"/>
                        </a:solidFill>
                        <a:latin typeface="Cambria Math" panose="02040503050406030204" pitchFamily="18" charset="0"/>
                      </a:rPr>
                      <m:t>𝑙</m:t>
                    </m:r>
                    <m:d>
                      <m:dPr>
                        <m:ctrlPr>
                          <a:rPr lang="en-US" i="1">
                            <a:solidFill>
                              <a:srgbClr val="9900CC"/>
                            </a:solidFill>
                            <a:latin typeface="Cambria Math" panose="02040503050406030204" pitchFamily="18" charset="0"/>
                          </a:rPr>
                        </m:ctrlPr>
                      </m:dPr>
                      <m:e>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𝑓</m:t>
                            </m:r>
                          </m:e>
                          <m:sub>
                            <m:r>
                              <a:rPr lang="en-US" b="0" i="1" smtClean="0">
                                <a:solidFill>
                                  <a:srgbClr val="9900CC"/>
                                </a:solidFill>
                                <a:latin typeface="Cambria Math" panose="02040503050406030204" pitchFamily="18" charset="0"/>
                              </a:rPr>
                              <m:t>2</m:t>
                            </m:r>
                          </m:sub>
                        </m:sSub>
                        <m:r>
                          <a:rPr lang="en-US" i="1">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𝑓</m:t>
                            </m:r>
                          </m:e>
                          <m:sub>
                            <m:r>
                              <a:rPr lang="en-US" b="0" i="1" smtClean="0">
                                <a:solidFill>
                                  <a:srgbClr val="9900CC"/>
                                </a:solidFill>
                                <a:latin typeface="Cambria Math" panose="02040503050406030204" pitchFamily="18" charset="0"/>
                              </a:rPr>
                              <m:t>1</m:t>
                            </m:r>
                          </m:sub>
                        </m:sSub>
                        <m:r>
                          <a:rPr lang="en-US" b="0" i="1" smtClean="0">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r>
                          <a:rPr lang="en-US" b="0" i="1" smtClean="0">
                            <a:solidFill>
                              <a:srgbClr val="9900CC"/>
                            </a:solidFill>
                            <a:latin typeface="Cambria Math" panose="02040503050406030204" pitchFamily="18" charset="0"/>
                          </a:rPr>
                          <m:t>,</m:t>
                        </m:r>
                        <m:sSub>
                          <m:sSubPr>
                            <m:ctrlPr>
                              <a:rPr lang="en-US" b="0"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1</m:t>
                            </m:r>
                          </m:sub>
                        </m:sSub>
                        <m:r>
                          <a:rPr lang="en-US" b="0" i="1" smtClean="0">
                            <a:solidFill>
                              <a:srgbClr val="9900CC"/>
                            </a:solidFill>
                            <a:latin typeface="Cambria Math" panose="02040503050406030204" pitchFamily="18" charset="0"/>
                          </a:rPr>
                          <m:t>)</m:t>
                        </m:r>
                        <m:r>
                          <a:rPr lang="en-US" i="1">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2</m:t>
                            </m:r>
                          </m:sub>
                        </m:sSub>
                        <m:r>
                          <a:rPr lang="en-US" i="1">
                            <a:solidFill>
                              <a:srgbClr val="9900CC"/>
                            </a:solidFill>
                            <a:latin typeface="Cambria Math" panose="02040503050406030204" pitchFamily="18" charset="0"/>
                          </a:rPr>
                          <m:t>)</m:t>
                        </m:r>
                      </m:e>
                    </m:d>
                  </m:oMath>
                </a14:m>
                <a:endParaRPr lang="en-US" dirty="0"/>
              </a:p>
              <a:p>
                <a:endParaRPr lang="en-US" sz="1400" dirty="0"/>
              </a:p>
              <a:p>
                <a:pPr algn="ctr"/>
                <a:r>
                  <a:rPr lang="en-US" dirty="0"/>
                  <a:t> </a:t>
                </a:r>
                <a14:m>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den>
                    </m:f>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2</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2</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den>
                    </m:f>
                    <m:r>
                      <a:rPr lang="en-US" b="0" i="1" smtClean="0">
                        <a:solidFill>
                          <a:srgbClr val="FF0000"/>
                        </a:solidFill>
                        <a:latin typeface="Cambria Math" panose="02040503050406030204" pitchFamily="18" charset="0"/>
                      </a:rPr>
                      <m:t>                 </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m:t>
                            </m:r>
                          </m:sub>
                        </m:sSub>
                      </m:den>
                    </m:f>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2</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2</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1</m:t>
                            </m:r>
                          </m:sub>
                        </m:sSub>
                      </m:den>
                    </m:f>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1</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m:t>
                            </m:r>
                          </m:sub>
                        </m:sSub>
                      </m:den>
                    </m:f>
                  </m:oMath>
                </a14:m>
                <a:endParaRPr lang="en-US" dirty="0"/>
              </a:p>
              <a:p>
                <a:r>
                  <a:rPr lang="en-US" dirty="0"/>
                  <a:t>Example: </a:t>
                </a:r>
                <a14:m>
                  <m:oMath xmlns:m="http://schemas.openxmlformats.org/officeDocument/2006/math">
                    <m:r>
                      <a:rPr lang="en-US" i="1" smtClean="0">
                        <a:solidFill>
                          <a:srgbClr val="C00000"/>
                        </a:solidFill>
                        <a:latin typeface="Cambria Math" panose="02040503050406030204" pitchFamily="18" charset="0"/>
                      </a:rPr>
                      <m:t>𝑒</m:t>
                    </m:r>
                    <m:r>
                      <a:rPr lang="en-US" i="1" smtClean="0">
                        <a:solidFill>
                          <a:srgbClr val="C00000"/>
                        </a:solidFill>
                        <a:latin typeface="Cambria Math" panose="02040503050406030204" pitchFamily="18" charset="0"/>
                      </a:rPr>
                      <m:t>=−</m:t>
                    </m:r>
                    <m:r>
                      <m:rPr>
                        <m:sty m:val="p"/>
                      </m:rPr>
                      <a:rPr lang="en-US">
                        <a:solidFill>
                          <a:srgbClr val="C00000"/>
                        </a:solidFill>
                        <a:latin typeface="Cambria Math" panose="02040503050406030204" pitchFamily="18" charset="0"/>
                      </a:rPr>
                      <m:t>log</m:t>
                    </m:r>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ea typeface="Cambria Math" panose="02040503050406030204" pitchFamily="18" charset="0"/>
                          </a:rPr>
                          <m:t>𝜎</m:t>
                        </m:r>
                        <m:d>
                          <m:dPr>
                            <m:ctrlPr>
                              <a:rPr lang="en-US" i="1">
                                <a:solidFill>
                                  <a:srgbClr val="C00000"/>
                                </a:solidFill>
                                <a:latin typeface="Cambria Math" panose="02040503050406030204" pitchFamily="18" charset="0"/>
                                <a:ea typeface="Cambria Math" panose="02040503050406030204" pitchFamily="18" charset="0"/>
                              </a:rPr>
                            </m:ctrlPr>
                          </m:dPr>
                          <m:e>
                            <m:sSubSup>
                              <m:sSubSupPr>
                                <m:ctrlPr>
                                  <a:rPr lang="en-US" i="1">
                                    <a:solidFill>
                                      <a:srgbClr val="C00000"/>
                                    </a:solidFill>
                                    <a:latin typeface="Cambria Math" panose="02040503050406030204" pitchFamily="18" charset="0"/>
                                  </a:rPr>
                                </m:ctrlPr>
                              </m:sSubSupPr>
                              <m:e>
                                <m:r>
                                  <a:rPr lang="en-US" i="1">
                                    <a:solidFill>
                                      <a:srgbClr val="C00000"/>
                                    </a:solidFill>
                                    <a:latin typeface="Cambria Math" panose="02040503050406030204" pitchFamily="18" charset="0"/>
                                  </a:rPr>
                                  <m:t>𝑤</m:t>
                                </m:r>
                              </m:e>
                              <m:sub>
                                <m:r>
                                  <a:rPr lang="en-US" i="1">
                                    <a:solidFill>
                                      <a:srgbClr val="C00000"/>
                                    </a:solidFill>
                                    <a:latin typeface="Cambria Math" panose="02040503050406030204" pitchFamily="18" charset="0"/>
                                  </a:rPr>
                                  <m:t>1</m:t>
                                </m:r>
                              </m:sub>
                              <m:sup>
                                <m:r>
                                  <a:rPr lang="en-US" i="1">
                                    <a:solidFill>
                                      <a:srgbClr val="C00000"/>
                                    </a:solidFill>
                                    <a:latin typeface="Cambria Math" panose="02040503050406030204" pitchFamily="18" charset="0"/>
                                  </a:rPr>
                                  <m:t>𝑇</m:t>
                                </m:r>
                              </m:sup>
                            </m:sSubSup>
                            <m:r>
                              <a:rPr lang="en-US" i="1">
                                <a:solidFill>
                                  <a:srgbClr val="C00000"/>
                                </a:solidFill>
                                <a:latin typeface="Cambria Math" panose="02040503050406030204" pitchFamily="18" charset="0"/>
                              </a:rPr>
                              <m:t>𝑥</m:t>
                            </m:r>
                          </m:e>
                        </m:d>
                      </m:e>
                    </m:d>
                  </m:oMath>
                </a14:m>
                <a:r>
                  <a:rPr lang="en-US" i="1" dirty="0">
                    <a:latin typeface="Cambria Math" panose="02040503050406030204" pitchFamily="18" charset="0"/>
                  </a:rPr>
                  <a:t> </a:t>
                </a:r>
                <a:r>
                  <a:rPr lang="en-US" dirty="0"/>
                  <a:t>(assume </a:t>
                </a:r>
                <a14:m>
                  <m:oMath xmlns:m="http://schemas.openxmlformats.org/officeDocument/2006/math">
                    <m:r>
                      <a:rPr lang="en-US" i="1" dirty="0" smtClean="0">
                        <a:solidFill>
                          <a:srgbClr val="9900CC"/>
                        </a:solidFill>
                        <a:latin typeface="Cambria Math" panose="02040503050406030204" pitchFamily="18" charset="0"/>
                      </a:rPr>
                      <m:t>𝑦</m:t>
                    </m:r>
                    <m:r>
                      <a:rPr lang="en-US" i="1" dirty="0" smtClean="0">
                        <a:solidFill>
                          <a:srgbClr val="9900CC"/>
                        </a:solidFill>
                        <a:latin typeface="Cambria Math" panose="02040503050406030204" pitchFamily="18" charset="0"/>
                      </a:rPr>
                      <m:t>=</m:t>
                    </m:r>
                    <m:r>
                      <a:rPr lang="en-US" i="1" dirty="0" smtClean="0">
                        <a:solidFill>
                          <a:srgbClr val="9900CC"/>
                        </a:solidFill>
                        <a:latin typeface="Cambria Math" panose="02040503050406030204" pitchFamily="18" charset="0"/>
                      </a:rPr>
                      <m:t>1</m:t>
                    </m:r>
                  </m:oMath>
                </a14:m>
                <a:r>
                  <a:rPr lang="en-US" dirty="0"/>
                  <a:t>)</a:t>
                </a:r>
                <a:endParaRPr lang="en-US" dirty="0"/>
              </a:p>
              <a:p>
                <a:r>
                  <a:rPr lang="en-US" dirty="0">
                    <a:cs typeface="Arial" panose="020B0604020202090204" pitchFamily="34" charset="0"/>
                  </a:rPr>
                  <a:t> </a:t>
                </a:r>
                <a14:m>
                  <m:oMath xmlns:m="http://schemas.openxmlformats.org/officeDocument/2006/math">
                    <m:sSub>
                      <m:sSubPr>
                        <m:ctrlPr>
                          <a:rPr lang="en-US" sz="2400" i="1" smtClean="0">
                            <a:solidFill>
                              <a:srgbClr val="00B050"/>
                            </a:solidFill>
                            <a:latin typeface="Cambria Math" panose="02040503050406030204" pitchFamily="18" charset="0"/>
                            <a:cs typeface="Arial" panose="020B0604020202090204" pitchFamily="34" charset="0"/>
                          </a:rPr>
                        </m:ctrlPr>
                      </m:sSubPr>
                      <m:e>
                        <m:r>
                          <a:rPr lang="en-US" sz="2400" b="0" i="1" smtClean="0">
                            <a:solidFill>
                              <a:srgbClr val="00B050"/>
                            </a:solidFill>
                            <a:latin typeface="Cambria Math" panose="02040503050406030204" pitchFamily="18" charset="0"/>
                            <a:cs typeface="Arial" panose="020B0604020202090204" pitchFamily="34" charset="0"/>
                          </a:rPr>
                          <m:t>ℎ</m:t>
                        </m:r>
                      </m:e>
                      <m:sub>
                        <m:r>
                          <a:rPr lang="en-US" sz="2400" b="0" i="1" smtClean="0">
                            <a:solidFill>
                              <a:srgbClr val="00B050"/>
                            </a:solidFill>
                            <a:latin typeface="Cambria Math" panose="02040503050406030204" pitchFamily="18" charset="0"/>
                            <a:cs typeface="Arial" panose="020B0604020202090204" pitchFamily="34" charset="0"/>
                          </a:rPr>
                          <m:t>1</m:t>
                        </m:r>
                      </m:sub>
                    </m:sSub>
                    <m:r>
                      <a:rPr lang="en-US" sz="2400" b="0" i="1" smtClean="0">
                        <a:solidFill>
                          <a:srgbClr val="00B050"/>
                        </a:solidFill>
                        <a:latin typeface="Cambria Math" panose="02040503050406030204" pitchFamily="18" charset="0"/>
                        <a:cs typeface="Arial" panose="020B0604020202090204" pitchFamily="34" charset="0"/>
                      </a:rPr>
                      <m:t>=</m:t>
                    </m:r>
                    <m:sSub>
                      <m:sSubPr>
                        <m:ctrlPr>
                          <a:rPr lang="en-US" sz="2400" i="1">
                            <a:solidFill>
                              <a:srgbClr val="00B050"/>
                            </a:solidFill>
                            <a:latin typeface="Cambria Math" panose="02040503050406030204" pitchFamily="18" charset="0"/>
                            <a:cs typeface="Arial" panose="020B0604020202090204" pitchFamily="34" charset="0"/>
                          </a:rPr>
                        </m:ctrlPr>
                      </m:sSubPr>
                      <m:e>
                        <m:r>
                          <a:rPr lang="en-US" sz="2400" i="1">
                            <a:solidFill>
                              <a:srgbClr val="00B050"/>
                            </a:solidFill>
                            <a:latin typeface="Cambria Math" panose="02040503050406030204" pitchFamily="18" charset="0"/>
                            <a:cs typeface="Arial" panose="020B0604020202090204" pitchFamily="34" charset="0"/>
                          </a:rPr>
                          <m:t>𝑓</m:t>
                        </m:r>
                      </m:e>
                      <m:sub>
                        <m:r>
                          <a:rPr lang="en-US" sz="2400" i="1">
                            <a:solidFill>
                              <a:srgbClr val="00B050"/>
                            </a:solidFill>
                            <a:latin typeface="Cambria Math" panose="02040503050406030204" pitchFamily="18" charset="0"/>
                            <a:cs typeface="Arial" panose="020B0604020202090204" pitchFamily="34" charset="0"/>
                          </a:rPr>
                          <m:t>1</m:t>
                        </m:r>
                      </m:sub>
                    </m:sSub>
                    <m:d>
                      <m:dPr>
                        <m:ctrlPr>
                          <a:rPr lang="en-US" sz="2400" i="1">
                            <a:solidFill>
                              <a:srgbClr val="00B050"/>
                            </a:solidFill>
                            <a:latin typeface="Cambria Math" panose="02040503050406030204" pitchFamily="18" charset="0"/>
                            <a:cs typeface="Arial" panose="020B0604020202090204" pitchFamily="34" charset="0"/>
                          </a:rPr>
                        </m:ctrlPr>
                      </m:dPr>
                      <m:e>
                        <m:r>
                          <a:rPr lang="en-US" sz="2400" i="1">
                            <a:solidFill>
                              <a:srgbClr val="00B050"/>
                            </a:solidFill>
                            <a:latin typeface="Cambria Math" panose="02040503050406030204" pitchFamily="18" charset="0"/>
                            <a:cs typeface="Arial" panose="020B0604020202090204" pitchFamily="34" charset="0"/>
                          </a:rPr>
                          <m:t>𝑥</m:t>
                        </m:r>
                        <m:r>
                          <a:rPr lang="en-US" sz="2400" i="1">
                            <a:solidFill>
                              <a:srgbClr val="00B050"/>
                            </a:solidFill>
                            <a:latin typeface="Cambria Math" panose="02040503050406030204" pitchFamily="18" charset="0"/>
                          </a:rPr>
                          <m:t>,</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𝑤</m:t>
                            </m:r>
                          </m:e>
                          <m:sub>
                            <m:r>
                              <a:rPr lang="en-US" sz="2400" i="1">
                                <a:solidFill>
                                  <a:srgbClr val="00B050"/>
                                </a:solidFill>
                                <a:latin typeface="Cambria Math" panose="02040503050406030204" pitchFamily="18" charset="0"/>
                              </a:rPr>
                              <m:t>1</m:t>
                            </m:r>
                          </m:sub>
                        </m:sSub>
                      </m:e>
                    </m:d>
                    <m:r>
                      <a:rPr lang="en-US" sz="2400" b="0" i="1" smtClean="0">
                        <a:solidFill>
                          <a:srgbClr val="00B050"/>
                        </a:solidFill>
                        <a:latin typeface="Cambria Math" panose="02040503050406030204" pitchFamily="18" charset="0"/>
                      </a:rPr>
                      <m:t>=</m:t>
                    </m:r>
                    <m:sSubSup>
                      <m:sSubSupPr>
                        <m:ctrlPr>
                          <a:rPr lang="en-US" sz="2400" i="1">
                            <a:solidFill>
                              <a:srgbClr val="00B050"/>
                            </a:solidFill>
                            <a:latin typeface="Cambria Math" panose="02040503050406030204" pitchFamily="18" charset="0"/>
                          </a:rPr>
                        </m:ctrlPr>
                      </m:sSubSupPr>
                      <m:e>
                        <m:r>
                          <a:rPr lang="en-US" sz="2400" i="1">
                            <a:solidFill>
                              <a:srgbClr val="00B050"/>
                            </a:solidFill>
                            <a:latin typeface="Cambria Math" panose="02040503050406030204" pitchFamily="18" charset="0"/>
                          </a:rPr>
                          <m:t>𝑤</m:t>
                        </m:r>
                      </m:e>
                      <m:sub>
                        <m:r>
                          <a:rPr lang="en-US" sz="2400" i="1">
                            <a:solidFill>
                              <a:srgbClr val="00B050"/>
                            </a:solidFill>
                            <a:latin typeface="Cambria Math" panose="02040503050406030204" pitchFamily="18" charset="0"/>
                          </a:rPr>
                          <m:t>1</m:t>
                        </m:r>
                      </m:sub>
                      <m:sup>
                        <m:r>
                          <a:rPr lang="en-US" sz="2400" i="1">
                            <a:solidFill>
                              <a:srgbClr val="00B050"/>
                            </a:solidFill>
                            <a:latin typeface="Cambria Math" panose="02040503050406030204" pitchFamily="18" charset="0"/>
                          </a:rPr>
                          <m:t>𝑇</m:t>
                        </m:r>
                      </m:sup>
                    </m:sSubSup>
                    <m:r>
                      <a:rPr lang="en-US" sz="2400" i="1">
                        <a:solidFill>
                          <a:srgbClr val="00B050"/>
                        </a:solidFill>
                        <a:latin typeface="Cambria Math" panose="02040503050406030204" pitchFamily="18" charset="0"/>
                      </a:rPr>
                      <m:t>𝑥</m:t>
                    </m:r>
                  </m:oMath>
                </a14:m>
                <a:endParaRPr lang="en-US" sz="2400" i="1" dirty="0">
                  <a:solidFill>
                    <a:srgbClr val="00B050"/>
                  </a:solidFill>
                  <a:latin typeface="Cambria Math" panose="02040503050406030204" pitchFamily="18" charset="0"/>
                </a:endParaRPr>
              </a:p>
              <a:p>
                <a:r>
                  <a:rPr lang="en-US" sz="2400" dirty="0">
                    <a:solidFill>
                      <a:srgbClr val="00B050"/>
                    </a:solidFill>
                    <a:cs typeface="Arial" panose="020B0604020202090204" pitchFamily="34" charset="0"/>
                  </a:rPr>
                  <a:t> </a:t>
                </a:r>
                <a14:m>
                  <m:oMath xmlns:m="http://schemas.openxmlformats.org/officeDocument/2006/math">
                    <m:sSub>
                      <m:sSubPr>
                        <m:ctrlPr>
                          <a:rPr lang="en-US" sz="2400" i="1" smtClean="0">
                            <a:solidFill>
                              <a:srgbClr val="00B050"/>
                            </a:solidFill>
                            <a:latin typeface="Cambria Math" panose="02040503050406030204" pitchFamily="18" charset="0"/>
                            <a:cs typeface="Arial" panose="020B0604020202090204" pitchFamily="34" charset="0"/>
                          </a:rPr>
                        </m:ctrlPr>
                      </m:sSubPr>
                      <m:e>
                        <m:r>
                          <a:rPr lang="en-US" sz="2400" b="0" i="1" smtClean="0">
                            <a:solidFill>
                              <a:srgbClr val="00B050"/>
                            </a:solidFill>
                            <a:latin typeface="Cambria Math" panose="02040503050406030204" pitchFamily="18" charset="0"/>
                            <a:cs typeface="Arial" panose="020B0604020202090204" pitchFamily="34" charset="0"/>
                          </a:rPr>
                          <m:t>ℎ</m:t>
                        </m:r>
                      </m:e>
                      <m:sub>
                        <m:r>
                          <a:rPr lang="en-US" sz="2400" b="0" i="1" smtClean="0">
                            <a:solidFill>
                              <a:srgbClr val="00B050"/>
                            </a:solidFill>
                            <a:latin typeface="Cambria Math" panose="02040503050406030204" pitchFamily="18" charset="0"/>
                            <a:cs typeface="Arial" panose="020B0604020202090204" pitchFamily="34" charset="0"/>
                          </a:rPr>
                          <m:t>2</m:t>
                        </m:r>
                      </m:sub>
                    </m:sSub>
                    <m:r>
                      <a:rPr lang="en-US" sz="2400" b="0" i="1" smtClean="0">
                        <a:solidFill>
                          <a:srgbClr val="00B050"/>
                        </a:solidFill>
                        <a:latin typeface="Cambria Math" panose="02040503050406030204" pitchFamily="18" charset="0"/>
                        <a:cs typeface="Arial" panose="020B0604020202090204" pitchFamily="34" charset="0"/>
                      </a:rPr>
                      <m:t>=</m:t>
                    </m:r>
                    <m:sSub>
                      <m:sSubPr>
                        <m:ctrlPr>
                          <a:rPr lang="en-US" sz="2400" i="1">
                            <a:solidFill>
                              <a:srgbClr val="00B050"/>
                            </a:solidFill>
                            <a:latin typeface="Cambria Math" panose="02040503050406030204" pitchFamily="18" charset="0"/>
                            <a:cs typeface="Arial" panose="020B0604020202090204" pitchFamily="34" charset="0"/>
                          </a:rPr>
                        </m:ctrlPr>
                      </m:sSubPr>
                      <m:e>
                        <m:r>
                          <a:rPr lang="en-US" sz="2400" i="1">
                            <a:solidFill>
                              <a:srgbClr val="00B050"/>
                            </a:solidFill>
                            <a:latin typeface="Cambria Math" panose="02040503050406030204" pitchFamily="18" charset="0"/>
                            <a:cs typeface="Arial" panose="020B0604020202090204" pitchFamily="34" charset="0"/>
                          </a:rPr>
                          <m:t>𝑓</m:t>
                        </m:r>
                      </m:e>
                      <m:sub>
                        <m:r>
                          <a:rPr lang="en-US" sz="2400" b="0" i="1" smtClean="0">
                            <a:solidFill>
                              <a:srgbClr val="00B050"/>
                            </a:solidFill>
                            <a:latin typeface="Cambria Math" panose="02040503050406030204" pitchFamily="18" charset="0"/>
                            <a:cs typeface="Arial" panose="020B0604020202090204" pitchFamily="34" charset="0"/>
                          </a:rPr>
                          <m:t>2</m:t>
                        </m:r>
                      </m:sub>
                    </m:sSub>
                    <m:d>
                      <m:dPr>
                        <m:ctrlPr>
                          <a:rPr lang="en-US" sz="2400" i="1">
                            <a:solidFill>
                              <a:srgbClr val="00B050"/>
                            </a:solidFill>
                            <a:latin typeface="Cambria Math" panose="02040503050406030204" pitchFamily="18" charset="0"/>
                            <a:cs typeface="Arial" panose="020B0604020202090204" pitchFamily="34" charset="0"/>
                          </a:rPr>
                        </m:ctrlPr>
                      </m:dPr>
                      <m:e>
                        <m:sSub>
                          <m:sSubPr>
                            <m:ctrlPr>
                              <a:rPr lang="en-US" sz="2400" i="1" smtClean="0">
                                <a:solidFill>
                                  <a:srgbClr val="00B050"/>
                                </a:solidFill>
                                <a:latin typeface="Cambria Math" panose="02040503050406030204" pitchFamily="18" charset="0"/>
                                <a:cs typeface="Arial" panose="020B0604020202090204" pitchFamily="34" charset="0"/>
                              </a:rPr>
                            </m:ctrlPr>
                          </m:sSubPr>
                          <m:e>
                            <m:r>
                              <a:rPr lang="en-US" sz="2400" b="0" i="1" smtClean="0">
                                <a:solidFill>
                                  <a:srgbClr val="00B050"/>
                                </a:solidFill>
                                <a:latin typeface="Cambria Math" panose="02040503050406030204" pitchFamily="18" charset="0"/>
                                <a:cs typeface="Arial" panose="020B0604020202090204" pitchFamily="34" charset="0"/>
                              </a:rPr>
                              <m:t>ℎ</m:t>
                            </m:r>
                          </m:e>
                          <m:sub>
                            <m:r>
                              <a:rPr lang="en-US" sz="2400" b="0" i="1" smtClean="0">
                                <a:solidFill>
                                  <a:srgbClr val="00B050"/>
                                </a:solidFill>
                                <a:latin typeface="Cambria Math" panose="02040503050406030204" pitchFamily="18" charset="0"/>
                                <a:cs typeface="Arial" panose="020B0604020202090204" pitchFamily="34" charset="0"/>
                              </a:rPr>
                              <m:t>1</m:t>
                            </m:r>
                          </m:sub>
                        </m:sSub>
                      </m:e>
                    </m:d>
                    <m:r>
                      <a:rPr lang="en-US" sz="2400" b="0" i="1" smtClean="0">
                        <a:solidFill>
                          <a:srgbClr val="00B050"/>
                        </a:solidFill>
                        <a:latin typeface="Cambria Math" panose="02040503050406030204" pitchFamily="18" charset="0"/>
                      </a:rPr>
                      <m:t>=</m:t>
                    </m:r>
                    <m:r>
                      <a:rPr lang="en-US" sz="2400" i="1">
                        <a:solidFill>
                          <a:srgbClr val="00B050"/>
                        </a:solidFill>
                        <a:latin typeface="Cambria Math" panose="02040503050406030204" pitchFamily="18" charset="0"/>
                        <a:ea typeface="Cambria Math" panose="02040503050406030204" pitchFamily="18" charset="0"/>
                      </a:rPr>
                      <m:t>𝜎</m:t>
                    </m:r>
                    <m:d>
                      <m:dPr>
                        <m:ctrlPr>
                          <a:rPr lang="en-US" sz="2400" i="1">
                            <a:solidFill>
                              <a:srgbClr val="00B050"/>
                            </a:solidFill>
                            <a:latin typeface="Cambria Math" panose="02040503050406030204" pitchFamily="18" charset="0"/>
                            <a:ea typeface="Cambria Math" panose="02040503050406030204" pitchFamily="18" charset="0"/>
                          </a:rPr>
                        </m:ctrlPr>
                      </m:dPr>
                      <m:e>
                        <m:sSub>
                          <m:sSubPr>
                            <m:ctrlPr>
                              <a:rPr lang="en-US" sz="2400" i="1">
                                <a:solidFill>
                                  <a:srgbClr val="00B050"/>
                                </a:solidFill>
                                <a:latin typeface="Cambria Math" panose="02040503050406030204" pitchFamily="18" charset="0"/>
                                <a:cs typeface="Arial" panose="020B0604020202090204" pitchFamily="34" charset="0"/>
                              </a:rPr>
                            </m:ctrlPr>
                          </m:sSubPr>
                          <m:e>
                            <m:r>
                              <a:rPr lang="en-US" sz="2400" i="1">
                                <a:solidFill>
                                  <a:srgbClr val="00B050"/>
                                </a:solidFill>
                                <a:latin typeface="Cambria Math" panose="02040503050406030204" pitchFamily="18" charset="0"/>
                                <a:cs typeface="Arial" panose="020B0604020202090204" pitchFamily="34" charset="0"/>
                              </a:rPr>
                              <m:t>ℎ</m:t>
                            </m:r>
                          </m:e>
                          <m:sub>
                            <m:r>
                              <a:rPr lang="en-US" sz="2400" i="1">
                                <a:solidFill>
                                  <a:srgbClr val="00B050"/>
                                </a:solidFill>
                                <a:latin typeface="Cambria Math" panose="02040503050406030204" pitchFamily="18" charset="0"/>
                                <a:cs typeface="Arial" panose="020B0604020202090204" pitchFamily="34" charset="0"/>
                              </a:rPr>
                              <m:t>1</m:t>
                            </m:r>
                          </m:sub>
                        </m:sSub>
                      </m:e>
                    </m:d>
                  </m:oMath>
                </a14:m>
                <a:endParaRPr lang="en-US" sz="2400" i="1" dirty="0">
                  <a:solidFill>
                    <a:srgbClr val="00B050"/>
                  </a:solidFill>
                  <a:latin typeface="Cambria Math" panose="02040503050406030204" pitchFamily="18" charset="0"/>
                  <a:cs typeface="Arial" panose="020B0604020202090204" pitchFamily="34" charset="0"/>
                </a:endParaRPr>
              </a:p>
              <a:p>
                <a:r>
                  <a:rPr lang="en-US" sz="2400" b="0" dirty="0">
                    <a:solidFill>
                      <a:srgbClr val="00B050"/>
                    </a:solidFill>
                    <a:cs typeface="Arial" panose="020B0604020202090204" pitchFamily="34" charset="0"/>
                  </a:rPr>
                  <a:t> </a:t>
                </a:r>
                <a14:m>
                  <m:oMath xmlns:m="http://schemas.openxmlformats.org/officeDocument/2006/math">
                    <m:r>
                      <a:rPr lang="en-US" sz="2400" b="0" i="1" smtClean="0">
                        <a:solidFill>
                          <a:srgbClr val="00B050"/>
                        </a:solidFill>
                        <a:latin typeface="Cambria Math" panose="02040503050406030204" pitchFamily="18" charset="0"/>
                        <a:cs typeface="Arial" panose="020B0604020202090204" pitchFamily="34" charset="0"/>
                      </a:rPr>
                      <m:t>𝑒</m:t>
                    </m:r>
                    <m:r>
                      <a:rPr lang="en-US" sz="2400" b="0" i="1" smtClean="0">
                        <a:solidFill>
                          <a:srgbClr val="00B050"/>
                        </a:solidFill>
                        <a:latin typeface="Cambria Math" panose="02040503050406030204" pitchFamily="18" charset="0"/>
                        <a:cs typeface="Arial" panose="020B0604020202090204" pitchFamily="34" charset="0"/>
                      </a:rPr>
                      <m:t>=</m:t>
                    </m:r>
                    <m:r>
                      <a:rPr lang="en-US" sz="2400" b="0" i="1" smtClean="0">
                        <a:solidFill>
                          <a:srgbClr val="00B050"/>
                        </a:solidFill>
                        <a:latin typeface="Cambria Math" panose="02040503050406030204" pitchFamily="18" charset="0"/>
                        <a:cs typeface="Arial" panose="020B0604020202090204" pitchFamily="34" charset="0"/>
                      </a:rPr>
                      <m:t>𝑙</m:t>
                    </m:r>
                    <m:d>
                      <m:dPr>
                        <m:ctrlPr>
                          <a:rPr lang="en-US" sz="2400" b="0" i="1" smtClean="0">
                            <a:solidFill>
                              <a:srgbClr val="00B050"/>
                            </a:solidFill>
                            <a:latin typeface="Cambria Math" panose="02040503050406030204" pitchFamily="18" charset="0"/>
                            <a:cs typeface="Arial" panose="020B0604020202090204" pitchFamily="34" charset="0"/>
                          </a:rPr>
                        </m:ctrlPr>
                      </m:dPr>
                      <m:e>
                        <m:sSub>
                          <m:sSubPr>
                            <m:ctrlPr>
                              <a:rPr lang="en-US" sz="2400" b="0" i="1" smtClean="0">
                                <a:solidFill>
                                  <a:srgbClr val="00B050"/>
                                </a:solidFill>
                                <a:latin typeface="Cambria Math" panose="02040503050406030204" pitchFamily="18" charset="0"/>
                                <a:cs typeface="Arial" panose="020B0604020202090204" pitchFamily="34" charset="0"/>
                              </a:rPr>
                            </m:ctrlPr>
                          </m:sSubPr>
                          <m:e>
                            <m:r>
                              <a:rPr lang="en-US" sz="2400" b="0" i="1" smtClean="0">
                                <a:solidFill>
                                  <a:srgbClr val="00B050"/>
                                </a:solidFill>
                                <a:latin typeface="Cambria Math" panose="02040503050406030204" pitchFamily="18" charset="0"/>
                                <a:cs typeface="Arial" panose="020B0604020202090204" pitchFamily="34" charset="0"/>
                              </a:rPr>
                              <m:t>ℎ</m:t>
                            </m:r>
                          </m:e>
                          <m:sub>
                            <m:r>
                              <a:rPr lang="en-US" sz="2400" b="0" i="1" smtClean="0">
                                <a:solidFill>
                                  <a:srgbClr val="00B050"/>
                                </a:solidFill>
                                <a:latin typeface="Cambria Math" panose="02040503050406030204" pitchFamily="18" charset="0"/>
                                <a:cs typeface="Arial" panose="020B0604020202090204" pitchFamily="34" charset="0"/>
                              </a:rPr>
                              <m:t>2</m:t>
                            </m:r>
                          </m:sub>
                        </m:sSub>
                        <m:r>
                          <a:rPr lang="en-US" sz="2400" b="0" i="1" smtClean="0">
                            <a:solidFill>
                              <a:srgbClr val="00B050"/>
                            </a:solidFill>
                            <a:latin typeface="Cambria Math" panose="02040503050406030204" pitchFamily="18" charset="0"/>
                            <a:cs typeface="Arial" panose="020B0604020202090204" pitchFamily="34" charset="0"/>
                          </a:rPr>
                          <m:t>,</m:t>
                        </m:r>
                        <m:r>
                          <a:rPr lang="en-US" sz="2400" b="0" i="1" smtClean="0">
                            <a:solidFill>
                              <a:srgbClr val="00B050"/>
                            </a:solidFill>
                            <a:latin typeface="Cambria Math" panose="02040503050406030204" pitchFamily="18" charset="0"/>
                            <a:cs typeface="Arial" panose="020B0604020202090204" pitchFamily="34" charset="0"/>
                          </a:rPr>
                          <m:t>1</m:t>
                        </m:r>
                      </m:e>
                    </m:d>
                    <m:r>
                      <a:rPr lang="en-US" sz="2400" b="0" i="1" smtClean="0">
                        <a:solidFill>
                          <a:srgbClr val="00B050"/>
                        </a:solidFill>
                        <a:latin typeface="Cambria Math" panose="02040503050406030204" pitchFamily="18" charset="0"/>
                        <a:cs typeface="Arial" panose="020B0604020202090204" pitchFamily="34" charset="0"/>
                      </a:rPr>
                      <m:t>=−</m:t>
                    </m:r>
                    <m:func>
                      <m:funcPr>
                        <m:ctrlPr>
                          <a:rPr lang="en-US" sz="2400" b="0" i="1" smtClean="0">
                            <a:solidFill>
                              <a:srgbClr val="00B050"/>
                            </a:solidFill>
                            <a:latin typeface="Cambria Math" panose="02040503050406030204" pitchFamily="18" charset="0"/>
                            <a:cs typeface="Arial" panose="020B0604020202090204" pitchFamily="34" charset="0"/>
                          </a:rPr>
                        </m:ctrlPr>
                      </m:funcPr>
                      <m:fName>
                        <m:r>
                          <m:rPr>
                            <m:sty m:val="p"/>
                          </m:rPr>
                          <a:rPr lang="en-US" sz="2400" b="0" i="0" smtClean="0">
                            <a:solidFill>
                              <a:srgbClr val="00B050"/>
                            </a:solidFill>
                            <a:latin typeface="Cambria Math" panose="02040503050406030204" pitchFamily="18" charset="0"/>
                            <a:cs typeface="Arial" panose="020B0604020202090204" pitchFamily="34" charset="0"/>
                          </a:rPr>
                          <m:t>log</m:t>
                        </m:r>
                      </m:fName>
                      <m:e>
                        <m:d>
                          <m:dPr>
                            <m:ctrlPr>
                              <a:rPr lang="en-US" sz="2400" b="0" i="1" smtClean="0">
                                <a:solidFill>
                                  <a:srgbClr val="00B050"/>
                                </a:solidFill>
                                <a:latin typeface="Cambria Math" panose="02040503050406030204" pitchFamily="18" charset="0"/>
                                <a:cs typeface="Arial" panose="020B0604020202090204" pitchFamily="34" charset="0"/>
                              </a:rPr>
                            </m:ctrlPr>
                          </m:dPr>
                          <m:e>
                            <m:sSub>
                              <m:sSubPr>
                                <m:ctrlPr>
                                  <a:rPr lang="en-US" sz="2400" i="1">
                                    <a:solidFill>
                                      <a:srgbClr val="00B050"/>
                                    </a:solidFill>
                                    <a:latin typeface="Cambria Math" panose="02040503050406030204" pitchFamily="18" charset="0"/>
                                    <a:cs typeface="Arial" panose="020B0604020202090204" pitchFamily="34" charset="0"/>
                                  </a:rPr>
                                </m:ctrlPr>
                              </m:sSubPr>
                              <m:e>
                                <m:r>
                                  <a:rPr lang="en-US" sz="2400" i="1">
                                    <a:solidFill>
                                      <a:srgbClr val="00B050"/>
                                    </a:solidFill>
                                    <a:latin typeface="Cambria Math" panose="02040503050406030204" pitchFamily="18" charset="0"/>
                                    <a:cs typeface="Arial" panose="020B0604020202090204" pitchFamily="34" charset="0"/>
                                  </a:rPr>
                                  <m:t>ℎ</m:t>
                                </m:r>
                              </m:e>
                              <m:sub>
                                <m:r>
                                  <a:rPr lang="en-US" sz="2400" i="1">
                                    <a:solidFill>
                                      <a:srgbClr val="00B050"/>
                                    </a:solidFill>
                                    <a:latin typeface="Cambria Math" panose="02040503050406030204" pitchFamily="18" charset="0"/>
                                    <a:cs typeface="Arial" panose="020B0604020202090204" pitchFamily="34" charset="0"/>
                                  </a:rPr>
                                  <m:t>2</m:t>
                                </m:r>
                              </m:sub>
                            </m:sSub>
                          </m:e>
                        </m:d>
                      </m:e>
                    </m:func>
                  </m:oMath>
                </a14:m>
                <a:endParaRPr lang="en-US" sz="2400" b="0" dirty="0">
                  <a:solidFill>
                    <a:srgbClr val="00B050"/>
                  </a:solidFill>
                  <a:cs typeface="Arial" panose="020B0604020202090204" pitchFamily="34" charset="0"/>
                </a:endParaRPr>
              </a:p>
              <a:p>
                <a:r>
                  <a:rPr lang="en-US" sz="1400" dirty="0">
                    <a:solidFill>
                      <a:srgbClr val="00B050"/>
                    </a:solidFill>
                  </a:rPr>
                  <a:t> </a:t>
                </a:r>
                <a:endParaRPr lang="en-US" sz="1400" dirty="0">
                  <a:solidFill>
                    <a:srgbClr val="00B050"/>
                  </a:solidFill>
                </a:endParaRPr>
              </a:p>
              <a:p>
                <a:r>
                  <a:rPr lang="en-US" sz="2000" dirty="0">
                    <a:solidFill>
                      <a:srgbClr val="FF0000"/>
                    </a:solidFill>
                  </a:rPr>
                  <a:t> </a:t>
                </a:r>
                <a14:m>
                  <m:oMath xmlns:m="http://schemas.openxmlformats.org/officeDocument/2006/math">
                    <m:f>
                      <m:fPr>
                        <m:ctrlPr>
                          <a:rPr lang="en-US" sz="2000" i="1" smtClean="0">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𝑒</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1</m:t>
                            </m:r>
                          </m:sub>
                        </m:sSub>
                      </m:den>
                    </m:f>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𝑒</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ℎ</m:t>
                            </m:r>
                          </m:e>
                          <m:sub>
                            <m:r>
                              <a:rPr lang="en-US" sz="2000" i="1">
                                <a:solidFill>
                                  <a:srgbClr val="FF0000"/>
                                </a:solidFill>
                                <a:latin typeface="Cambria Math" panose="02040503050406030204" pitchFamily="18" charset="0"/>
                              </a:rPr>
                              <m:t>2</m:t>
                            </m:r>
                          </m:sub>
                        </m:sSub>
                      </m:den>
                    </m:f>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ℎ</m:t>
                            </m:r>
                          </m:e>
                          <m:sub>
                            <m:r>
                              <a:rPr lang="en-US" sz="2000" i="1">
                                <a:solidFill>
                                  <a:srgbClr val="FF0000"/>
                                </a:solidFill>
                                <a:latin typeface="Cambria Math" panose="02040503050406030204" pitchFamily="18" charset="0"/>
                              </a:rPr>
                              <m:t>2</m:t>
                            </m:r>
                          </m:sub>
                        </m:sSub>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ℎ</m:t>
                            </m:r>
                          </m:e>
                          <m:sub>
                            <m:r>
                              <a:rPr lang="en-US" sz="2000" i="1">
                                <a:solidFill>
                                  <a:srgbClr val="FF0000"/>
                                </a:solidFill>
                                <a:latin typeface="Cambria Math" panose="02040503050406030204" pitchFamily="18" charset="0"/>
                              </a:rPr>
                              <m:t>1</m:t>
                            </m:r>
                          </m:sub>
                        </m:sSub>
                      </m:den>
                    </m:f>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ℎ</m:t>
                            </m:r>
                          </m:e>
                          <m:sub>
                            <m:r>
                              <a:rPr lang="en-US" sz="2000" i="1">
                                <a:solidFill>
                                  <a:srgbClr val="FF0000"/>
                                </a:solidFill>
                                <a:latin typeface="Cambria Math" panose="02040503050406030204" pitchFamily="18" charset="0"/>
                              </a:rPr>
                              <m:t>1</m:t>
                            </m:r>
                          </m:sub>
                        </m:sSub>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1</m:t>
                            </m:r>
                          </m:sub>
                        </m:sSub>
                      </m:den>
                    </m:f>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i="1">
                            <a:solidFill>
                              <a:srgbClr val="FF0000"/>
                            </a:solidFill>
                            <a:latin typeface="Cambria Math" panose="02040503050406030204" pitchFamily="18" charset="0"/>
                            <a:ea typeface="Cambria Math" panose="02040503050406030204" pitchFamily="18" charset="0"/>
                          </a:rPr>
                          <m:t>𝜎</m:t>
                        </m:r>
                        <m:d>
                          <m:dPr>
                            <m:ctrlPr>
                              <a:rPr lang="en-US" sz="2000" i="1">
                                <a:solidFill>
                                  <a:srgbClr val="FF0000"/>
                                </a:solidFill>
                                <a:latin typeface="Cambria Math" panose="02040503050406030204" pitchFamily="18" charset="0"/>
                                <a:ea typeface="Cambria Math" panose="02040503050406030204" pitchFamily="18" charset="0"/>
                              </a:rPr>
                            </m:ctrlPr>
                          </m:dPr>
                          <m:e>
                            <m:sSubSup>
                              <m:sSubSupPr>
                                <m:ctrlPr>
                                  <a:rPr lang="en-US" sz="2000" i="1">
                                    <a:solidFill>
                                      <a:srgbClr val="FF0000"/>
                                    </a:solidFill>
                                    <a:latin typeface="Cambria Math" panose="02040503050406030204" pitchFamily="18" charset="0"/>
                                    <a:ea typeface="Cambria Math" panose="02040503050406030204" pitchFamily="18" charset="0"/>
                                  </a:rPr>
                                </m:ctrlPr>
                              </m:sSubSupPr>
                              <m:e>
                                <m:r>
                                  <a:rPr lang="en-US" sz="2000" i="1">
                                    <a:solidFill>
                                      <a:srgbClr val="FF0000"/>
                                    </a:solidFill>
                                    <a:latin typeface="Cambria Math" panose="02040503050406030204" pitchFamily="18" charset="0"/>
                                    <a:ea typeface="Cambria Math" panose="02040503050406030204" pitchFamily="18" charset="0"/>
                                  </a:rPr>
                                  <m:t>𝑤</m:t>
                                </m:r>
                              </m:e>
                              <m:sub>
                                <m:r>
                                  <a:rPr lang="en-US" sz="2000" i="1">
                                    <a:solidFill>
                                      <a:srgbClr val="FF0000"/>
                                    </a:solidFill>
                                    <a:latin typeface="Cambria Math" panose="02040503050406030204" pitchFamily="18" charset="0"/>
                                    <a:ea typeface="Cambria Math" panose="02040503050406030204" pitchFamily="18" charset="0"/>
                                  </a:rPr>
                                  <m:t>1</m:t>
                                </m:r>
                              </m:sub>
                              <m:sup>
                                <m:r>
                                  <a:rPr lang="en-US" sz="2000" i="1">
                                    <a:solidFill>
                                      <a:srgbClr val="FF0000"/>
                                    </a:solidFill>
                                    <a:latin typeface="Cambria Math" panose="02040503050406030204" pitchFamily="18" charset="0"/>
                                    <a:ea typeface="Cambria Math" panose="02040503050406030204" pitchFamily="18" charset="0"/>
                                  </a:rPr>
                                  <m:t>𝑇</m:t>
                                </m:r>
                              </m:sup>
                            </m:sSubSup>
                            <m:r>
                              <a:rPr lang="en-US" sz="2000" i="1">
                                <a:solidFill>
                                  <a:srgbClr val="FF0000"/>
                                </a:solidFill>
                                <a:latin typeface="Cambria Math" panose="02040503050406030204" pitchFamily="18" charset="0"/>
                              </a:rPr>
                              <m:t>𝑥</m:t>
                            </m:r>
                          </m:e>
                        </m:d>
                      </m:den>
                    </m:f>
                    <m:r>
                      <a:rPr lang="en-US" sz="2000" i="1">
                        <a:solidFill>
                          <a:srgbClr val="FF0000"/>
                        </a:solidFill>
                        <a:latin typeface="Cambria Math" panose="02040503050406030204" pitchFamily="18" charset="0"/>
                        <a:ea typeface="Cambria Math" panose="02040503050406030204" pitchFamily="18" charset="0"/>
                      </a:rPr>
                      <m:t>𝜎</m:t>
                    </m:r>
                    <m:d>
                      <m:dPr>
                        <m:ctrlPr>
                          <a:rPr lang="en-US" sz="2000" i="1">
                            <a:solidFill>
                              <a:srgbClr val="FF0000"/>
                            </a:solidFill>
                            <a:latin typeface="Cambria Math" panose="02040503050406030204" pitchFamily="18" charset="0"/>
                            <a:ea typeface="Cambria Math" panose="02040503050406030204" pitchFamily="18" charset="0"/>
                          </a:rPr>
                        </m:ctrlPr>
                      </m:dPr>
                      <m:e>
                        <m:sSubSup>
                          <m:sSubSupPr>
                            <m:ctrlPr>
                              <a:rPr lang="en-US" sz="2000" i="1">
                                <a:solidFill>
                                  <a:srgbClr val="FF0000"/>
                                </a:solidFill>
                                <a:latin typeface="Cambria Math" panose="02040503050406030204" pitchFamily="18" charset="0"/>
                                <a:ea typeface="Cambria Math" panose="02040503050406030204" pitchFamily="18" charset="0"/>
                              </a:rPr>
                            </m:ctrlPr>
                          </m:sSubSupPr>
                          <m:e>
                            <m:r>
                              <a:rPr lang="en-US" sz="2000" i="1">
                                <a:solidFill>
                                  <a:srgbClr val="FF0000"/>
                                </a:solidFill>
                                <a:latin typeface="Cambria Math" panose="02040503050406030204" pitchFamily="18" charset="0"/>
                                <a:ea typeface="Cambria Math" panose="02040503050406030204" pitchFamily="18" charset="0"/>
                              </a:rPr>
                              <m:t>𝑤</m:t>
                            </m:r>
                          </m:e>
                          <m:sub>
                            <m:r>
                              <a:rPr lang="en-US" sz="2000" i="1">
                                <a:solidFill>
                                  <a:srgbClr val="FF0000"/>
                                </a:solidFill>
                                <a:latin typeface="Cambria Math" panose="02040503050406030204" pitchFamily="18" charset="0"/>
                                <a:ea typeface="Cambria Math" panose="02040503050406030204" pitchFamily="18" charset="0"/>
                              </a:rPr>
                              <m:t>1</m:t>
                            </m:r>
                          </m:sub>
                          <m:sup>
                            <m:r>
                              <a:rPr lang="en-US" sz="2000" i="1">
                                <a:solidFill>
                                  <a:srgbClr val="FF0000"/>
                                </a:solidFill>
                                <a:latin typeface="Cambria Math" panose="02040503050406030204" pitchFamily="18" charset="0"/>
                                <a:ea typeface="Cambria Math" panose="02040503050406030204" pitchFamily="18" charset="0"/>
                              </a:rPr>
                              <m:t>𝑇</m:t>
                            </m:r>
                          </m:sup>
                        </m:sSubSup>
                        <m:r>
                          <a:rPr lang="en-US" sz="2000" i="1">
                            <a:solidFill>
                              <a:srgbClr val="FF0000"/>
                            </a:solidFill>
                            <a:latin typeface="Cambria Math" panose="02040503050406030204" pitchFamily="18" charset="0"/>
                          </a:rPr>
                          <m:t>𝑥</m:t>
                        </m:r>
                      </m:e>
                    </m:d>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m:t>
                        </m:r>
                        <m:r>
                          <a:rPr lang="en-US" sz="2000" b="0" i="1" smtClean="0">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ea typeface="Cambria Math" panose="02040503050406030204" pitchFamily="18" charset="0"/>
                          </a:rPr>
                          <m:t>𝜎</m:t>
                        </m:r>
                        <m:d>
                          <m:dPr>
                            <m:ctrlPr>
                              <a:rPr lang="en-US" sz="2000" i="1">
                                <a:solidFill>
                                  <a:srgbClr val="FF0000"/>
                                </a:solidFill>
                                <a:latin typeface="Cambria Math" panose="02040503050406030204" pitchFamily="18" charset="0"/>
                                <a:ea typeface="Cambria Math" panose="02040503050406030204" pitchFamily="18" charset="0"/>
                              </a:rPr>
                            </m:ctrlPr>
                          </m:dPr>
                          <m:e>
                            <m:sSubSup>
                              <m:sSubSupPr>
                                <m:ctrlPr>
                                  <a:rPr lang="en-US" sz="2000" i="1">
                                    <a:solidFill>
                                      <a:srgbClr val="FF0000"/>
                                    </a:solidFill>
                                    <a:latin typeface="Cambria Math" panose="02040503050406030204" pitchFamily="18" charset="0"/>
                                    <a:ea typeface="Cambria Math" panose="02040503050406030204" pitchFamily="18" charset="0"/>
                                  </a:rPr>
                                </m:ctrlPr>
                              </m:sSubSupPr>
                              <m:e>
                                <m:r>
                                  <a:rPr lang="en-US" sz="2000" i="1">
                                    <a:solidFill>
                                      <a:srgbClr val="FF0000"/>
                                    </a:solidFill>
                                    <a:latin typeface="Cambria Math" panose="02040503050406030204" pitchFamily="18" charset="0"/>
                                    <a:ea typeface="Cambria Math" panose="02040503050406030204" pitchFamily="18" charset="0"/>
                                  </a:rPr>
                                  <m:t>𝑤</m:t>
                                </m:r>
                              </m:e>
                              <m:sub>
                                <m:r>
                                  <a:rPr lang="en-US" sz="2000" i="1">
                                    <a:solidFill>
                                      <a:srgbClr val="FF0000"/>
                                    </a:solidFill>
                                    <a:latin typeface="Cambria Math" panose="02040503050406030204" pitchFamily="18" charset="0"/>
                                    <a:ea typeface="Cambria Math" panose="02040503050406030204" pitchFamily="18" charset="0"/>
                                  </a:rPr>
                                  <m:t>1</m:t>
                                </m:r>
                              </m:sub>
                              <m:sup>
                                <m:r>
                                  <a:rPr lang="en-US" sz="2000" i="1">
                                    <a:solidFill>
                                      <a:srgbClr val="FF0000"/>
                                    </a:solidFill>
                                    <a:latin typeface="Cambria Math" panose="02040503050406030204" pitchFamily="18" charset="0"/>
                                    <a:ea typeface="Cambria Math" panose="02040503050406030204" pitchFamily="18" charset="0"/>
                                  </a:rPr>
                                  <m:t>𝑇</m:t>
                                </m:r>
                              </m:sup>
                            </m:sSubSup>
                            <m:r>
                              <a:rPr lang="en-US" sz="2000" i="1">
                                <a:solidFill>
                                  <a:srgbClr val="FF0000"/>
                                </a:solidFill>
                                <a:latin typeface="Cambria Math" panose="02040503050406030204" pitchFamily="18" charset="0"/>
                              </a:rPr>
                              <m:t>𝑥</m:t>
                            </m:r>
                          </m:e>
                        </m:d>
                      </m:e>
                    </m:d>
                    <m:r>
                      <a:rPr lang="en-US" sz="2000" b="0" i="1" smtClean="0">
                        <a:solidFill>
                          <a:srgbClr val="FF0000"/>
                        </a:solidFill>
                        <a:latin typeface="Cambria Math" panose="02040503050406030204" pitchFamily="18" charset="0"/>
                      </a:rPr>
                      <m:t>𝑥</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𝜎</m:t>
                    </m:r>
                    <m:d>
                      <m:dPr>
                        <m:ctrlPr>
                          <a:rPr lang="en-US" sz="2000" b="0" i="1" smtClean="0">
                            <a:solidFill>
                              <a:srgbClr val="FF0000"/>
                            </a:solidFill>
                            <a:latin typeface="Cambria Math" panose="02040503050406030204" pitchFamily="18" charset="0"/>
                            <a:ea typeface="Cambria Math" panose="02040503050406030204" pitchFamily="18" charset="0"/>
                          </a:rPr>
                        </m:ctrlPr>
                      </m:dPr>
                      <m:e>
                        <m:r>
                          <a:rPr lang="en-US" sz="2000" b="0" i="1" smtClean="0">
                            <a:solidFill>
                              <a:srgbClr val="FF0000"/>
                            </a:solidFill>
                            <a:latin typeface="Cambria Math" panose="02040503050406030204" pitchFamily="18" charset="0"/>
                            <a:ea typeface="Cambria Math" panose="02040503050406030204" pitchFamily="18" charset="0"/>
                          </a:rPr>
                          <m:t>−</m:t>
                        </m:r>
                        <m:sSubSup>
                          <m:sSubSupPr>
                            <m:ctrlPr>
                              <a:rPr lang="en-US" sz="2000" b="0" i="1" smtClean="0">
                                <a:solidFill>
                                  <a:srgbClr val="FF0000"/>
                                </a:solidFill>
                                <a:latin typeface="Cambria Math" panose="02040503050406030204" pitchFamily="18" charset="0"/>
                                <a:ea typeface="Cambria Math" panose="02040503050406030204" pitchFamily="18" charset="0"/>
                              </a:rPr>
                            </m:ctrlPr>
                          </m:sSubSupPr>
                          <m:e>
                            <m:r>
                              <a:rPr lang="en-US" sz="2000" b="0" i="1" smtClean="0">
                                <a:solidFill>
                                  <a:srgbClr val="FF0000"/>
                                </a:solidFill>
                                <a:latin typeface="Cambria Math" panose="02040503050406030204" pitchFamily="18" charset="0"/>
                                <a:ea typeface="Cambria Math" panose="02040503050406030204" pitchFamily="18" charset="0"/>
                              </a:rPr>
                              <m:t>𝑤</m:t>
                            </m:r>
                          </m:e>
                          <m:sub>
                            <m:r>
                              <a:rPr lang="en-US" sz="2000" b="0" i="1" smtClean="0">
                                <a:solidFill>
                                  <a:srgbClr val="FF0000"/>
                                </a:solidFill>
                                <a:latin typeface="Cambria Math" panose="02040503050406030204" pitchFamily="18" charset="0"/>
                                <a:ea typeface="Cambria Math" panose="02040503050406030204" pitchFamily="18" charset="0"/>
                              </a:rPr>
                              <m:t>1</m:t>
                            </m:r>
                          </m:sub>
                          <m:sup>
                            <m:r>
                              <a:rPr lang="en-US" sz="2000" b="0" i="1" smtClean="0">
                                <a:solidFill>
                                  <a:srgbClr val="FF0000"/>
                                </a:solidFill>
                                <a:latin typeface="Cambria Math" panose="02040503050406030204" pitchFamily="18" charset="0"/>
                                <a:ea typeface="Cambria Math" panose="02040503050406030204" pitchFamily="18" charset="0"/>
                              </a:rPr>
                              <m:t>𝑇</m:t>
                            </m:r>
                          </m:sup>
                        </m:sSubSup>
                        <m:r>
                          <a:rPr lang="en-US" sz="2000" b="0" i="1" smtClean="0">
                            <a:solidFill>
                              <a:srgbClr val="FF0000"/>
                            </a:solidFill>
                            <a:latin typeface="Cambria Math" panose="02040503050406030204" pitchFamily="18" charset="0"/>
                          </a:rPr>
                          <m:t>𝑥</m:t>
                        </m:r>
                      </m:e>
                    </m:d>
                    <m:r>
                      <a:rPr lang="en-US" sz="2000" b="0" i="1" smtClean="0">
                        <a:solidFill>
                          <a:srgbClr val="FF0000"/>
                        </a:solidFill>
                        <a:latin typeface="Cambria Math" panose="02040503050406030204" pitchFamily="18" charset="0"/>
                      </a:rPr>
                      <m:t>𝑥</m:t>
                    </m:r>
                  </m:oMath>
                </a14:m>
                <a:endParaRPr lang="en-US" sz="2000" i="1" dirty="0">
                  <a:latin typeface="Cambria Math" panose="02040503050406030204" pitchFamily="18" charset="0"/>
                </a:endParaRPr>
              </a:p>
            </p:txBody>
          </p:sp>
        </mc:Choice>
        <mc:Fallback>
          <p:sp>
            <p:nvSpPr>
              <p:cNvPr id="23" name="Content Placeholder 22"/>
              <p:cNvSpPr>
                <a:spLocks noRot="1" noChangeAspect="1" noMove="1" noResize="1" noEditPoints="1" noAdjustHandles="1" noChangeArrowheads="1" noChangeShapeType="1" noTextEdit="1"/>
              </p:cNvSpPr>
              <p:nvPr>
                <p:ph idx="1"/>
              </p:nvPr>
            </p:nvSpPr>
            <p:spPr>
              <a:xfrm>
                <a:off x="457200" y="1932305"/>
                <a:ext cx="9969846" cy="3744897"/>
              </a:xfrm>
              <a:blipFill rotWithShape="1">
                <a:blip r:embed="rId1"/>
                <a:stretch>
                  <a:fillRect r="3" b="-266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bwMode="auto">
              <a:xfrm>
                <a:off x="3395161"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𝑥</m:t>
                      </m:r>
                      <m:r>
                        <a:rPr lang="en-US" sz="1800" b="0" i="1">
                          <a:latin typeface="Cambria Math" panose="02040503050406030204" pitchFamily="18" charset="0"/>
                        </a:rPr>
                        <m:t>,</m:t>
                      </m:r>
                      <m:sSub>
                        <m:sSubPr>
                          <m:ctrlPr>
                            <a:rPr lang="en-US" sz="1800" b="0" i="1">
                              <a:latin typeface="Cambria Math" panose="02040503050406030204" pitchFamily="18" charset="0"/>
                            </a:rPr>
                          </m:ctrlPr>
                        </m:sSubPr>
                        <m:e>
                          <m:r>
                            <a:rPr lang="en-US" sz="1800" b="0" i="1">
                              <a:latin typeface="Cambria Math" panose="02040503050406030204" pitchFamily="18" charset="0"/>
                            </a:rPr>
                            <m:t>𝑤</m:t>
                          </m:r>
                        </m:e>
                        <m:sub>
                          <m:r>
                            <a:rPr lang="en-US" sz="1800" b="0" i="1" smtClean="0">
                              <a:latin typeface="Cambria Math" panose="02040503050406030204" pitchFamily="18" charset="0"/>
                            </a:rPr>
                            <m:t>1</m:t>
                          </m:r>
                        </m:sub>
                      </m:sSub>
                      <m:r>
                        <a:rPr lang="en-US" sz="1800" b="0" i="1">
                          <a:latin typeface="Cambria Math" panose="02040503050406030204" pitchFamily="18"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9" name="Oval 8"/>
              <p:cNvSpPr>
                <a:spLocks noRot="1" noChangeAspect="1" noMove="1" noResize="1" noEditPoints="1" noAdjustHandles="1" noChangeArrowheads="1" noChangeShapeType="1" noTextEdit="1"/>
              </p:cNvSpPr>
              <p:nvPr/>
            </p:nvSpPr>
            <p:spPr bwMode="auto">
              <a:xfrm>
                <a:off x="3395161" y="1458897"/>
                <a:ext cx="1611691" cy="674703"/>
              </a:xfrm>
              <a:prstGeom prst="ellipse">
                <a:avLst/>
              </a:prstGeom>
              <a:blipFill rotWithShape="1">
                <a:blip r:embed="rId2"/>
                <a:stretch>
                  <a:fillRect l="-422" t="-986" r="-362"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3"/>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2</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4"/>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7" name="Rectangle 16"/>
              <p:cNvSpPr/>
              <p:nvPr/>
            </p:nvSpPr>
            <p:spPr>
              <a:xfrm>
                <a:off x="2501312" y="1627623"/>
                <a:ext cx="379206"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𝑥</m:t>
                      </m:r>
                    </m:oMath>
                  </m:oMathPara>
                </a14:m>
                <a:endParaRPr lang="en-US" sz="1800" dirty="0"/>
              </a:p>
            </p:txBody>
          </p:sp>
        </mc:Choice>
        <mc:Fallback>
          <p:sp>
            <p:nvSpPr>
              <p:cNvPr id="17" name="Rectangle 16"/>
              <p:cNvSpPr>
                <a:spLocks noRot="1" noChangeAspect="1" noMove="1" noResize="1" noEditPoints="1" noAdjustHandles="1" noChangeArrowheads="1" noChangeShapeType="1" noTextEdit="1"/>
              </p:cNvSpPr>
              <p:nvPr/>
            </p:nvSpPr>
            <p:spPr>
              <a:xfrm>
                <a:off x="2501312" y="1627623"/>
                <a:ext cx="379206" cy="369332"/>
              </a:xfrm>
              <a:prstGeom prst="rect">
                <a:avLst/>
              </a:prstGeom>
              <a:blipFill rotWithShape="1">
                <a:blip r:embed="rId5"/>
                <a:stretch>
                  <a:fillRect l="-12" t="-32" r="42"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901125" y="1318165"/>
                <a:ext cx="47904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1</m:t>
                          </m:r>
                        </m:sub>
                      </m:sSub>
                    </m:oMath>
                  </m:oMathPara>
                </a14:m>
                <a:endParaRPr lang="en-US" sz="1800" dirty="0"/>
              </a:p>
            </p:txBody>
          </p:sp>
        </mc:Choice>
        <mc:Fallback>
          <p:sp>
            <p:nvSpPr>
              <p:cNvPr id="18" name="Rectangle 17"/>
              <p:cNvSpPr>
                <a:spLocks noRot="1" noChangeAspect="1" noMove="1" noResize="1" noEditPoints="1" noAdjustHandles="1" noChangeArrowheads="1" noChangeShapeType="1" noTextEdit="1"/>
              </p:cNvSpPr>
              <p:nvPr/>
            </p:nvSpPr>
            <p:spPr>
              <a:xfrm>
                <a:off x="4901125" y="1318165"/>
                <a:ext cx="479041" cy="369332"/>
              </a:xfrm>
              <a:prstGeom prst="rect">
                <a:avLst/>
              </a:prstGeom>
              <a:blipFill rotWithShape="1">
                <a:blip r:embed="rId6"/>
                <a:stretch>
                  <a:fillRect l="-41" t="-146" r="93" b="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113457" y="1295400"/>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2</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113457" y="1295400"/>
                <a:ext cx="484363" cy="369332"/>
              </a:xfrm>
              <a:prstGeom prst="rect">
                <a:avLst/>
              </a:prstGeom>
              <a:blipFill rotWithShape="1">
                <a:blip r:embed="rId7"/>
                <a:stretch>
                  <a:fillRect l="-39" r="9"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8"/>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a:off x="60198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Sub>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6019800" y="838200"/>
                <a:ext cx="513025" cy="369332"/>
              </a:xfrm>
              <a:prstGeom prst="rect">
                <a:avLst/>
              </a:prstGeom>
              <a:blipFill rotWithShape="1">
                <a:blip r:embed="rId9"/>
                <a:stretch>
                  <a:fillRect r="113" b="107"/>
                </a:stretch>
              </a:blipFill>
            </p:spPr>
            <p:txBody>
              <a:bodyPr/>
              <a:lstStyle/>
              <a:p>
                <a:r>
                  <a:rPr lang="zh-CN" altLang="en-US">
                    <a:noFill/>
                  </a:rPr>
                  <a:t> </a:t>
                </a:r>
              </a:p>
            </p:txBody>
          </p:sp>
        </mc:Fallback>
      </mc:AlternateContent>
      <p:cxnSp>
        <p:nvCxnSpPr>
          <p:cNvPr id="22" name="Straight Arrow Connector 21"/>
          <p:cNvCxnSpPr>
            <a:stCxn id="19" idx="2"/>
          </p:cNvCxnSpPr>
          <p:nvPr/>
        </p:nvCxnSpPr>
        <p:spPr bwMode="auto">
          <a:xfrm flipH="1">
            <a:off x="62718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4" name="Rectangle 23"/>
              <p:cNvSpPr/>
              <p:nvPr/>
            </p:nvSpPr>
            <p:spPr>
              <a:xfrm>
                <a:off x="3958146" y="870259"/>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Sub>
                    </m:oMath>
                  </m:oMathPara>
                </a14:m>
                <a:endParaRPr lang="en-US" sz="1800" dirty="0"/>
              </a:p>
            </p:txBody>
          </p:sp>
        </mc:Choice>
        <mc:Fallback>
          <p:sp>
            <p:nvSpPr>
              <p:cNvPr id="24" name="Rectangle 23"/>
              <p:cNvSpPr>
                <a:spLocks noRot="1" noChangeAspect="1" noMove="1" noResize="1" noEditPoints="1" noAdjustHandles="1" noChangeArrowheads="1" noChangeShapeType="1" noTextEdit="1"/>
              </p:cNvSpPr>
              <p:nvPr/>
            </p:nvSpPr>
            <p:spPr>
              <a:xfrm>
                <a:off x="3958146" y="870259"/>
                <a:ext cx="513025" cy="369332"/>
              </a:xfrm>
              <a:prstGeom prst="rect">
                <a:avLst/>
              </a:prstGeom>
              <a:blipFill rotWithShape="1">
                <a:blip r:embed="rId10"/>
                <a:stretch>
                  <a:fillRect l="-37" t="-84" r="27" b="19"/>
                </a:stretch>
              </a:blipFill>
            </p:spPr>
            <p:txBody>
              <a:bodyPr/>
              <a:lstStyle/>
              <a:p>
                <a:r>
                  <a:rPr lang="zh-CN" altLang="en-US">
                    <a:noFill/>
                  </a:rPr>
                  <a:t> </a:t>
                </a:r>
              </a:p>
            </p:txBody>
          </p:sp>
        </mc:Fallback>
      </mc:AlternateContent>
      <p:cxnSp>
        <p:nvCxnSpPr>
          <p:cNvPr id="25" name="Straight Arrow Connector 24"/>
          <p:cNvCxnSpPr>
            <a:stCxn id="24" idx="2"/>
          </p:cNvCxnSpPr>
          <p:nvPr/>
        </p:nvCxnSpPr>
        <p:spPr bwMode="auto">
          <a:xfrm flipH="1">
            <a:off x="4210217" y="1239591"/>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 name="Rectangle 2"/>
              <p:cNvSpPr/>
              <p:nvPr/>
            </p:nvSpPr>
            <p:spPr>
              <a:xfrm>
                <a:off x="812679" y="1534180"/>
                <a:ext cx="1159356"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0" i="1" dirty="0" smtClean="0">
                          <a:solidFill>
                            <a:srgbClr val="C00000"/>
                          </a:solidFill>
                          <a:latin typeface="Cambria Math" panose="02040503050406030204" pitchFamily="18" charset="0"/>
                        </a:rPr>
                        <m:t>𝑘</m:t>
                      </m:r>
                      <m:r>
                        <a:rPr lang="en-US" sz="2800" b="0" i="1" dirty="0" smtClean="0">
                          <a:solidFill>
                            <a:srgbClr val="C00000"/>
                          </a:solidFill>
                          <a:latin typeface="Cambria Math" panose="02040503050406030204" pitchFamily="18" charset="0"/>
                        </a:rPr>
                        <m:t>=</m:t>
                      </m:r>
                      <m:r>
                        <a:rPr lang="en-US" sz="2800" b="0" i="1" dirty="0" smtClean="0">
                          <a:solidFill>
                            <a:srgbClr val="C00000"/>
                          </a:solidFill>
                          <a:latin typeface="Cambria Math" panose="02040503050406030204" pitchFamily="18" charset="0"/>
                        </a:rPr>
                        <m:t>2</m:t>
                      </m:r>
                    </m:oMath>
                  </m:oMathPara>
                </a14:m>
                <a:endParaRPr lang="en-US" sz="2800" b="0" dirty="0">
                  <a:solidFill>
                    <a:srgbClr val="C00000"/>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812679" y="1534180"/>
                <a:ext cx="1159356" cy="523220"/>
              </a:xfrm>
              <a:prstGeom prst="rect">
                <a:avLst/>
              </a:prstGeom>
              <a:blipFill rotWithShape="1">
                <a:blip r:embed="rId11"/>
                <a:stretch>
                  <a:fillRect l="-44" t="-4" r="31" b="-42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6973516" y="1871732"/>
                <a:ext cx="570284"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r>
                            <a:rPr lang="en-US" sz="1600" b="0" i="1">
                              <a:solidFill>
                                <a:srgbClr val="FF0000"/>
                              </a:solidFill>
                              <a:latin typeface="Cambria Math" panose="02040503050406030204" pitchFamily="18" charset="0"/>
                            </a:rPr>
                            <m:t>𝑒</m:t>
                          </m:r>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2</m:t>
                              </m:r>
                            </m:sub>
                          </m:sSub>
                        </m:den>
                      </m:f>
                    </m:oMath>
                  </m:oMathPara>
                </a14:m>
                <a:endParaRPr lang="en-US" sz="1600" dirty="0"/>
              </a:p>
            </p:txBody>
          </p:sp>
        </mc:Choice>
        <mc:Fallback>
          <p:sp>
            <p:nvSpPr>
              <p:cNvPr id="4" name="Rectangle 3"/>
              <p:cNvSpPr>
                <a:spLocks noRot="1" noChangeAspect="1" noMove="1" noResize="1" noEditPoints="1" noAdjustHandles="1" noChangeArrowheads="1" noChangeShapeType="1" noTextEdit="1"/>
              </p:cNvSpPr>
              <p:nvPr/>
            </p:nvSpPr>
            <p:spPr>
              <a:xfrm>
                <a:off x="6973516" y="1871732"/>
                <a:ext cx="570284" cy="600805"/>
              </a:xfrm>
              <a:prstGeom prst="rect">
                <a:avLst/>
              </a:prstGeom>
              <a:blipFill rotWithShape="1">
                <a:blip r:embed="rId12"/>
                <a:stretch>
                  <a:fillRect l="-102" t="-64"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5754316" y="2142395"/>
                <a:ext cx="570284"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2</m:t>
                              </m:r>
                            </m:sub>
                          </m:sSub>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1</m:t>
                              </m:r>
                            </m:sub>
                          </m:sSub>
                        </m:den>
                      </m:f>
                    </m:oMath>
                  </m:oMathPara>
                </a14:m>
                <a:endParaRPr lang="en-US" sz="1600" dirty="0"/>
              </a:p>
            </p:txBody>
          </p:sp>
        </mc:Choice>
        <mc:Fallback>
          <p:sp>
            <p:nvSpPr>
              <p:cNvPr id="6" name="Rectangle 5"/>
              <p:cNvSpPr>
                <a:spLocks noRot="1" noChangeAspect="1" noMove="1" noResize="1" noEditPoints="1" noAdjustHandles="1" noChangeArrowheads="1" noChangeShapeType="1" noTextEdit="1"/>
              </p:cNvSpPr>
              <p:nvPr/>
            </p:nvSpPr>
            <p:spPr>
              <a:xfrm>
                <a:off x="5754316" y="2142395"/>
                <a:ext cx="570284" cy="600805"/>
              </a:xfrm>
              <a:prstGeom prst="rect">
                <a:avLst/>
              </a:prstGeom>
              <a:blipFill rotWithShape="1">
                <a:blip r:embed="rId13"/>
                <a:stretch>
                  <a:fillRect l="-102" t="-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4427875" y="2142395"/>
                <a:ext cx="597215"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1</m:t>
                              </m:r>
                            </m:sub>
                          </m:sSub>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𝑤</m:t>
                              </m:r>
                            </m:e>
                            <m:sub>
                              <m:r>
                                <a:rPr lang="en-US" sz="1600" i="1">
                                  <a:solidFill>
                                    <a:srgbClr val="FF0000"/>
                                  </a:solidFill>
                                  <a:latin typeface="Cambria Math" panose="02040503050406030204" pitchFamily="18" charset="0"/>
                                </a:rPr>
                                <m:t>1</m:t>
                              </m:r>
                            </m:sub>
                          </m:sSub>
                        </m:den>
                      </m:f>
                    </m:oMath>
                  </m:oMathPara>
                </a14:m>
                <a:endParaRPr lang="en-US" sz="1600" dirty="0"/>
              </a:p>
            </p:txBody>
          </p:sp>
        </mc:Choice>
        <mc:Fallback>
          <p:sp>
            <p:nvSpPr>
              <p:cNvPr id="7" name="Rectangle 6"/>
              <p:cNvSpPr>
                <a:spLocks noRot="1" noChangeAspect="1" noMove="1" noResize="1" noEditPoints="1" noAdjustHandles="1" noChangeArrowheads="1" noChangeShapeType="1" noTextEdit="1"/>
              </p:cNvSpPr>
              <p:nvPr/>
            </p:nvSpPr>
            <p:spPr>
              <a:xfrm>
                <a:off x="4427875" y="2142395"/>
                <a:ext cx="597215" cy="600805"/>
              </a:xfrm>
              <a:prstGeom prst="rect">
                <a:avLst/>
              </a:prstGeom>
              <a:blipFill rotWithShape="1">
                <a:blip r:embed="rId14"/>
                <a:stretch>
                  <a:fillRect l="-3" t="-90" r="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Rectangle 26"/>
              <p:cNvSpPr/>
              <p:nvPr/>
            </p:nvSpPr>
            <p:spPr>
              <a:xfrm>
                <a:off x="4965385" y="1913795"/>
                <a:ext cx="581569"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r>
                            <a:rPr lang="en-US" sz="1600" i="1" smtClean="0">
                              <a:solidFill>
                                <a:srgbClr val="FF0000"/>
                              </a:solidFill>
                              <a:latin typeface="Cambria Math" panose="02040503050406030204" pitchFamily="18" charset="0"/>
                            </a:rPr>
                            <m:t>𝑒</m:t>
                          </m:r>
                        </m:num>
                        <m:den>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1</m:t>
                              </m:r>
                            </m:sub>
                          </m:sSub>
                        </m:den>
                      </m:f>
                    </m:oMath>
                  </m:oMathPara>
                </a14:m>
                <a:endParaRPr lang="en-US" sz="1600" dirty="0"/>
              </a:p>
            </p:txBody>
          </p:sp>
        </mc:Choice>
        <mc:Fallback>
          <p:sp>
            <p:nvSpPr>
              <p:cNvPr id="27" name="Rectangle 26"/>
              <p:cNvSpPr>
                <a:spLocks noRot="1" noChangeAspect="1" noMove="1" noResize="1" noEditPoints="1" noAdjustHandles="1" noChangeArrowheads="1" noChangeShapeType="1" noTextEdit="1"/>
              </p:cNvSpPr>
              <p:nvPr/>
            </p:nvSpPr>
            <p:spPr>
              <a:xfrm>
                <a:off x="4965385" y="1913795"/>
                <a:ext cx="581569" cy="600805"/>
              </a:xfrm>
              <a:prstGeom prst="rect">
                <a:avLst/>
              </a:prstGeom>
              <a:blipFill rotWithShape="1">
                <a:blip r:embed="rId15"/>
                <a:stretch>
                  <a:fillRect l="-55" t="-90" r="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3886200" y="5418995"/>
                <a:ext cx="4572000" cy="600805"/>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rPr>
                            <m:t>𝑒</m:t>
                          </m:r>
                        </m:num>
                        <m:den>
                          <m:r>
                            <a:rPr lang="en-US" sz="160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2</m:t>
                              </m:r>
                            </m:sub>
                          </m:sSub>
                        </m:den>
                      </m:f>
                      <m:r>
                        <a:rPr lang="en-US" sz="1600" i="1">
                          <a:solidFill>
                            <a:srgbClr val="FF0000"/>
                          </a:solidFill>
                          <a:latin typeface="Cambria Math" panose="02040503050406030204" pitchFamily="18" charset="0"/>
                        </a:rPr>
                        <m:t>=</m:t>
                      </m:r>
                      <m:r>
                        <a:rPr lang="en-US" sz="1600" b="1" i="1" smtClean="0">
                          <a:solidFill>
                            <a:srgbClr val="FF0000"/>
                          </a:solidFill>
                          <a:latin typeface="Cambria Math" panose="02040503050406030204" pitchFamily="18" charset="0"/>
                        </a:rPr>
                        <m:t>−</m:t>
                      </m:r>
                      <m:f>
                        <m:fPr>
                          <m:ctrlPr>
                            <a:rPr lang="en-US" sz="1600" b="0" i="1" smtClean="0">
                              <a:solidFill>
                                <a:srgbClr val="FF0000"/>
                              </a:solidFill>
                              <a:latin typeface="Cambria Math" panose="02040503050406030204" pitchFamily="18" charset="0"/>
                            </a:rPr>
                          </m:ctrlPr>
                        </m:fPr>
                        <m:num>
                          <m:r>
                            <a:rPr lang="en-US" sz="1600" b="0" i="1" smtClean="0">
                              <a:solidFill>
                                <a:srgbClr val="FF0000"/>
                              </a:solidFill>
                              <a:latin typeface="Cambria Math" panose="02040503050406030204" pitchFamily="18" charset="0"/>
                            </a:rPr>
                            <m:t>1</m:t>
                          </m:r>
                        </m:num>
                        <m:den>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2</m:t>
                              </m:r>
                            </m:sub>
                          </m:sSub>
                        </m:den>
                      </m:f>
                    </m:oMath>
                  </m:oMathPara>
                </a14:m>
                <a:endParaRPr lang="en-US" sz="1600" b="0" dirty="0"/>
              </a:p>
            </p:txBody>
          </p:sp>
        </mc:Choice>
        <mc:Fallback>
          <p:sp>
            <p:nvSpPr>
              <p:cNvPr id="10" name="Rectangle 9"/>
              <p:cNvSpPr>
                <a:spLocks noRot="1" noChangeAspect="1" noMove="1" noResize="1" noEditPoints="1" noAdjustHandles="1" noChangeArrowheads="1" noChangeShapeType="1" noTextEdit="1"/>
              </p:cNvSpPr>
              <p:nvPr/>
            </p:nvSpPr>
            <p:spPr>
              <a:xfrm>
                <a:off x="3886200" y="5418995"/>
                <a:ext cx="4572000" cy="600805"/>
              </a:xfrm>
              <a:prstGeom prst="rect">
                <a:avLst/>
              </a:prstGeom>
              <a:blipFill rotWithShape="1">
                <a:blip r:embed="rId16"/>
                <a:stretch>
                  <a:fillRect t="-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Rectangle 27"/>
              <p:cNvSpPr/>
              <p:nvPr/>
            </p:nvSpPr>
            <p:spPr>
              <a:xfrm>
                <a:off x="4038600" y="4961795"/>
                <a:ext cx="4572000" cy="600805"/>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2</m:t>
                              </m:r>
                            </m:sub>
                          </m:sSub>
                        </m:num>
                        <m:den>
                          <m:r>
                            <a:rPr lang="en-US" sz="160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1</m:t>
                              </m:r>
                            </m:sub>
                          </m:sSub>
                        </m:den>
                      </m:f>
                      <m:r>
                        <a:rPr lang="en-US" sz="1600" i="1">
                          <a:solidFill>
                            <a:srgbClr val="FF0000"/>
                          </a:solidFill>
                          <a:latin typeface="Cambria Math" panose="02040503050406030204" pitchFamily="18" charset="0"/>
                        </a:rPr>
                        <m:t>=</m:t>
                      </m:r>
                      <m:sSup>
                        <m:sSupPr>
                          <m:ctrlPr>
                            <a:rPr lang="en-US" sz="1600" b="1" i="1" smtClean="0">
                              <a:solidFill>
                                <a:srgbClr val="FF0000"/>
                              </a:solidFill>
                              <a:latin typeface="Cambria Math" panose="02040503050406030204" pitchFamily="18" charset="0"/>
                              <a:ea typeface="Cambria Math" panose="02040503050406030204" pitchFamily="18" charset="0"/>
                            </a:rPr>
                          </m:ctrlPr>
                        </m:sSupPr>
                        <m:e>
                          <m:r>
                            <a:rPr lang="en-US" sz="1600" b="1" i="1" smtClean="0">
                              <a:solidFill>
                                <a:srgbClr val="FF0000"/>
                              </a:solidFill>
                              <a:latin typeface="Cambria Math" panose="02040503050406030204" pitchFamily="18" charset="0"/>
                              <a:ea typeface="Cambria Math" panose="02040503050406030204" pitchFamily="18" charset="0"/>
                            </a:rPr>
                            <m:t>𝜎</m:t>
                          </m:r>
                        </m:e>
                        <m:sup>
                          <m:r>
                            <a:rPr lang="en-US" sz="1600" b="1" i="1" smtClean="0">
                              <a:solidFill>
                                <a:srgbClr val="FF0000"/>
                              </a:solidFill>
                              <a:latin typeface="Cambria Math" panose="02040503050406030204" pitchFamily="18" charset="0"/>
                              <a:ea typeface="Cambria Math" panose="02040503050406030204" pitchFamily="18" charset="0"/>
                            </a:rPr>
                            <m:t>′</m:t>
                          </m:r>
                        </m:sup>
                      </m:sSup>
                      <m:d>
                        <m:dPr>
                          <m:ctrlPr>
                            <a:rPr lang="en-US" sz="1600" b="1" i="1" smtClean="0">
                              <a:solidFill>
                                <a:srgbClr val="FF0000"/>
                              </a:solidFill>
                              <a:latin typeface="Cambria Math" panose="02040503050406030204" pitchFamily="18" charset="0"/>
                              <a:ea typeface="Cambria Math" panose="02040503050406030204" pitchFamily="18" charset="0"/>
                            </a:rPr>
                          </m:ctrlPr>
                        </m:dPr>
                        <m:e>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ea typeface="Cambria Math" panose="02040503050406030204" pitchFamily="18" charset="0"/>
                        </a:rPr>
                        <m:t>𝜎</m:t>
                      </m:r>
                      <m:d>
                        <m:dPr>
                          <m:ctrlPr>
                            <a:rPr lang="en-US" sz="1600" i="1">
                              <a:solidFill>
                                <a:srgbClr val="FF0000"/>
                              </a:solidFill>
                              <a:latin typeface="Cambria Math" panose="02040503050406030204" pitchFamily="18" charset="0"/>
                              <a:ea typeface="Cambria Math" panose="02040503050406030204" pitchFamily="18" charset="0"/>
                            </a:rPr>
                          </m:ctrlPr>
                        </m:dPr>
                        <m:e>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1</m:t>
                              </m:r>
                            </m:sub>
                          </m:sSub>
                        </m:e>
                      </m:d>
                      <m:r>
                        <a:rPr lang="en-US" sz="1600" b="1"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1</m:t>
                      </m:r>
                      <m:r>
                        <a:rPr lang="en-US" sz="1600" b="0" i="1" smtClean="0">
                          <a:solidFill>
                            <a:srgbClr val="FF0000"/>
                          </a:solidFill>
                          <a:latin typeface="Cambria Math" panose="02040503050406030204" pitchFamily="18" charset="0"/>
                        </a:rPr>
                        <m:t>−</m:t>
                      </m:r>
                      <m:r>
                        <a:rPr lang="en-US" sz="1600" b="0" i="1">
                          <a:solidFill>
                            <a:srgbClr val="FF0000"/>
                          </a:solidFill>
                          <a:latin typeface="Cambria Math" panose="02040503050406030204" pitchFamily="18" charset="0"/>
                          <a:ea typeface="Cambria Math" panose="02040503050406030204" pitchFamily="18" charset="0"/>
                        </a:rPr>
                        <m:t>𝜎</m:t>
                      </m:r>
                      <m:d>
                        <m:dPr>
                          <m:ctrlPr>
                            <a:rPr lang="en-US" sz="1600" b="0" i="1">
                              <a:solidFill>
                                <a:srgbClr val="FF0000"/>
                              </a:solidFill>
                              <a:latin typeface="Cambria Math" panose="02040503050406030204" pitchFamily="18" charset="0"/>
                              <a:ea typeface="Cambria Math" panose="02040503050406030204" pitchFamily="18" charset="0"/>
                            </a:rPr>
                          </m:ctrlPr>
                        </m:dPr>
                        <m:e>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oMath>
                  </m:oMathPara>
                </a14:m>
                <a:endParaRPr lang="en-US" sz="1600" b="0" dirty="0"/>
              </a:p>
            </p:txBody>
          </p:sp>
        </mc:Choice>
        <mc:Fallback>
          <p:sp>
            <p:nvSpPr>
              <p:cNvPr id="28" name="Rectangle 27"/>
              <p:cNvSpPr>
                <a:spLocks noRot="1" noChangeAspect="1" noMove="1" noResize="1" noEditPoints="1" noAdjustHandles="1" noChangeArrowheads="1" noChangeShapeType="1" noTextEdit="1"/>
              </p:cNvSpPr>
              <p:nvPr/>
            </p:nvSpPr>
            <p:spPr>
              <a:xfrm>
                <a:off x="4038600" y="4961795"/>
                <a:ext cx="4572000" cy="600805"/>
              </a:xfrm>
              <a:prstGeom prst="rect">
                <a:avLst/>
              </a:prstGeom>
              <a:blipFill rotWithShape="1">
                <a:blip r:embed="rId17"/>
                <a:stretch>
                  <a:fillRect t="-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Rectangle 28"/>
              <p:cNvSpPr/>
              <p:nvPr/>
            </p:nvSpPr>
            <p:spPr>
              <a:xfrm>
                <a:off x="4495800" y="4504595"/>
                <a:ext cx="3048000" cy="60080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FF0000"/>
                              </a:solidFill>
                              <a:latin typeface="Cambria Math" panose="02040503050406030204" pitchFamily="18" charset="0"/>
                            </a:rPr>
                          </m:ctrlPr>
                        </m:fPr>
                        <m:num>
                          <m:r>
                            <a:rPr lang="en-US" sz="160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1</m:t>
                              </m:r>
                            </m:sub>
                          </m:sSub>
                        </m:num>
                        <m:den>
                          <m:r>
                            <a:rPr lang="en-US" sz="160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en>
                      </m:f>
                      <m:r>
                        <a:rPr lang="en-US" sz="1600" i="1">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ea typeface="Cambria Math" panose="02040503050406030204" pitchFamily="18" charset="0"/>
                        </a:rPr>
                        <m:t>𝑥</m:t>
                      </m:r>
                    </m:oMath>
                  </m:oMathPara>
                </a14:m>
                <a:endParaRPr lang="en-US" sz="1600" b="0" dirty="0"/>
              </a:p>
            </p:txBody>
          </p:sp>
        </mc:Choice>
        <mc:Fallback>
          <p:sp>
            <p:nvSpPr>
              <p:cNvPr id="29" name="Rectangle 28"/>
              <p:cNvSpPr>
                <a:spLocks noRot="1" noChangeAspect="1" noMove="1" noResize="1" noEditPoints="1" noAdjustHandles="1" noChangeArrowheads="1" noChangeShapeType="1" noTextEdit="1"/>
              </p:cNvSpPr>
              <p:nvPr/>
            </p:nvSpPr>
            <p:spPr>
              <a:xfrm>
                <a:off x="4495800" y="4504595"/>
                <a:ext cx="3048000" cy="600805"/>
              </a:xfrm>
              <a:prstGeom prst="rect">
                <a:avLst/>
              </a:prstGeom>
              <a:blipFill rotWithShape="1">
                <a:blip r:embed="rId18"/>
                <a:stretch>
                  <a:fillRect t="-90"/>
                </a:stretch>
              </a:blipFill>
            </p:spPr>
            <p:txBody>
              <a:bodyPr/>
              <a:lstStyle/>
              <a:p>
                <a:r>
                  <a:rPr lang="zh-CN" altLang="en-US">
                    <a:noFill/>
                  </a:rPr>
                  <a:t> </a:t>
                </a:r>
              </a:p>
            </p:txBody>
          </p:sp>
        </mc:Fallback>
      </mc:AlternateContent>
      <p:sp>
        <p:nvSpPr>
          <p:cNvPr id="40" name="Oval 39"/>
          <p:cNvSpPr/>
          <p:nvPr/>
        </p:nvSpPr>
        <p:spPr bwMode="auto">
          <a:xfrm>
            <a:off x="3958146" y="936962"/>
            <a:ext cx="478459" cy="309253"/>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P spid="4" grpId="0"/>
      <p:bldP spid="6" grpId="0"/>
      <p:bldP spid="7" grpId="0"/>
      <p:bldP spid="27" grpId="0"/>
      <p:bldP spid="10" grpId="0"/>
      <p:bldP spid="28" grpId="0"/>
      <p:bldP spid="29" grpId="0"/>
      <p:bldP spid="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bwMode="auto">
          <a:xfrm>
            <a:off x="21533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a:off x="4210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972748"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p:cNvCxnSpPr/>
          <p:nvPr/>
        </p:nvCxnSpPr>
        <p:spPr bwMode="auto">
          <a:xfrm>
            <a:off x="6971485" y="1785152"/>
            <a:ext cx="50602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Chain rule</a:t>
            </a:r>
            <a:endParaRPr lang="en-US" dirty="0"/>
          </a:p>
        </p:txBody>
      </p:sp>
      <mc:AlternateContent xmlns:mc="http://schemas.openxmlformats.org/markup-compatibility/2006">
        <mc:Choice xmlns:a14="http://schemas.microsoft.com/office/drawing/2010/main" Requires="a14">
          <p:sp>
            <p:nvSpPr>
              <p:cNvPr id="23" name="Content Placeholder 22"/>
              <p:cNvSpPr>
                <a:spLocks noGrp="1"/>
              </p:cNvSpPr>
              <p:nvPr>
                <p:ph idx="1"/>
              </p:nvPr>
            </p:nvSpPr>
            <p:spPr>
              <a:xfrm>
                <a:off x="609600" y="3087109"/>
                <a:ext cx="7772400" cy="1611298"/>
              </a:xfrm>
            </p:spPr>
            <p:txBody>
              <a:bodyPr/>
              <a:lstStyle/>
              <a:p>
                <a:r>
                  <a:rPr lang="en-US" b="0" dirty="0">
                    <a:solidFill>
                      <a:schemeClr val="tx1"/>
                    </a:solidFill>
                  </a:rPr>
                  <a:t>General case:</a:t>
                </a:r>
                <a:r>
                  <a:rPr lang="en-US" dirty="0"/>
                  <a:t> </a:t>
                </a:r>
                <a:endParaRPr lang="en-US" dirty="0"/>
              </a:p>
              <a:p>
                <a:endParaRPr lang="en-US" sz="1400" dirty="0"/>
              </a:p>
              <a:p>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𝑘</m:t>
                              </m:r>
                            </m:sub>
                          </m:sSub>
                        </m:den>
                      </m:f>
                      <m:r>
                        <a:rPr lang="en-US" b="0" i="1" smtClean="0">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f>
                        <m:fPr>
                          <m:ctrlPr>
                            <a:rPr lang="en-US" i="1" smtClean="0">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i="1">
                                  <a:solidFill>
                                    <a:srgbClr val="C00000"/>
                                  </a:solidFill>
                                  <a:latin typeface="Cambria Math" panose="02040503050406030204" pitchFamily="18" charset="0"/>
                                </a:rPr>
                                <m:t>𝐾</m:t>
                              </m:r>
                            </m:sub>
                          </m:sSub>
                        </m:den>
                      </m:f>
                      <m:r>
                        <m:rPr>
                          <m:nor/>
                        </m:rPr>
                        <a:rPr lang="en-US" dirty="0">
                          <a:solidFill>
                            <a:srgbClr val="C00000"/>
                          </a:solidFill>
                          <a:latin typeface="DejaVu Math TeX Gyre" panose="02000503000000000000" charset="0"/>
                        </a:rPr>
                        <m:t> </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i="1">
                                  <a:solidFill>
                                    <a:srgbClr val="C00000"/>
                                  </a:solidFill>
                                  <a:latin typeface="Cambria Math" panose="02040503050406030204" pitchFamily="18" charset="0"/>
                                </a:rPr>
                                <m:t>𝐾</m:t>
                              </m:r>
                            </m:sub>
                          </m:sSub>
                        </m:num>
                        <m:den>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i="1">
                                  <a:solidFill>
                                    <a:srgbClr val="C00000"/>
                                  </a:solidFill>
                                  <a:latin typeface="Cambria Math" panose="02040503050406030204" pitchFamily="18" charset="0"/>
                                </a:rPr>
                                <m:t>𝐾</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1</m:t>
                              </m:r>
                            </m:sub>
                          </m:sSub>
                        </m:den>
                      </m:f>
                      <m:r>
                        <m:rPr>
                          <m:nor/>
                        </m:rPr>
                        <a:rPr lang="en-US" dirty="0">
                          <a:solidFill>
                            <a:srgbClr val="C00000"/>
                          </a:solidFill>
                          <a:latin typeface="DejaVu Math TeX Gyre" panose="02000503000000000000" charset="0"/>
                        </a:rPr>
                        <m:t> </m:t>
                      </m:r>
                      <m:r>
                        <a:rPr lang="en-US" b="0" i="1" smtClean="0">
                          <a:solidFill>
                            <a:srgbClr val="C00000"/>
                          </a:solidFill>
                          <a:latin typeface="Cambria Math" panose="02040503050406030204" pitchFamily="18" charset="0"/>
                        </a:rPr>
                        <m:t>… </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b="0" i="1" smtClean="0">
                                  <a:solidFill>
                                    <a:srgbClr val="C00000"/>
                                  </a:solidFill>
                                  <a:latin typeface="Cambria Math" panose="02040503050406030204" pitchFamily="18" charset="0"/>
                                </a:rPr>
                                <m:t>𝑘</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1</m:t>
                              </m:r>
                            </m:sub>
                          </m:sSub>
                        </m:num>
                        <m:den>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b="0" i="1" smtClean="0">
                                  <a:solidFill>
                                    <a:srgbClr val="C00000"/>
                                  </a:solidFill>
                                  <a:latin typeface="Cambria Math" panose="02040503050406030204" pitchFamily="18" charset="0"/>
                                </a:rPr>
                                <m:t>𝑘</m:t>
                              </m:r>
                            </m:sub>
                          </m:sSub>
                        </m:den>
                      </m:f>
                      <m:r>
                        <a:rPr lang="en-US" b="0" i="1" smtClean="0">
                          <a:solidFill>
                            <a:srgbClr val="FF0000"/>
                          </a:solidFill>
                          <a:latin typeface="Cambria Math" panose="02040503050406030204" pitchFamily="18" charset="0"/>
                        </a:rPr>
                        <m:t>  </m:t>
                      </m:r>
                      <m:f>
                        <m:fPr>
                          <m:ctrlPr>
                            <a:rPr lang="en-US" i="1" smtClean="0">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ℎ</m:t>
                              </m:r>
                            </m:e>
                            <m:sub>
                              <m:r>
                                <a:rPr lang="en-US" b="0" i="1" smtClean="0">
                                  <a:solidFill>
                                    <a:srgbClr val="9900CC"/>
                                  </a:solidFill>
                                  <a:latin typeface="Cambria Math" panose="02040503050406030204" pitchFamily="18" charset="0"/>
                                </a:rPr>
                                <m:t>𝑘</m:t>
                              </m:r>
                            </m:sub>
                          </m:sSub>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𝑤</m:t>
                              </m:r>
                            </m:e>
                            <m:sub>
                              <m:r>
                                <a:rPr lang="en-US" b="0" i="1" smtClean="0">
                                  <a:solidFill>
                                    <a:srgbClr val="9900CC"/>
                                  </a:solidFill>
                                  <a:latin typeface="Cambria Math" panose="02040503050406030204" pitchFamily="18" charset="0"/>
                                </a:rPr>
                                <m:t>𝑘</m:t>
                              </m:r>
                            </m:sub>
                          </m:sSub>
                        </m:den>
                      </m:f>
                    </m:oMath>
                  </m:oMathPara>
                </a14:m>
                <a:endParaRPr lang="en-US" dirty="0">
                  <a:solidFill>
                    <a:srgbClr val="FF0000"/>
                  </a:solidFill>
                </a:endParaRPr>
              </a:p>
            </p:txBody>
          </p:sp>
        </mc:Choice>
        <mc:Fallback>
          <p:sp>
            <p:nvSpPr>
              <p:cNvPr id="23" name="Content Placeholder 22"/>
              <p:cNvSpPr>
                <a:spLocks noRot="1" noChangeAspect="1" noMove="1" noResize="1" noEditPoints="1" noAdjustHandles="1" noChangeArrowheads="1" noChangeShapeType="1" noTextEdit="1"/>
              </p:cNvSpPr>
              <p:nvPr>
                <p:ph idx="1"/>
              </p:nvPr>
            </p:nvSpPr>
            <p:spPr>
              <a:xfrm>
                <a:off x="609600" y="3087109"/>
                <a:ext cx="7772400" cy="1611298"/>
              </a:xfrm>
              <a:blipFill rotWithShape="1">
                <a:blip r:embed="rId1"/>
                <a:stretch>
                  <a:fillRect t="-23"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bwMode="auto">
              <a:xfrm>
                <a:off x="2652909" y="1447800"/>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𝑘</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𝑘</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lang="en-US" sz="1800" b="0" i="1">
                          <a:latin typeface="Cambria Math" panose="02040503050406030204" pitchFamily="18" charset="0"/>
                        </a:rPr>
                        <m:t>,</m:t>
                      </m:r>
                      <m:sSub>
                        <m:sSubPr>
                          <m:ctrlPr>
                            <a:rPr lang="en-US" sz="1800" b="0" i="1">
                              <a:latin typeface="Cambria Math" panose="02040503050406030204" pitchFamily="18" charset="0"/>
                            </a:rPr>
                          </m:ctrlPr>
                        </m:sSubPr>
                        <m:e>
                          <m:r>
                            <a:rPr lang="en-US" sz="1800" b="0" i="1">
                              <a:latin typeface="Cambria Math" panose="02040503050406030204" pitchFamily="18" charset="0"/>
                            </a:rPr>
                            <m:t>𝑤</m:t>
                          </m:r>
                        </m:e>
                        <m:sub>
                          <m:r>
                            <a:rPr lang="en-US" sz="1800" b="0" i="1" smtClean="0">
                              <a:latin typeface="Cambria Math" panose="02040503050406030204" pitchFamily="18" charset="0"/>
                            </a:rPr>
                            <m:t>𝑘</m:t>
                          </m:r>
                        </m:sub>
                      </m:sSub>
                      <m:r>
                        <a:rPr lang="en-US" sz="1800" b="0" i="1">
                          <a:latin typeface="Cambria Math" panose="02040503050406030204" pitchFamily="18"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9" name="Oval 8"/>
              <p:cNvSpPr>
                <a:spLocks noRot="1" noChangeAspect="1" noMove="1" noResize="1" noEditPoints="1" noAdjustHandles="1" noChangeArrowheads="1" noChangeShapeType="1" noTextEdit="1"/>
              </p:cNvSpPr>
              <p:nvPr/>
            </p:nvSpPr>
            <p:spPr bwMode="auto">
              <a:xfrm>
                <a:off x="2652909" y="1447800"/>
                <a:ext cx="1611691" cy="674703"/>
              </a:xfrm>
              <a:prstGeom prst="ellipse">
                <a:avLst/>
              </a:prstGeom>
              <a:blipFill rotWithShape="1">
                <a:blip r:embed="rId2"/>
                <a:stretch>
                  <a:fillRect l="-426" t="-941" r="-358"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val 11"/>
              <p:cNvSpPr/>
              <p:nvPr/>
            </p:nvSpPr>
            <p:spPr bwMode="auto">
              <a:xfrm>
                <a:off x="5467284" y="1458897"/>
                <a:ext cx="1611691" cy="674703"/>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
                    </m:oMathParaPr>
                    <m:oMath xmlns:m="http://schemas.openxmlformats.org/officeDocument/2006/math">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𝑓</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1</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𝑤</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2" name="Oval 11"/>
              <p:cNvSpPr>
                <a:spLocks noRot="1" noChangeAspect="1" noMove="1" noResize="1" noEditPoints="1" noAdjustHandles="1" noChangeArrowheads="1" noChangeShapeType="1" noTextEdit="1"/>
              </p:cNvSpPr>
              <p:nvPr/>
            </p:nvSpPr>
            <p:spPr bwMode="auto">
              <a:xfrm>
                <a:off x="5467284" y="1458897"/>
                <a:ext cx="1611691" cy="674703"/>
              </a:xfrm>
              <a:prstGeom prst="ellipse">
                <a:avLst/>
              </a:prstGeom>
              <a:blipFill rotWithShape="1">
                <a:blip r:embed="rId3"/>
                <a:stretch>
                  <a:fillRect l="-429" t="-986" r="-355" b="-847"/>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val 14"/>
              <p:cNvSpPr/>
              <p:nvPr/>
            </p:nvSpPr>
            <p:spPr bwMode="auto">
              <a:xfrm>
                <a:off x="7477512" y="1447800"/>
                <a:ext cx="1049263" cy="674703"/>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𝑙</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ctrlPr>
                        </m:sSubPr>
                        <m:e>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ℎ</m:t>
                          </m:r>
                        </m:e>
                        <m: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𝐾</m:t>
                          </m:r>
                        </m:sub>
                      </m:sSub>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𝑦</m:t>
                      </m:r>
                      <m:r>
                        <a:rPr kumimoji="0" lang="en-US" sz="1800" b="0" i="1" u="none" strike="noStrike" cap="none" normalizeH="0" baseline="0" smtClean="0">
                          <a:ln>
                            <a:noFill/>
                          </a:ln>
                          <a:solidFill>
                            <a:schemeClr val="tx1"/>
                          </a:solidFill>
                          <a:effectLst/>
                          <a:latin typeface="Cambria Math" panose="02040503050406030204" pitchFamily="18" charset="0"/>
                          <a:cs typeface="Arial" panose="020B0604020202090204" pitchFamily="34" charset="0"/>
                        </a:rPr>
                        <m:t>)</m:t>
                      </m:r>
                    </m:oMath>
                  </m:oMathPara>
                </a14:m>
                <a:endParaRPr kumimoji="0" lang="en-US" sz="1800" b="0" i="0" u="none" strike="noStrike" cap="none" normalizeH="0" baseline="0" dirty="0">
                  <a:ln>
                    <a:noFill/>
                  </a:ln>
                  <a:solidFill>
                    <a:schemeClr val="tx1"/>
                  </a:solidFill>
                  <a:effectLst/>
                  <a:cs typeface="Arial" panose="020B0604020202090204" pitchFamily="34" charset="0"/>
                </a:endParaRPr>
              </a:p>
            </p:txBody>
          </p:sp>
        </mc:Choice>
        <mc:Fallback>
          <p:sp>
            <p:nvSpPr>
              <p:cNvPr id="15" name="Oval 14"/>
              <p:cNvSpPr>
                <a:spLocks noRot="1" noChangeAspect="1" noMove="1" noResize="1" noEditPoints="1" noAdjustHandles="1" noChangeArrowheads="1" noChangeShapeType="1" noTextEdit="1"/>
              </p:cNvSpPr>
              <p:nvPr/>
            </p:nvSpPr>
            <p:spPr bwMode="auto">
              <a:xfrm>
                <a:off x="7477512" y="1447800"/>
                <a:ext cx="1049263" cy="674703"/>
              </a:xfrm>
              <a:prstGeom prst="ellipse">
                <a:avLst/>
              </a:prstGeom>
              <a:blipFill rotWithShape="1">
                <a:blip r:embed="rId4"/>
                <a:stretch>
                  <a:fillRect l="-642" t="-941" r="-545" b="-892"/>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16" name="Straight Arrow Connector 15"/>
          <p:cNvCxnSpPr/>
          <p:nvPr/>
        </p:nvCxnSpPr>
        <p:spPr bwMode="auto">
          <a:xfrm>
            <a:off x="8526775" y="1785152"/>
            <a:ext cx="304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7" name="Rectangle 16"/>
              <p:cNvSpPr/>
              <p:nvPr/>
            </p:nvSpPr>
            <p:spPr>
              <a:xfrm>
                <a:off x="2092459" y="1383268"/>
                <a:ext cx="71372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1</m:t>
                          </m:r>
                        </m:sub>
                      </m:sSub>
                    </m:oMath>
                  </m:oMathPara>
                </a14:m>
                <a:endParaRPr lang="en-US" sz="1800" dirty="0"/>
              </a:p>
            </p:txBody>
          </p:sp>
        </mc:Choice>
        <mc:Fallback>
          <p:sp>
            <p:nvSpPr>
              <p:cNvPr id="17" name="Rectangle 16"/>
              <p:cNvSpPr>
                <a:spLocks noRot="1" noChangeAspect="1" noMove="1" noResize="1" noEditPoints="1" noAdjustHandles="1" noChangeArrowheads="1" noChangeShapeType="1" noTextEdit="1"/>
              </p:cNvSpPr>
              <p:nvPr/>
            </p:nvSpPr>
            <p:spPr>
              <a:xfrm>
                <a:off x="2092459" y="1383268"/>
                <a:ext cx="713722" cy="369332"/>
              </a:xfrm>
              <a:prstGeom prst="rect">
                <a:avLst/>
              </a:prstGeom>
              <a:blipFill rotWithShape="1">
                <a:blip r:embed="rId5"/>
                <a:stretch>
                  <a:fillRect l="-19" t="-64" r="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4151338" y="1307068"/>
                <a:ext cx="49411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𝑘</m:t>
                          </m:r>
                        </m:sub>
                      </m:sSub>
                    </m:oMath>
                  </m:oMathPara>
                </a14:m>
                <a:endParaRPr lang="en-US" sz="1800" dirty="0"/>
              </a:p>
            </p:txBody>
          </p:sp>
        </mc:Choice>
        <mc:Fallback>
          <p:sp>
            <p:nvSpPr>
              <p:cNvPr id="18" name="Rectangle 17"/>
              <p:cNvSpPr>
                <a:spLocks noRot="1" noChangeAspect="1" noMove="1" noResize="1" noEditPoints="1" noAdjustHandles="1" noChangeArrowheads="1" noChangeShapeType="1" noTextEdit="1"/>
              </p:cNvSpPr>
              <p:nvPr/>
            </p:nvSpPr>
            <p:spPr>
              <a:xfrm>
                <a:off x="4151338" y="1307068"/>
                <a:ext cx="494110" cy="369332"/>
              </a:xfrm>
              <a:prstGeom prst="rect">
                <a:avLst/>
              </a:prstGeom>
              <a:blipFill rotWithShape="1">
                <a:blip r:embed="rId6"/>
                <a:stretch>
                  <a:fillRect l="-69" t="-64" r="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a:off x="4792975" y="1295400"/>
                <a:ext cx="73308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r>
                            <a:rPr lang="en-US" sz="1800" b="0" i="1" smtClean="0">
                              <a:latin typeface="Cambria Math" panose="02040503050406030204" pitchFamily="18" charset="0"/>
                            </a:rPr>
                            <m:t>−</m:t>
                          </m:r>
                          <m:r>
                            <a:rPr lang="en-US" sz="1800" b="0" i="1" smtClean="0">
                              <a:latin typeface="Cambria Math" panose="02040503050406030204" pitchFamily="18" charset="0"/>
                            </a:rPr>
                            <m:t>1</m:t>
                          </m:r>
                        </m:sub>
                      </m:sSub>
                    </m:oMath>
                  </m:oMathPara>
                </a14:m>
                <a:endParaRPr lang="en-US" sz="1800" dirty="0"/>
              </a:p>
            </p:txBody>
          </p:sp>
        </mc:Choice>
        <mc:Fallback>
          <p:sp>
            <p:nvSpPr>
              <p:cNvPr id="19" name="Rectangle 18"/>
              <p:cNvSpPr>
                <a:spLocks noRot="1" noChangeAspect="1" noMove="1" noResize="1" noEditPoints="1" noAdjustHandles="1" noChangeArrowheads="1" noChangeShapeType="1" noTextEdit="1"/>
              </p:cNvSpPr>
              <p:nvPr/>
            </p:nvSpPr>
            <p:spPr>
              <a:xfrm>
                <a:off x="4792975" y="1295400"/>
                <a:ext cx="733085" cy="369332"/>
              </a:xfrm>
              <a:prstGeom prst="rect">
                <a:avLst/>
              </a:prstGeom>
              <a:blipFill rotWithShape="1">
                <a:blip r:embed="rId7"/>
                <a:stretch>
                  <a:fillRect l="-86" r="40"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7098901" y="1295400"/>
                <a:ext cx="513474"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r>
                            <a:rPr lang="en-US" sz="1800" b="0" i="1" smtClean="0">
                              <a:latin typeface="Cambria Math" panose="02040503050406030204" pitchFamily="18" charset="0"/>
                            </a:rPr>
                            <m:t>𝐾</m:t>
                          </m:r>
                        </m:sub>
                      </m:sSub>
                    </m:oMath>
                  </m:oMathPara>
                </a14:m>
                <a:endParaRPr lang="en-US" sz="1800" dirty="0"/>
              </a:p>
            </p:txBody>
          </p:sp>
        </mc:Choice>
        <mc:Fallback>
          <p:sp>
            <p:nvSpPr>
              <p:cNvPr id="20" name="Rectangle 19"/>
              <p:cNvSpPr>
                <a:spLocks noRot="1" noChangeAspect="1" noMove="1" noResize="1" noEditPoints="1" noAdjustHandles="1" noChangeArrowheads="1" noChangeShapeType="1" noTextEdit="1"/>
              </p:cNvSpPr>
              <p:nvPr/>
            </p:nvSpPr>
            <p:spPr>
              <a:xfrm>
                <a:off x="7098901" y="1295400"/>
                <a:ext cx="513474" cy="369332"/>
              </a:xfrm>
              <a:prstGeom prst="rect">
                <a:avLst/>
              </a:prstGeom>
              <a:blipFill rotWithShape="1">
                <a:blip r:embed="rId8"/>
                <a:stretch>
                  <a:fillRect l="-46" r="123"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8831575" y="1611868"/>
                <a:ext cx="367665"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m:t>
                      </m:r>
                    </m:oMath>
                  </m:oMathPara>
                </a14:m>
                <a:endParaRPr lang="en-US" sz="1800" dirty="0"/>
              </a:p>
            </p:txBody>
          </p:sp>
        </mc:Choice>
        <mc:Fallback>
          <p:sp>
            <p:nvSpPr>
              <p:cNvPr id="21" name="Rectangle 20"/>
              <p:cNvSpPr>
                <a:spLocks noRot="1" noChangeAspect="1" noMove="1" noResize="1" noEditPoints="1" noAdjustHandles="1" noChangeArrowheads="1" noChangeShapeType="1" noTextEdit="1"/>
              </p:cNvSpPr>
              <p:nvPr/>
            </p:nvSpPr>
            <p:spPr>
              <a:xfrm>
                <a:off x="8831575" y="1611868"/>
                <a:ext cx="367665" cy="369332"/>
              </a:xfrm>
              <a:prstGeom prst="rect">
                <a:avLst/>
              </a:prstGeom>
              <a:blipFill rotWithShape="1">
                <a:blip r:embed="rId9"/>
                <a:stretch>
                  <a:fillRect l="-171" t="-64" r="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3186996" y="5054598"/>
                <a:ext cx="2985204" cy="1346202"/>
              </a:xfrm>
              <a:prstGeom prst="rect">
                <a:avLst/>
              </a:prstGeom>
            </p:spPr>
            <p:txBody>
              <a:bodyPr wrap="square">
                <a:spAutoFit/>
              </a:bodyPr>
              <a:lstStyle/>
              <a:p>
                <a:pPr algn="ctr"/>
                <a:r>
                  <a:rPr lang="en-US" b="0" dirty="0">
                    <a:solidFill>
                      <a:srgbClr val="C00000"/>
                    </a:solidFill>
                  </a:rPr>
                  <a:t>Upstream gradient </a:t>
                </a:r>
                <a14:m>
                  <m:oMath xmlns:m="http://schemas.openxmlformats.org/officeDocument/2006/math">
                    <m:f>
                      <m:fPr>
                        <m:ctrlPr>
                          <a:rPr lang="en-US" sz="3600" b="0" i="1" smtClean="0">
                            <a:solidFill>
                              <a:srgbClr val="C00000"/>
                            </a:solidFill>
                            <a:latin typeface="Cambria Math" panose="02040503050406030204" pitchFamily="18" charset="0"/>
                          </a:rPr>
                        </m:ctrlPr>
                      </m:fPr>
                      <m:num>
                        <m:r>
                          <a:rPr lang="en-US" sz="3600" b="0" i="1">
                            <a:solidFill>
                              <a:srgbClr val="C00000"/>
                            </a:solidFill>
                            <a:latin typeface="Cambria Math" panose="02040503050406030204" pitchFamily="18" charset="0"/>
                          </a:rPr>
                          <m:t>𝜕</m:t>
                        </m:r>
                        <m:r>
                          <a:rPr lang="en-US" sz="3600" b="0" i="1" smtClean="0">
                            <a:solidFill>
                              <a:srgbClr val="C00000"/>
                            </a:solidFill>
                            <a:latin typeface="Cambria Math" panose="02040503050406030204" pitchFamily="18" charset="0"/>
                          </a:rPr>
                          <m:t>𝑒</m:t>
                        </m:r>
                      </m:num>
                      <m:den>
                        <m:r>
                          <a:rPr lang="en-US" sz="3600" b="0" i="1">
                            <a:solidFill>
                              <a:srgbClr val="C00000"/>
                            </a:solidFill>
                            <a:latin typeface="Cambria Math" panose="02040503050406030204" pitchFamily="18" charset="0"/>
                          </a:rPr>
                          <m:t>𝜕</m:t>
                        </m:r>
                        <m:sSub>
                          <m:sSubPr>
                            <m:ctrlPr>
                              <a:rPr lang="en-US" sz="3600" b="0" i="1">
                                <a:solidFill>
                                  <a:srgbClr val="C00000"/>
                                </a:solidFill>
                                <a:latin typeface="Cambria Math" panose="02040503050406030204" pitchFamily="18" charset="0"/>
                              </a:rPr>
                            </m:ctrlPr>
                          </m:sSubPr>
                          <m:e>
                            <m:r>
                              <a:rPr lang="en-US" sz="3600" b="0" i="1" smtClean="0">
                                <a:solidFill>
                                  <a:srgbClr val="C00000"/>
                                </a:solidFill>
                                <a:latin typeface="Cambria Math" panose="02040503050406030204" pitchFamily="18" charset="0"/>
                              </a:rPr>
                              <m:t>ℎ</m:t>
                            </m:r>
                          </m:e>
                          <m:sub>
                            <m:r>
                              <a:rPr lang="en-US" sz="3600" b="0" i="1">
                                <a:solidFill>
                                  <a:srgbClr val="C00000"/>
                                </a:solidFill>
                                <a:latin typeface="Cambria Math" panose="02040503050406030204" pitchFamily="18" charset="0"/>
                              </a:rPr>
                              <m:t>𝑘</m:t>
                            </m:r>
                          </m:sub>
                        </m:sSub>
                      </m:den>
                    </m:f>
                  </m:oMath>
                </a14:m>
                <a:r>
                  <a:rPr lang="en-US" sz="3600" b="0" dirty="0">
                    <a:solidFill>
                      <a:srgbClr val="C00000"/>
                    </a:solidFill>
                  </a:rPr>
                  <a:t> </a:t>
                </a:r>
                <a:endParaRPr lang="en-US" sz="3600" b="0" dirty="0"/>
              </a:p>
            </p:txBody>
          </p:sp>
        </mc:Choice>
        <mc:Fallback>
          <p:sp>
            <p:nvSpPr>
              <p:cNvPr id="4" name="Rectangle 3"/>
              <p:cNvSpPr>
                <a:spLocks noRot="1" noChangeAspect="1" noMove="1" noResize="1" noEditPoints="1" noAdjustHandles="1" noChangeArrowheads="1" noChangeShapeType="1" noTextEdit="1"/>
              </p:cNvSpPr>
              <p:nvPr/>
            </p:nvSpPr>
            <p:spPr>
              <a:xfrm>
                <a:off x="3186996" y="5054598"/>
                <a:ext cx="2985204" cy="1346202"/>
              </a:xfrm>
              <a:prstGeom prst="rect">
                <a:avLst/>
              </a:prstGeom>
              <a:blipFill rotWithShape="1">
                <a:blip r:embed="rId10"/>
                <a:stretch>
                  <a:fillRect l="-19" t="-47"/>
                </a:stretch>
              </a:blipFill>
            </p:spPr>
            <p:txBody>
              <a:bodyPr/>
              <a:lstStyle/>
              <a:p>
                <a:r>
                  <a:rPr lang="zh-CN" altLang="en-US">
                    <a:noFill/>
                  </a:rPr>
                  <a:t> </a:t>
                </a:r>
              </a:p>
            </p:txBody>
          </p:sp>
        </mc:Fallback>
      </mc:AlternateContent>
      <p:sp>
        <p:nvSpPr>
          <p:cNvPr id="35" name="TextBox 34"/>
          <p:cNvSpPr txBox="1"/>
          <p:nvPr/>
        </p:nvSpPr>
        <p:spPr>
          <a:xfrm>
            <a:off x="4612957" y="1676400"/>
            <a:ext cx="492443" cy="461665"/>
          </a:xfrm>
          <a:prstGeom prst="rect">
            <a:avLst/>
          </a:prstGeom>
          <a:noFill/>
        </p:spPr>
        <p:txBody>
          <a:bodyPr wrap="none" rtlCol="0">
            <a:spAutoFit/>
          </a:bodyPr>
          <a:lstStyle/>
          <a:p>
            <a:r>
              <a:rPr lang="en-US" dirty="0"/>
              <a:t>…</a:t>
            </a:r>
            <a:endParaRPr lang="en-US" dirty="0"/>
          </a:p>
        </p:txBody>
      </p:sp>
      <p:sp>
        <p:nvSpPr>
          <p:cNvPr id="37" name="Rectangle 36"/>
          <p:cNvSpPr/>
          <p:nvPr/>
        </p:nvSpPr>
        <p:spPr>
          <a:xfrm>
            <a:off x="6273237" y="5054598"/>
            <a:ext cx="1346763" cy="830997"/>
          </a:xfrm>
          <a:prstGeom prst="rect">
            <a:avLst/>
          </a:prstGeom>
        </p:spPr>
        <p:txBody>
          <a:bodyPr wrap="square">
            <a:spAutoFit/>
          </a:bodyPr>
          <a:lstStyle/>
          <a:p>
            <a:pPr algn="ctr"/>
            <a:r>
              <a:rPr lang="en-US" b="0" dirty="0">
                <a:solidFill>
                  <a:srgbClr val="9900CC"/>
                </a:solidFill>
              </a:rPr>
              <a:t>Local gradient</a:t>
            </a:r>
            <a:endParaRPr lang="en-US" dirty="0">
              <a:solidFill>
                <a:srgbClr val="9900CC"/>
              </a:solidFill>
            </a:endParaRPr>
          </a:p>
        </p:txBody>
      </p:sp>
      <mc:AlternateContent xmlns:mc="http://schemas.openxmlformats.org/markup-compatibility/2006">
        <mc:Choice xmlns:a14="http://schemas.microsoft.com/office/drawing/2010/main" Requires="a14">
          <p:sp>
            <p:nvSpPr>
              <p:cNvPr id="40" name="Rectangle 39"/>
              <p:cNvSpPr/>
              <p:nvPr/>
            </p:nvSpPr>
            <p:spPr>
              <a:xfrm>
                <a:off x="32004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𝑘</m:t>
                          </m:r>
                        </m:sub>
                      </m:sSub>
                    </m:oMath>
                  </m:oMathPara>
                </a14:m>
                <a:endParaRPr lang="en-US" sz="1800" dirty="0"/>
              </a:p>
            </p:txBody>
          </p:sp>
        </mc:Choice>
        <mc:Fallback>
          <p:sp>
            <p:nvSpPr>
              <p:cNvPr id="40" name="Rectangle 39"/>
              <p:cNvSpPr>
                <a:spLocks noRot="1" noChangeAspect="1" noMove="1" noResize="1" noEditPoints="1" noAdjustHandles="1" noChangeArrowheads="1" noChangeShapeType="1" noTextEdit="1"/>
              </p:cNvSpPr>
              <p:nvPr/>
            </p:nvSpPr>
            <p:spPr>
              <a:xfrm>
                <a:off x="3200400" y="838200"/>
                <a:ext cx="513025" cy="369332"/>
              </a:xfrm>
              <a:prstGeom prst="rect">
                <a:avLst/>
              </a:prstGeom>
              <a:blipFill rotWithShape="1">
                <a:blip r:embed="rId11"/>
                <a:stretch>
                  <a:fillRect r="113" b="107"/>
                </a:stretch>
              </a:blipFill>
            </p:spPr>
            <p:txBody>
              <a:bodyPr/>
              <a:lstStyle/>
              <a:p>
                <a:r>
                  <a:rPr lang="zh-CN" altLang="en-US">
                    <a:noFill/>
                  </a:rPr>
                  <a:t> </a:t>
                </a:r>
              </a:p>
            </p:txBody>
          </p:sp>
        </mc:Fallback>
      </mc:AlternateContent>
      <p:cxnSp>
        <p:nvCxnSpPr>
          <p:cNvPr id="41" name="Straight Arrow Connector 40"/>
          <p:cNvCxnSpPr>
            <a:stCxn id="40" idx="2"/>
          </p:cNvCxnSpPr>
          <p:nvPr/>
        </p:nvCxnSpPr>
        <p:spPr bwMode="auto">
          <a:xfrm flipH="1">
            <a:off x="34524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2" name="Rectangle 41"/>
              <p:cNvSpPr/>
              <p:nvPr/>
            </p:nvSpPr>
            <p:spPr>
              <a:xfrm>
                <a:off x="6019800" y="838200"/>
                <a:ext cx="513025"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𝐾</m:t>
                          </m:r>
                        </m:sub>
                      </m:sSub>
                    </m:oMath>
                  </m:oMathPara>
                </a14:m>
                <a:endParaRPr lang="en-US" sz="1800" dirty="0"/>
              </a:p>
            </p:txBody>
          </p:sp>
        </mc:Choice>
        <mc:Fallback>
          <p:sp>
            <p:nvSpPr>
              <p:cNvPr id="42" name="Rectangle 41"/>
              <p:cNvSpPr>
                <a:spLocks noRot="1" noChangeAspect="1" noMove="1" noResize="1" noEditPoints="1" noAdjustHandles="1" noChangeArrowheads="1" noChangeShapeType="1" noTextEdit="1"/>
              </p:cNvSpPr>
              <p:nvPr/>
            </p:nvSpPr>
            <p:spPr>
              <a:xfrm>
                <a:off x="6019800" y="838200"/>
                <a:ext cx="513025" cy="369332"/>
              </a:xfrm>
              <a:prstGeom prst="rect">
                <a:avLst/>
              </a:prstGeom>
              <a:blipFill rotWithShape="1">
                <a:blip r:embed="rId12"/>
                <a:stretch>
                  <a:fillRect r="113" b="107"/>
                </a:stretch>
              </a:blipFill>
            </p:spPr>
            <p:txBody>
              <a:bodyPr/>
              <a:lstStyle/>
              <a:p>
                <a:r>
                  <a:rPr lang="zh-CN" altLang="en-US">
                    <a:noFill/>
                  </a:rPr>
                  <a:t> </a:t>
                </a:r>
              </a:p>
            </p:txBody>
          </p:sp>
        </mc:Fallback>
      </mc:AlternateContent>
      <p:cxnSp>
        <p:nvCxnSpPr>
          <p:cNvPr id="43" name="Straight Arrow Connector 42"/>
          <p:cNvCxnSpPr>
            <a:stCxn id="42" idx="2"/>
          </p:cNvCxnSpPr>
          <p:nvPr/>
        </p:nvCxnSpPr>
        <p:spPr bwMode="auto">
          <a:xfrm flipH="1">
            <a:off x="6271871" y="1207532"/>
            <a:ext cx="4442" cy="2286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4" name="Rectangle 43"/>
              <p:cNvSpPr/>
              <p:nvPr/>
            </p:nvSpPr>
            <p:spPr>
              <a:xfrm>
                <a:off x="6973516" y="2066195"/>
                <a:ext cx="595676"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b="0" i="1" smtClean="0">
                              <a:solidFill>
                                <a:srgbClr val="C00000"/>
                              </a:solidFill>
                              <a:latin typeface="Cambria Math" panose="02040503050406030204" pitchFamily="18" charset="0"/>
                            </a:rPr>
                          </m:ctrlPr>
                        </m:fPr>
                        <m:num>
                          <m:r>
                            <a:rPr lang="en-US" sz="1600" b="0" i="1">
                              <a:solidFill>
                                <a:srgbClr val="C00000"/>
                              </a:solidFill>
                              <a:latin typeface="Cambria Math" panose="02040503050406030204" pitchFamily="18" charset="0"/>
                            </a:rPr>
                            <m:t>𝜕</m:t>
                          </m:r>
                          <m:r>
                            <a:rPr lang="en-US" sz="1600" b="0" i="1">
                              <a:solidFill>
                                <a:srgbClr val="C00000"/>
                              </a:solidFill>
                              <a:latin typeface="Cambria Math" panose="02040503050406030204" pitchFamily="18" charset="0"/>
                            </a:rPr>
                            <m:t>𝑒</m:t>
                          </m:r>
                        </m:num>
                        <m:den>
                          <m:r>
                            <a:rPr lang="en-US" sz="1600" b="0" i="1">
                              <a:solidFill>
                                <a:srgbClr val="C00000"/>
                              </a:solidFill>
                              <a:latin typeface="Cambria Math" panose="02040503050406030204" pitchFamily="18" charset="0"/>
                            </a:rPr>
                            <m:t>𝜕</m:t>
                          </m:r>
                          <m:sSub>
                            <m:sSubPr>
                              <m:ctrlPr>
                                <a:rPr lang="en-US" sz="1600" b="0" i="1">
                                  <a:solidFill>
                                    <a:srgbClr val="C00000"/>
                                  </a:solidFill>
                                  <a:latin typeface="Cambria Math" panose="02040503050406030204" pitchFamily="18" charset="0"/>
                                </a:rPr>
                              </m:ctrlPr>
                            </m:sSubPr>
                            <m:e>
                              <m:r>
                                <a:rPr lang="en-US" sz="1600" b="0" i="1">
                                  <a:solidFill>
                                    <a:srgbClr val="C00000"/>
                                  </a:solidFill>
                                  <a:latin typeface="Cambria Math" panose="02040503050406030204" pitchFamily="18" charset="0"/>
                                </a:rPr>
                                <m:t>ℎ</m:t>
                              </m:r>
                            </m:e>
                            <m:sub>
                              <m:r>
                                <a:rPr lang="en-US" sz="1600" b="0" i="1" smtClean="0">
                                  <a:solidFill>
                                    <a:srgbClr val="C00000"/>
                                  </a:solidFill>
                                  <a:latin typeface="Cambria Math" panose="02040503050406030204" pitchFamily="18" charset="0"/>
                                </a:rPr>
                                <m:t>𝐾</m:t>
                              </m:r>
                            </m:sub>
                          </m:sSub>
                        </m:den>
                      </m:f>
                    </m:oMath>
                  </m:oMathPara>
                </a14:m>
                <a:endParaRPr lang="en-US" sz="1600" b="0" dirty="0">
                  <a:solidFill>
                    <a:srgbClr val="C00000"/>
                  </a:solidFill>
                </a:endParaRPr>
              </a:p>
            </p:txBody>
          </p:sp>
        </mc:Choice>
        <mc:Fallback>
          <p:sp>
            <p:nvSpPr>
              <p:cNvPr id="44" name="Rectangle 43"/>
              <p:cNvSpPr>
                <a:spLocks noRot="1" noChangeAspect="1" noMove="1" noResize="1" noEditPoints="1" noAdjustHandles="1" noChangeArrowheads="1" noChangeShapeType="1" noTextEdit="1"/>
              </p:cNvSpPr>
              <p:nvPr/>
            </p:nvSpPr>
            <p:spPr>
              <a:xfrm>
                <a:off x="6973516" y="2066195"/>
                <a:ext cx="595676" cy="600805"/>
              </a:xfrm>
              <a:prstGeom prst="rect">
                <a:avLst/>
              </a:prstGeom>
              <a:blipFill rotWithShape="1">
                <a:blip r:embed="rId13"/>
                <a:stretch>
                  <a:fillRect l="-98" t="-90" r="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5649080" y="2232752"/>
                <a:ext cx="819968"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b="0" i="1" smtClean="0">
                              <a:solidFill>
                                <a:srgbClr val="C00000"/>
                              </a:solidFill>
                              <a:latin typeface="Cambria Math" panose="02040503050406030204" pitchFamily="18" charset="0"/>
                            </a:rPr>
                          </m:ctrlPr>
                        </m:fPr>
                        <m:num>
                          <m:r>
                            <a:rPr lang="en-US" sz="1600" b="0" i="1">
                              <a:solidFill>
                                <a:srgbClr val="C00000"/>
                              </a:solidFill>
                              <a:latin typeface="Cambria Math" panose="02040503050406030204" pitchFamily="18" charset="0"/>
                            </a:rPr>
                            <m:t>𝜕</m:t>
                          </m:r>
                          <m:sSub>
                            <m:sSubPr>
                              <m:ctrlPr>
                                <a:rPr lang="en-US" sz="1600" b="0" i="1">
                                  <a:solidFill>
                                    <a:srgbClr val="C00000"/>
                                  </a:solidFill>
                                  <a:latin typeface="Cambria Math" panose="02040503050406030204" pitchFamily="18" charset="0"/>
                                </a:rPr>
                              </m:ctrlPr>
                            </m:sSubPr>
                            <m:e>
                              <m:r>
                                <a:rPr lang="en-US" sz="1600" b="0" i="1">
                                  <a:solidFill>
                                    <a:srgbClr val="C00000"/>
                                  </a:solidFill>
                                  <a:latin typeface="Cambria Math" panose="02040503050406030204" pitchFamily="18" charset="0"/>
                                </a:rPr>
                                <m:t>ℎ</m:t>
                              </m:r>
                            </m:e>
                            <m:sub>
                              <m:r>
                                <a:rPr lang="en-US" sz="1600" b="0" i="1" smtClean="0">
                                  <a:solidFill>
                                    <a:srgbClr val="C00000"/>
                                  </a:solidFill>
                                  <a:latin typeface="Cambria Math" panose="02040503050406030204" pitchFamily="18" charset="0"/>
                                </a:rPr>
                                <m:t>𝐾</m:t>
                              </m:r>
                            </m:sub>
                          </m:sSub>
                        </m:num>
                        <m:den>
                          <m:r>
                            <a:rPr lang="en-US" sz="1600" b="0" i="1">
                              <a:solidFill>
                                <a:srgbClr val="C00000"/>
                              </a:solidFill>
                              <a:latin typeface="Cambria Math" panose="02040503050406030204" pitchFamily="18" charset="0"/>
                            </a:rPr>
                            <m:t>𝜕</m:t>
                          </m:r>
                          <m:sSub>
                            <m:sSubPr>
                              <m:ctrlPr>
                                <a:rPr lang="en-US" sz="1600" b="0" i="1">
                                  <a:solidFill>
                                    <a:srgbClr val="C00000"/>
                                  </a:solidFill>
                                  <a:latin typeface="Cambria Math" panose="02040503050406030204" pitchFamily="18" charset="0"/>
                                </a:rPr>
                              </m:ctrlPr>
                            </m:sSubPr>
                            <m:e>
                              <m:r>
                                <a:rPr lang="en-US" sz="1600" b="0" i="1">
                                  <a:solidFill>
                                    <a:srgbClr val="C00000"/>
                                  </a:solidFill>
                                  <a:latin typeface="Cambria Math" panose="02040503050406030204" pitchFamily="18" charset="0"/>
                                </a:rPr>
                                <m:t>ℎ</m:t>
                              </m:r>
                            </m:e>
                            <m:sub>
                              <m:r>
                                <a:rPr lang="en-US" sz="1600" b="0" i="1" smtClean="0">
                                  <a:solidFill>
                                    <a:srgbClr val="C00000"/>
                                  </a:solidFill>
                                  <a:latin typeface="Cambria Math" panose="02040503050406030204" pitchFamily="18" charset="0"/>
                                </a:rPr>
                                <m:t>𝐾</m:t>
                              </m:r>
                              <m:r>
                                <a:rPr lang="en-US" sz="1600" b="0" i="1" smtClean="0">
                                  <a:solidFill>
                                    <a:srgbClr val="C00000"/>
                                  </a:solidFill>
                                  <a:latin typeface="Cambria Math" panose="02040503050406030204" pitchFamily="18" charset="0"/>
                                </a:rPr>
                                <m:t>−</m:t>
                              </m:r>
                              <m:r>
                                <a:rPr lang="en-US" sz="1600" b="0" i="1" smtClean="0">
                                  <a:solidFill>
                                    <a:srgbClr val="C00000"/>
                                  </a:solidFill>
                                  <a:latin typeface="Cambria Math" panose="02040503050406030204" pitchFamily="18" charset="0"/>
                                </a:rPr>
                                <m:t>1</m:t>
                              </m:r>
                            </m:sub>
                          </m:sSub>
                        </m:den>
                      </m:f>
                    </m:oMath>
                  </m:oMathPara>
                </a14:m>
                <a:endParaRPr lang="en-US" sz="1600" b="0" dirty="0">
                  <a:solidFill>
                    <a:srgbClr val="C00000"/>
                  </a:solidFill>
                </a:endParaRPr>
              </a:p>
            </p:txBody>
          </p:sp>
        </mc:Choice>
        <mc:Fallback>
          <p:sp>
            <p:nvSpPr>
              <p:cNvPr id="46" name="Rectangle 45"/>
              <p:cNvSpPr>
                <a:spLocks noRot="1" noChangeAspect="1" noMove="1" noResize="1" noEditPoints="1" noAdjustHandles="1" noChangeArrowheads="1" noChangeShapeType="1" noTextEdit="1"/>
              </p:cNvSpPr>
              <p:nvPr/>
            </p:nvSpPr>
            <p:spPr>
              <a:xfrm>
                <a:off x="5649080" y="2232752"/>
                <a:ext cx="819968" cy="600805"/>
              </a:xfrm>
              <a:prstGeom prst="rect">
                <a:avLst/>
              </a:prstGeom>
              <a:blipFill rotWithShape="1">
                <a:blip r:embed="rId14"/>
                <a:stretch>
                  <a:fillRect l="-15" t="-15" r="37"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Rectangle 46"/>
              <p:cNvSpPr/>
              <p:nvPr/>
            </p:nvSpPr>
            <p:spPr>
              <a:xfrm>
                <a:off x="4158107" y="2085530"/>
                <a:ext cx="597151" cy="60202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b="0" i="1" smtClean="0">
                              <a:solidFill>
                                <a:srgbClr val="C00000"/>
                              </a:solidFill>
                              <a:latin typeface="Cambria Math" panose="02040503050406030204" pitchFamily="18" charset="0"/>
                            </a:rPr>
                          </m:ctrlPr>
                        </m:fPr>
                        <m:num>
                          <m:r>
                            <a:rPr lang="en-US" sz="1600" b="0" i="1">
                              <a:solidFill>
                                <a:srgbClr val="C00000"/>
                              </a:solidFill>
                              <a:latin typeface="Cambria Math" panose="02040503050406030204" pitchFamily="18" charset="0"/>
                            </a:rPr>
                            <m:t>𝜕</m:t>
                          </m:r>
                          <m:r>
                            <a:rPr lang="en-US" sz="1600" b="0" i="1" smtClean="0">
                              <a:solidFill>
                                <a:srgbClr val="C00000"/>
                              </a:solidFill>
                              <a:latin typeface="Cambria Math" panose="02040503050406030204" pitchFamily="18" charset="0"/>
                            </a:rPr>
                            <m:t>𝑒</m:t>
                          </m:r>
                        </m:num>
                        <m:den>
                          <m:r>
                            <a:rPr lang="en-US" sz="1600" b="0" i="1">
                              <a:solidFill>
                                <a:srgbClr val="C00000"/>
                              </a:solidFill>
                              <a:latin typeface="Cambria Math" panose="02040503050406030204" pitchFamily="18" charset="0"/>
                            </a:rPr>
                            <m:t>𝜕</m:t>
                          </m:r>
                          <m:sSub>
                            <m:sSubPr>
                              <m:ctrlPr>
                                <a:rPr lang="en-US" sz="1600" b="0" i="1">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ℎ</m:t>
                              </m:r>
                            </m:e>
                            <m:sub>
                              <m:r>
                                <a:rPr lang="en-US" sz="1600" b="0" i="1" smtClean="0">
                                  <a:solidFill>
                                    <a:srgbClr val="C00000"/>
                                  </a:solidFill>
                                  <a:latin typeface="Cambria Math" panose="02040503050406030204" pitchFamily="18" charset="0"/>
                                </a:rPr>
                                <m:t>𝑘</m:t>
                              </m:r>
                            </m:sub>
                          </m:sSub>
                        </m:den>
                      </m:f>
                    </m:oMath>
                  </m:oMathPara>
                </a14:m>
                <a:endParaRPr lang="en-US" sz="1600" b="0" dirty="0">
                  <a:solidFill>
                    <a:srgbClr val="C00000"/>
                  </a:solidFill>
                </a:endParaRPr>
              </a:p>
            </p:txBody>
          </p:sp>
        </mc:Choice>
        <mc:Fallback>
          <p:sp>
            <p:nvSpPr>
              <p:cNvPr id="47" name="Rectangle 46"/>
              <p:cNvSpPr>
                <a:spLocks noRot="1" noChangeAspect="1" noMove="1" noResize="1" noEditPoints="1" noAdjustHandles="1" noChangeArrowheads="1" noChangeShapeType="1" noTextEdit="1"/>
              </p:cNvSpPr>
              <p:nvPr/>
            </p:nvSpPr>
            <p:spPr>
              <a:xfrm>
                <a:off x="4158107" y="2085530"/>
                <a:ext cx="597151" cy="602024"/>
              </a:xfrm>
              <a:prstGeom prst="rect">
                <a:avLst/>
              </a:prstGeom>
              <a:blipFill rotWithShape="1">
                <a:blip r:embed="rId15"/>
                <a:stretch>
                  <a:fillRect l="-21" t="-32" r="63"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4876800" y="2057400"/>
                <a:ext cx="819968" cy="6008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b="0" i="1" smtClean="0">
                              <a:solidFill>
                                <a:srgbClr val="C00000"/>
                              </a:solidFill>
                              <a:latin typeface="Cambria Math" panose="02040503050406030204" pitchFamily="18" charset="0"/>
                            </a:rPr>
                          </m:ctrlPr>
                        </m:fPr>
                        <m:num>
                          <m:r>
                            <a:rPr lang="en-US" sz="1600" b="0" i="1">
                              <a:solidFill>
                                <a:srgbClr val="C00000"/>
                              </a:solidFill>
                              <a:latin typeface="Cambria Math" panose="02040503050406030204" pitchFamily="18" charset="0"/>
                            </a:rPr>
                            <m:t>𝜕</m:t>
                          </m:r>
                          <m:r>
                            <a:rPr lang="en-US" sz="1600" b="0" i="1" smtClean="0">
                              <a:solidFill>
                                <a:srgbClr val="C00000"/>
                              </a:solidFill>
                              <a:latin typeface="Cambria Math" panose="02040503050406030204" pitchFamily="18" charset="0"/>
                            </a:rPr>
                            <m:t>𝑒</m:t>
                          </m:r>
                        </m:num>
                        <m:den>
                          <m:r>
                            <a:rPr lang="en-US" sz="1600" b="0" i="1">
                              <a:solidFill>
                                <a:srgbClr val="C00000"/>
                              </a:solidFill>
                              <a:latin typeface="Cambria Math" panose="02040503050406030204" pitchFamily="18" charset="0"/>
                            </a:rPr>
                            <m:t>𝜕</m:t>
                          </m:r>
                          <m:sSub>
                            <m:sSubPr>
                              <m:ctrlPr>
                                <a:rPr lang="en-US" sz="1600" b="0" i="1">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ℎ</m:t>
                              </m:r>
                            </m:e>
                            <m:sub>
                              <m:r>
                                <a:rPr lang="en-US" sz="1600" b="0" i="1" smtClean="0">
                                  <a:solidFill>
                                    <a:srgbClr val="C00000"/>
                                  </a:solidFill>
                                  <a:latin typeface="Cambria Math" panose="02040503050406030204" pitchFamily="18" charset="0"/>
                                </a:rPr>
                                <m:t>𝐾</m:t>
                              </m:r>
                              <m:r>
                                <a:rPr lang="en-US" sz="1600" b="0" i="1" smtClean="0">
                                  <a:solidFill>
                                    <a:srgbClr val="C00000"/>
                                  </a:solidFill>
                                  <a:latin typeface="Cambria Math" panose="02040503050406030204" pitchFamily="18" charset="0"/>
                                </a:rPr>
                                <m:t>−</m:t>
                              </m:r>
                              <m:r>
                                <a:rPr lang="en-US" sz="1600" b="0" i="1" smtClean="0">
                                  <a:solidFill>
                                    <a:srgbClr val="C00000"/>
                                  </a:solidFill>
                                  <a:latin typeface="Cambria Math" panose="02040503050406030204" pitchFamily="18" charset="0"/>
                                </a:rPr>
                                <m:t>1</m:t>
                              </m:r>
                            </m:sub>
                          </m:sSub>
                        </m:den>
                      </m:f>
                    </m:oMath>
                  </m:oMathPara>
                </a14:m>
                <a:endParaRPr lang="en-US" sz="1600" b="0" dirty="0">
                  <a:solidFill>
                    <a:srgbClr val="C00000"/>
                  </a:solidFill>
                </a:endParaRPr>
              </a:p>
            </p:txBody>
          </p:sp>
        </mc:Choice>
        <mc:Fallback>
          <p:sp>
            <p:nvSpPr>
              <p:cNvPr id="48" name="Rectangle 47"/>
              <p:cNvSpPr>
                <a:spLocks noRot="1" noChangeAspect="1" noMove="1" noResize="1" noEditPoints="1" noAdjustHandles="1" noChangeArrowheads="1" noChangeShapeType="1" noTextEdit="1"/>
              </p:cNvSpPr>
              <p:nvPr/>
            </p:nvSpPr>
            <p:spPr>
              <a:xfrm>
                <a:off x="4876800" y="2057400"/>
                <a:ext cx="819968" cy="600805"/>
              </a:xfrm>
              <a:prstGeom prst="rect">
                <a:avLst/>
              </a:prstGeom>
              <a:blipFill rotWithShape="1">
                <a:blip r:embed="rId16"/>
                <a:stretch>
                  <a:fillRect r="22"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9" name="Rectangle 48"/>
              <p:cNvSpPr/>
              <p:nvPr/>
            </p:nvSpPr>
            <p:spPr>
              <a:xfrm>
                <a:off x="3510184" y="2263235"/>
                <a:ext cx="611128" cy="60208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i="1" smtClean="0">
                              <a:solidFill>
                                <a:srgbClr val="9900CC"/>
                              </a:solidFill>
                              <a:latin typeface="Cambria Math" panose="02040503050406030204" pitchFamily="18" charset="0"/>
                            </a:rPr>
                          </m:ctrlPr>
                        </m:fPr>
                        <m:num>
                          <m:r>
                            <a:rPr lang="en-US" sz="1600" i="1">
                              <a:solidFill>
                                <a:srgbClr val="9900CC"/>
                              </a:solidFill>
                              <a:latin typeface="Cambria Math" panose="02040503050406030204" pitchFamily="18" charset="0"/>
                            </a:rPr>
                            <m:t>𝜕</m:t>
                          </m:r>
                          <m:sSub>
                            <m:sSubPr>
                              <m:ctrlPr>
                                <a:rPr lang="en-US" sz="1600" b="0" i="1">
                                  <a:solidFill>
                                    <a:srgbClr val="9900CC"/>
                                  </a:solidFill>
                                  <a:latin typeface="Cambria Math" panose="02040503050406030204" pitchFamily="18" charset="0"/>
                                </a:rPr>
                              </m:ctrlPr>
                            </m:sSubPr>
                            <m:e>
                              <m:r>
                                <a:rPr lang="en-US" sz="1600" b="0" i="1" smtClean="0">
                                  <a:solidFill>
                                    <a:srgbClr val="9900CC"/>
                                  </a:solidFill>
                                  <a:latin typeface="Cambria Math" panose="02040503050406030204" pitchFamily="18" charset="0"/>
                                </a:rPr>
                                <m:t>ℎ</m:t>
                              </m:r>
                            </m:e>
                            <m:sub>
                              <m:r>
                                <a:rPr lang="en-US" sz="1600" b="0" i="1">
                                  <a:solidFill>
                                    <a:srgbClr val="9900CC"/>
                                  </a:solidFill>
                                  <a:latin typeface="Cambria Math" panose="02040503050406030204" pitchFamily="18" charset="0"/>
                                </a:rPr>
                                <m:t>𝑘</m:t>
                              </m:r>
                            </m:sub>
                          </m:sSub>
                        </m:num>
                        <m:den>
                          <m:r>
                            <a:rPr lang="en-US" sz="1600" i="1">
                              <a:solidFill>
                                <a:srgbClr val="9900CC"/>
                              </a:solidFill>
                              <a:latin typeface="Cambria Math" panose="02040503050406030204" pitchFamily="18" charset="0"/>
                            </a:rPr>
                            <m:t>𝜕</m:t>
                          </m:r>
                          <m:sSub>
                            <m:sSubPr>
                              <m:ctrlPr>
                                <a:rPr lang="en-US" sz="1600" b="0" i="1">
                                  <a:solidFill>
                                    <a:srgbClr val="9900CC"/>
                                  </a:solidFill>
                                  <a:latin typeface="Cambria Math" panose="02040503050406030204" pitchFamily="18" charset="0"/>
                                </a:rPr>
                              </m:ctrlPr>
                            </m:sSubPr>
                            <m:e>
                              <m:r>
                                <a:rPr lang="en-US" sz="1600" b="0" i="1" smtClean="0">
                                  <a:solidFill>
                                    <a:srgbClr val="9900CC"/>
                                  </a:solidFill>
                                  <a:latin typeface="Cambria Math" panose="02040503050406030204" pitchFamily="18" charset="0"/>
                                </a:rPr>
                                <m:t>𝑤</m:t>
                              </m:r>
                            </m:e>
                            <m:sub>
                              <m:r>
                                <a:rPr lang="en-US" sz="1600" b="0" i="1" smtClean="0">
                                  <a:solidFill>
                                    <a:srgbClr val="9900CC"/>
                                  </a:solidFill>
                                  <a:latin typeface="Cambria Math" panose="02040503050406030204" pitchFamily="18" charset="0"/>
                                </a:rPr>
                                <m:t>𝑘</m:t>
                              </m:r>
                            </m:sub>
                          </m:sSub>
                        </m:den>
                      </m:f>
                    </m:oMath>
                  </m:oMathPara>
                </a14:m>
                <a:endParaRPr lang="en-US" sz="1600" dirty="0">
                  <a:solidFill>
                    <a:srgbClr val="9900CC"/>
                  </a:solidFill>
                </a:endParaRPr>
              </a:p>
            </p:txBody>
          </p:sp>
        </mc:Choice>
        <mc:Fallback>
          <p:sp>
            <p:nvSpPr>
              <p:cNvPr id="49" name="Rectangle 48"/>
              <p:cNvSpPr>
                <a:spLocks noRot="1" noChangeAspect="1" noMove="1" noResize="1" noEditPoints="1" noAdjustHandles="1" noChangeArrowheads="1" noChangeShapeType="1" noTextEdit="1"/>
              </p:cNvSpPr>
              <p:nvPr/>
            </p:nvSpPr>
            <p:spPr>
              <a:xfrm>
                <a:off x="3510184" y="2263235"/>
                <a:ext cx="611128" cy="602088"/>
              </a:xfrm>
              <a:prstGeom prst="rect">
                <a:avLst/>
              </a:prstGeom>
              <a:blipFill rotWithShape="1">
                <a:blip r:embed="rId17"/>
                <a:stretch>
                  <a:fillRect l="-88" t="-16" r="27"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Rectangle 49"/>
              <p:cNvSpPr/>
              <p:nvPr/>
            </p:nvSpPr>
            <p:spPr>
              <a:xfrm>
                <a:off x="2665472" y="867772"/>
                <a:ext cx="629211" cy="60202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sz="1600" b="0" i="1" smtClean="0">
                              <a:solidFill>
                                <a:srgbClr val="FF0000"/>
                              </a:solidFill>
                              <a:latin typeface="Cambria Math" panose="02040503050406030204" pitchFamily="18" charset="0"/>
                            </a:rPr>
                          </m:ctrlPr>
                        </m:fPr>
                        <m:num>
                          <m:r>
                            <a:rPr lang="en-US" sz="1600" b="0" i="1">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𝑒</m:t>
                          </m:r>
                        </m:num>
                        <m:den>
                          <m:r>
                            <a:rPr lang="en-US" sz="1600" b="0" i="1">
                              <a:solidFill>
                                <a:srgbClr val="FF0000"/>
                              </a:solidFill>
                              <a:latin typeface="Cambria Math" panose="02040503050406030204" pitchFamily="18" charset="0"/>
                            </a:rPr>
                            <m:t>𝜕</m:t>
                          </m:r>
                          <m:sSub>
                            <m:sSubPr>
                              <m:ctrlPr>
                                <a:rPr lang="en-US" sz="1600" b="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𝑘</m:t>
                              </m:r>
                            </m:sub>
                          </m:sSub>
                        </m:den>
                      </m:f>
                    </m:oMath>
                  </m:oMathPara>
                </a14:m>
                <a:endParaRPr lang="en-US" sz="1600" b="0" dirty="0">
                  <a:solidFill>
                    <a:srgbClr val="FF0000"/>
                  </a:solidFill>
                </a:endParaRPr>
              </a:p>
            </p:txBody>
          </p:sp>
        </mc:Choice>
        <mc:Fallback>
          <p:sp>
            <p:nvSpPr>
              <p:cNvPr id="50" name="Rectangle 49"/>
              <p:cNvSpPr>
                <a:spLocks noRot="1" noChangeAspect="1" noMove="1" noResize="1" noEditPoints="1" noAdjustHandles="1" noChangeArrowheads="1" noChangeShapeType="1" noTextEdit="1"/>
              </p:cNvSpPr>
              <p:nvPr/>
            </p:nvSpPr>
            <p:spPr>
              <a:xfrm>
                <a:off x="2665472" y="867772"/>
                <a:ext cx="629211" cy="602024"/>
              </a:xfrm>
              <a:prstGeom prst="rect">
                <a:avLst/>
              </a:prstGeom>
              <a:blipFill rotWithShape="1">
                <a:blip r:embed="rId18"/>
                <a:stretch>
                  <a:fillRect l="-60" t="-60" r="48" b="67"/>
                </a:stretch>
              </a:blipFill>
            </p:spPr>
            <p:txBody>
              <a:bodyPr/>
              <a:lstStyle/>
              <a:p>
                <a:r>
                  <a:rPr lang="zh-CN" altLang="en-US">
                    <a:noFill/>
                  </a:rPr>
                  <a:t> </a:t>
                </a:r>
              </a:p>
            </p:txBody>
          </p:sp>
        </mc:Fallback>
      </mc:AlternateContent>
      <p:sp>
        <p:nvSpPr>
          <p:cNvPr id="51" name="Rectangle 50"/>
          <p:cNvSpPr/>
          <p:nvPr/>
        </p:nvSpPr>
        <p:spPr bwMode="auto">
          <a:xfrm>
            <a:off x="2971800" y="3660434"/>
            <a:ext cx="3505200" cy="1216366"/>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rgbClr val="C00000"/>
              </a:solidFill>
              <a:effectLst/>
              <a:latin typeface="Arial" panose="020B0604020202090204" pitchFamily="34" charset="0"/>
              <a:cs typeface="Arial" panose="020B0604020202090204" pitchFamily="34" charset="0"/>
            </a:endParaRPr>
          </a:p>
        </p:txBody>
      </p:sp>
      <p:sp>
        <p:nvSpPr>
          <p:cNvPr id="52" name="Oval 51"/>
          <p:cNvSpPr/>
          <p:nvPr/>
        </p:nvSpPr>
        <p:spPr bwMode="auto">
          <a:xfrm>
            <a:off x="3200400" y="914401"/>
            <a:ext cx="444450" cy="293131"/>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xmlns:p14="http://schemas.microsoft.com/office/powerpoint/2010/main">
        <mc:Choice Requires="p14">
          <p:contentPart r:id="rId19" p14:bwMode="auto">
            <p14:nvContentPartPr>
              <p14:cNvPr id="7" name="Ink 6"/>
              <p14:cNvContentPartPr/>
              <p14:nvPr/>
            </p14:nvContentPartPr>
            <p14:xfrm>
              <a:off x="8809200" y="6559560"/>
              <a:ext cx="360" cy="360"/>
            </p14:xfrm>
          </p:contentPart>
        </mc:Choice>
        <mc:Fallback xmlns="">
          <p:pic>
            <p:nvPicPr>
              <p:cNvPr id="7" name="Ink 6"/>
            </p:nvPicPr>
            <p:blipFill>
              <a:blip r:embed="rId20"/>
            </p:blipFill>
            <p:spPr>
              <a:xfrm>
                <a:off x="8809200" y="6559560"/>
                <a:ext cx="360" cy="360"/>
              </a:xfrm>
              <a:prstGeom prst="rect"/>
            </p:spPr>
          </p:pic>
        </mc:Fallback>
      </mc:AlternateContent>
    </p:spTree>
    <p:custDataLst>
      <p:tags r:id="rId2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7" grpId="0"/>
      <p:bldP spid="44" grpId="0"/>
      <p:bldP spid="46" grpId="0"/>
      <p:bldP spid="47" grpId="0"/>
      <p:bldP spid="48" grpId="0"/>
      <p:bldP spid="49" grpId="0"/>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Backpropagation summary</a:t>
            </a:r>
            <a:endParaRPr lang="en-US" dirty="0"/>
          </a:p>
        </p:txBody>
      </p:sp>
      <p:cxnSp>
        <p:nvCxnSpPr>
          <p:cNvPr id="24" name="Straight Arrow Connector 23"/>
          <p:cNvCxnSpPr>
            <a:endCxn id="27" idx="3"/>
          </p:cNvCxnSpPr>
          <p:nvPr/>
        </p:nvCxnSpPr>
        <p:spPr bwMode="auto">
          <a:xfrm flipV="1">
            <a:off x="1135785" y="4839992"/>
            <a:ext cx="2642710" cy="546304"/>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25" name="Straight Arrow Connector 24"/>
          <p:cNvCxnSpPr/>
          <p:nvPr/>
        </p:nvCxnSpPr>
        <p:spPr bwMode="auto">
          <a:xfrm>
            <a:off x="6965237" y="4016687"/>
            <a:ext cx="1271574"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27" name="Oval 26"/>
          <p:cNvSpPr/>
          <p:nvPr/>
        </p:nvSpPr>
        <p:spPr bwMode="auto">
          <a:xfrm>
            <a:off x="3185393" y="2758688"/>
            <a:ext cx="4049951" cy="2438399"/>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3200" b="0" i="0" u="none" strike="noStrike" cap="none" normalizeH="0" baseline="0" dirty="0">
              <a:ln>
                <a:noFill/>
              </a:ln>
              <a:solidFill>
                <a:schemeClr val="tx1"/>
              </a:solidFill>
              <a:effectLst/>
              <a:cs typeface="Arial" panose="020B0604020202090204" pitchFamily="34" charset="0"/>
            </a:endParaRPr>
          </a:p>
        </p:txBody>
      </p:sp>
      <mc:AlternateContent xmlns:mc="http://schemas.openxmlformats.org/markup-compatibility/2006">
        <mc:Choice xmlns:a14="http://schemas.microsoft.com/office/drawing/2010/main" Requires="a14">
          <p:sp>
            <p:nvSpPr>
              <p:cNvPr id="29" name="Rectangle 28"/>
              <p:cNvSpPr/>
              <p:nvPr/>
            </p:nvSpPr>
            <p:spPr>
              <a:xfrm>
                <a:off x="288059" y="5197087"/>
                <a:ext cx="115974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ℎ</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1</m:t>
                          </m:r>
                        </m:sub>
                      </m:sSub>
                    </m:oMath>
                  </m:oMathPara>
                </a14:m>
                <a:endParaRPr lang="en-US" sz="3200" dirty="0"/>
              </a:p>
            </p:txBody>
          </p:sp>
        </mc:Choice>
        <mc:Fallback>
          <p:sp>
            <p:nvSpPr>
              <p:cNvPr id="29" name="Rectangle 28"/>
              <p:cNvSpPr>
                <a:spLocks noRot="1" noChangeAspect="1" noMove="1" noResize="1" noEditPoints="1" noAdjustHandles="1" noChangeArrowheads="1" noChangeShapeType="1" noTextEdit="1"/>
              </p:cNvSpPr>
              <p:nvPr/>
            </p:nvSpPr>
            <p:spPr>
              <a:xfrm>
                <a:off x="288059" y="5197087"/>
                <a:ext cx="1159741" cy="584775"/>
              </a:xfrm>
              <a:prstGeom prst="rect">
                <a:avLst/>
              </a:prstGeom>
              <a:blipFill rotWithShape="1">
                <a:blip r:embed="rId1"/>
                <a:stretch>
                  <a:fillRect l="-35" t="-42" b="-55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Rectangle 29"/>
              <p:cNvSpPr/>
              <p:nvPr/>
            </p:nvSpPr>
            <p:spPr>
              <a:xfrm>
                <a:off x="8334715" y="3733800"/>
                <a:ext cx="733085"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ℎ</m:t>
                          </m:r>
                        </m:e>
                        <m:sub>
                          <m:r>
                            <a:rPr lang="en-US" sz="3200" b="0" i="1" smtClean="0">
                              <a:latin typeface="Cambria Math" panose="02040503050406030204" pitchFamily="18" charset="0"/>
                            </a:rPr>
                            <m:t>𝑘</m:t>
                          </m:r>
                        </m:sub>
                      </m:sSub>
                    </m:oMath>
                  </m:oMathPara>
                </a14:m>
                <a:endParaRPr lang="en-US" sz="3200" dirty="0"/>
              </a:p>
            </p:txBody>
          </p:sp>
        </mc:Choice>
        <mc:Fallback>
          <p:sp>
            <p:nvSpPr>
              <p:cNvPr id="30" name="Rectangle 29"/>
              <p:cNvSpPr>
                <a:spLocks noRot="1" noChangeAspect="1" noMove="1" noResize="1" noEditPoints="1" noAdjustHandles="1" noChangeArrowheads="1" noChangeShapeType="1" noTextEdit="1"/>
              </p:cNvSpPr>
              <p:nvPr/>
            </p:nvSpPr>
            <p:spPr>
              <a:xfrm>
                <a:off x="8334715" y="3733800"/>
                <a:ext cx="733085" cy="584775"/>
              </a:xfrm>
              <a:prstGeom prst="rect">
                <a:avLst/>
              </a:prstGeom>
              <a:blipFill rotWithShape="1">
                <a:blip r:embed="rId2"/>
                <a:stretch>
                  <a:fillRect l="-46" r="87" b="-55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6748750" y="1993656"/>
                <a:ext cx="2242850" cy="1617174"/>
              </a:xfrm>
              <a:prstGeom prst="rect">
                <a:avLst/>
              </a:prstGeom>
            </p:spPr>
            <p:txBody>
              <a:bodyPr wrap="square">
                <a:spAutoFit/>
              </a:bodyPr>
              <a:lstStyle/>
              <a:p>
                <a:pPr algn="ctr"/>
                <a:r>
                  <a:rPr lang="en-US" b="0" dirty="0">
                    <a:solidFill>
                      <a:srgbClr val="C00000"/>
                    </a:solidFill>
                  </a:rPr>
                  <a:t>Upstream gradient: </a:t>
                </a:r>
                <a:endParaRPr lang="en-US" b="0" dirty="0">
                  <a:solidFill>
                    <a:srgbClr val="C00000"/>
                  </a:solidFill>
                </a:endParaRPr>
              </a:p>
              <a:p>
                <a:pPr algn="ctr"/>
                <a14:m>
                  <m:oMath xmlns:m="http://schemas.openxmlformats.org/officeDocument/2006/math">
                    <m:f>
                      <m:fPr>
                        <m:ctrlPr>
                          <a:rPr lang="en-US" sz="3200" b="0" i="1">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sSub>
                          <m:sSubPr>
                            <m:ctrlPr>
                              <a:rPr lang="en-US" sz="3200" b="0" i="1" smtClean="0">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ℎ</m:t>
                            </m:r>
                          </m:e>
                          <m:sub>
                            <m:r>
                              <a:rPr lang="en-US" sz="3200" b="0" i="1">
                                <a:solidFill>
                                  <a:srgbClr val="C00000"/>
                                </a:solidFill>
                                <a:latin typeface="Cambria Math" panose="02040503050406030204" pitchFamily="18" charset="0"/>
                              </a:rPr>
                              <m:t>𝑘</m:t>
                            </m:r>
                          </m:sub>
                        </m:sSub>
                      </m:den>
                    </m:f>
                  </m:oMath>
                </a14:m>
                <a:r>
                  <a:rPr lang="en-US" sz="3200" b="0" dirty="0">
                    <a:solidFill>
                      <a:srgbClr val="C00000"/>
                    </a:solidFill>
                  </a:rPr>
                  <a:t> </a:t>
                </a:r>
                <a:endParaRPr lang="en-US" sz="3200" b="0" dirty="0">
                  <a:solidFill>
                    <a:srgbClr val="C00000"/>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6748750" y="1993656"/>
                <a:ext cx="2242850" cy="1617174"/>
              </a:xfrm>
              <a:prstGeom prst="rect">
                <a:avLst/>
              </a:prstGeom>
              <a:blipFill rotWithShape="1">
                <a:blip r:embed="rId3"/>
                <a:stretch>
                  <a:fillRect l="-27" t="-24" b="14"/>
                </a:stretch>
              </a:blipFill>
            </p:spPr>
            <p:txBody>
              <a:bodyPr/>
              <a:lstStyle/>
              <a:p>
                <a:r>
                  <a:rPr lang="zh-CN" altLang="en-US">
                    <a:noFill/>
                  </a:rPr>
                  <a:t> </a:t>
                </a:r>
              </a:p>
            </p:txBody>
          </p:sp>
        </mc:Fallback>
      </mc:AlternateContent>
      <p:cxnSp>
        <p:nvCxnSpPr>
          <p:cNvPr id="32" name="Straight Arrow Connector 31"/>
          <p:cNvCxnSpPr/>
          <p:nvPr/>
        </p:nvCxnSpPr>
        <p:spPr bwMode="auto">
          <a:xfrm flipH="1">
            <a:off x="7235344" y="3733800"/>
            <a:ext cx="1001468"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3" name="Rectangle 32"/>
              <p:cNvSpPr/>
              <p:nvPr/>
            </p:nvSpPr>
            <p:spPr>
              <a:xfrm>
                <a:off x="2030449" y="5372924"/>
                <a:ext cx="3184654" cy="1247842"/>
              </a:xfrm>
              <a:prstGeom prst="rect">
                <a:avLst/>
              </a:prstGeom>
            </p:spPr>
            <p:txBody>
              <a:bodyPr wrap="none">
                <a:spAutoFit/>
              </a:bodyPr>
              <a:lstStyle/>
              <a:p>
                <a:pPr algn="ctr"/>
                <a:r>
                  <a:rPr lang="en-US" b="0" dirty="0">
                    <a:solidFill>
                      <a:srgbClr val="C00000"/>
                    </a:solidFill>
                  </a:rPr>
                  <a:t>Upstream gradient: </a:t>
                </a:r>
                <a:endParaRPr lang="en-US" b="0" dirty="0">
                  <a:solidFill>
                    <a:srgbClr val="C00000"/>
                  </a:solidFill>
                </a:endParaRPr>
              </a:p>
              <a:p>
                <a:pPr algn="ctr"/>
                <a:r>
                  <a:rPr lang="en-US" b="0" dirty="0">
                    <a:solidFill>
                      <a:srgbClr val="C00000"/>
                    </a:solidFill>
                  </a:rPr>
                  <a:t> </a:t>
                </a: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sSub>
                          <m:sSubPr>
                            <m:ctrlPr>
                              <a:rPr lang="en-US" sz="3200" b="0" i="1">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ℎ</m:t>
                            </m:r>
                          </m:e>
                          <m:sub>
                            <m:r>
                              <a:rPr lang="en-US" sz="3200" b="0" i="1">
                                <a:solidFill>
                                  <a:srgbClr val="C00000"/>
                                </a:solidFill>
                                <a:latin typeface="Cambria Math" panose="02040503050406030204" pitchFamily="18" charset="0"/>
                              </a:rPr>
                              <m:t>𝑘</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1</m:t>
                            </m:r>
                          </m:sub>
                        </m:sSub>
                      </m:den>
                    </m:f>
                    <m:r>
                      <a:rPr lang="en-US" sz="3200" b="0" i="1" smtClean="0">
                        <a:solidFill>
                          <a:srgbClr val="C00000"/>
                        </a:solidFill>
                        <a:latin typeface="Cambria Math" panose="02040503050406030204" pitchFamily="18" charset="0"/>
                      </a:rPr>
                      <m:t>=</m:t>
                    </m:r>
                    <m:f>
                      <m:fPr>
                        <m:ctrlPr>
                          <a:rPr lang="en-US" sz="3200" b="0" i="1">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sSub>
                          <m:sSubPr>
                            <m:ctrlPr>
                              <a:rPr lang="en-US" sz="3200" b="0" i="1">
                                <a:solidFill>
                                  <a:srgbClr val="C00000"/>
                                </a:solidFill>
                                <a:latin typeface="Cambria Math" panose="02040503050406030204" pitchFamily="18" charset="0"/>
                              </a:rPr>
                            </m:ctrlPr>
                          </m:sSubPr>
                          <m:e>
                            <m:r>
                              <a:rPr lang="en-US" sz="3200" b="0" i="1" smtClean="0">
                                <a:solidFill>
                                  <a:srgbClr val="C00000"/>
                                </a:solidFill>
                                <a:latin typeface="Cambria Math" panose="02040503050406030204" pitchFamily="18" charset="0"/>
                              </a:rPr>
                              <m:t>ℎ</m:t>
                            </m:r>
                          </m:e>
                          <m:sub>
                            <m:r>
                              <a:rPr lang="en-US" sz="3200" b="0" i="1">
                                <a:solidFill>
                                  <a:srgbClr val="C00000"/>
                                </a:solidFill>
                                <a:latin typeface="Cambria Math" panose="02040503050406030204" pitchFamily="18" charset="0"/>
                              </a:rPr>
                              <m:t>𝑘</m:t>
                            </m:r>
                          </m:sub>
                        </m:sSub>
                      </m:den>
                    </m:f>
                    <m:f>
                      <m:fPr>
                        <m:ctrlPr>
                          <a:rPr lang="en-US" sz="3200" b="0" i="1" smtClean="0">
                            <a:solidFill>
                              <a:srgbClr val="9900CC"/>
                            </a:solidFill>
                            <a:latin typeface="Cambria Math" panose="02040503050406030204" pitchFamily="18" charset="0"/>
                          </a:rPr>
                        </m:ctrlPr>
                      </m:fPr>
                      <m:num>
                        <m:r>
                          <a:rPr lang="en-US" sz="3200" b="0" i="1">
                            <a:solidFill>
                              <a:srgbClr val="9900CC"/>
                            </a:solidFill>
                            <a:latin typeface="Cambria Math" panose="02040503050406030204" pitchFamily="18" charset="0"/>
                          </a:rPr>
                          <m:t>𝜕</m:t>
                        </m:r>
                        <m:sSub>
                          <m:sSubPr>
                            <m:ctrlPr>
                              <a:rPr lang="en-US" sz="3200" b="0" i="1">
                                <a:solidFill>
                                  <a:srgbClr val="9900CC"/>
                                </a:solidFill>
                                <a:latin typeface="Cambria Math" panose="02040503050406030204" pitchFamily="18" charset="0"/>
                              </a:rPr>
                            </m:ctrlPr>
                          </m:sSubPr>
                          <m:e>
                            <m:r>
                              <a:rPr lang="en-US" sz="3200" b="0" i="1" smtClean="0">
                                <a:solidFill>
                                  <a:srgbClr val="9900CC"/>
                                </a:solidFill>
                                <a:latin typeface="Cambria Math" panose="02040503050406030204" pitchFamily="18" charset="0"/>
                              </a:rPr>
                              <m:t>ℎ</m:t>
                            </m:r>
                          </m:e>
                          <m:sub>
                            <m:r>
                              <a:rPr lang="en-US" sz="3200" b="0" i="1">
                                <a:solidFill>
                                  <a:srgbClr val="9900CC"/>
                                </a:solidFill>
                                <a:latin typeface="Cambria Math" panose="02040503050406030204" pitchFamily="18" charset="0"/>
                              </a:rPr>
                              <m:t>𝑘</m:t>
                            </m:r>
                          </m:sub>
                        </m:sSub>
                      </m:num>
                      <m:den>
                        <m:r>
                          <a:rPr lang="en-US" sz="3200" b="0" i="1">
                            <a:solidFill>
                              <a:srgbClr val="9900CC"/>
                            </a:solidFill>
                            <a:latin typeface="Cambria Math" panose="02040503050406030204" pitchFamily="18" charset="0"/>
                          </a:rPr>
                          <m:t>𝜕</m:t>
                        </m:r>
                        <m:sSub>
                          <m:sSubPr>
                            <m:ctrlPr>
                              <a:rPr lang="en-US" sz="3200" b="0" i="1">
                                <a:solidFill>
                                  <a:srgbClr val="9900CC"/>
                                </a:solidFill>
                                <a:latin typeface="Cambria Math" panose="02040503050406030204" pitchFamily="18" charset="0"/>
                              </a:rPr>
                            </m:ctrlPr>
                          </m:sSubPr>
                          <m:e>
                            <m:r>
                              <a:rPr lang="en-US" sz="3200" b="0" i="1" smtClean="0">
                                <a:solidFill>
                                  <a:srgbClr val="9900CC"/>
                                </a:solidFill>
                                <a:latin typeface="Cambria Math" panose="02040503050406030204" pitchFamily="18" charset="0"/>
                              </a:rPr>
                              <m:t>ℎ</m:t>
                            </m:r>
                          </m:e>
                          <m:sub>
                            <m:r>
                              <a:rPr lang="en-US" sz="3200" b="0" i="1">
                                <a:solidFill>
                                  <a:srgbClr val="9900CC"/>
                                </a:solidFill>
                                <a:latin typeface="Cambria Math" panose="02040503050406030204" pitchFamily="18" charset="0"/>
                              </a:rPr>
                              <m:t>𝑘</m:t>
                            </m:r>
                            <m:r>
                              <a:rPr lang="en-US" sz="3200" b="0" i="1">
                                <a:solidFill>
                                  <a:srgbClr val="9900CC"/>
                                </a:solidFill>
                                <a:latin typeface="Cambria Math" panose="02040503050406030204" pitchFamily="18" charset="0"/>
                              </a:rPr>
                              <m:t>−</m:t>
                            </m:r>
                            <m:r>
                              <a:rPr lang="en-US" sz="3200" b="0" i="1">
                                <a:solidFill>
                                  <a:srgbClr val="9900CC"/>
                                </a:solidFill>
                                <a:latin typeface="Cambria Math" panose="02040503050406030204" pitchFamily="18" charset="0"/>
                              </a:rPr>
                              <m:t>1</m:t>
                            </m:r>
                          </m:sub>
                        </m:sSub>
                      </m:den>
                    </m:f>
                  </m:oMath>
                </a14:m>
                <a:endParaRPr lang="en-US" sz="3200" b="0" dirty="0">
                  <a:solidFill>
                    <a:srgbClr val="C00000"/>
                  </a:solidFill>
                </a:endParaRPr>
              </a:p>
            </p:txBody>
          </p:sp>
        </mc:Choice>
        <mc:Fallback>
          <p:sp>
            <p:nvSpPr>
              <p:cNvPr id="33" name="Rectangle 32"/>
              <p:cNvSpPr>
                <a:spLocks noRot="1" noChangeAspect="1" noMove="1" noResize="1" noEditPoints="1" noAdjustHandles="1" noChangeArrowheads="1" noChangeShapeType="1" noTextEdit="1"/>
              </p:cNvSpPr>
              <p:nvPr/>
            </p:nvSpPr>
            <p:spPr>
              <a:xfrm>
                <a:off x="2030449" y="5372924"/>
                <a:ext cx="3184654" cy="1247842"/>
              </a:xfrm>
              <a:prstGeom prst="rect">
                <a:avLst/>
              </a:prstGeom>
              <a:blipFill rotWithShape="1">
                <a:blip r:embed="rId4"/>
                <a:stretch>
                  <a:fillRect l="-11" t="-15" r="15" b="21"/>
                </a:stretch>
              </a:blipFill>
            </p:spPr>
            <p:txBody>
              <a:bodyPr/>
              <a:lstStyle/>
              <a:p>
                <a:r>
                  <a:rPr lang="zh-CN" altLang="en-US">
                    <a:noFill/>
                  </a:rPr>
                  <a:t> </a:t>
                </a:r>
              </a:p>
            </p:txBody>
          </p:sp>
        </mc:Fallback>
      </mc:AlternateContent>
      <p:cxnSp>
        <p:nvCxnSpPr>
          <p:cNvPr id="34" name="Straight Arrow Connector 33"/>
          <p:cNvCxnSpPr>
            <a:endCxn id="27" idx="1"/>
          </p:cNvCxnSpPr>
          <p:nvPr/>
        </p:nvCxnSpPr>
        <p:spPr bwMode="auto">
          <a:xfrm>
            <a:off x="1135785" y="2226118"/>
            <a:ext cx="2642710" cy="889665"/>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4" name="Rectangle 13"/>
              <p:cNvSpPr/>
              <p:nvPr/>
            </p:nvSpPr>
            <p:spPr>
              <a:xfrm>
                <a:off x="4843750" y="3573959"/>
                <a:ext cx="848502" cy="7694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sz="4400" b="0" i="1">
                              <a:latin typeface="Cambria Math" panose="02040503050406030204" pitchFamily="18" charset="0"/>
                            </a:rPr>
                          </m:ctrlPr>
                        </m:sSubPr>
                        <m:e>
                          <m:r>
                            <a:rPr lang="en-US" sz="4400" b="0" i="1">
                              <a:latin typeface="Cambria Math" panose="02040503050406030204" pitchFamily="18" charset="0"/>
                            </a:rPr>
                            <m:t>𝑓</m:t>
                          </m:r>
                        </m:e>
                        <m:sub>
                          <m:r>
                            <a:rPr lang="en-US" sz="4400" b="0" i="1">
                              <a:latin typeface="Cambria Math" panose="02040503050406030204" pitchFamily="18" charset="0"/>
                            </a:rPr>
                            <m:t>𝑘</m:t>
                          </m:r>
                        </m:sub>
                      </m:sSub>
                    </m:oMath>
                  </m:oMathPara>
                </a14:m>
                <a:endParaRPr lang="en-US" sz="4400" dirty="0"/>
              </a:p>
            </p:txBody>
          </p:sp>
        </mc:Choice>
        <mc:Fallback>
          <p:sp>
            <p:nvSpPr>
              <p:cNvPr id="14" name="Rectangle 13"/>
              <p:cNvSpPr>
                <a:spLocks noRot="1" noChangeAspect="1" noMove="1" noResize="1" noEditPoints="1" noAdjustHandles="1" noChangeArrowheads="1" noChangeShapeType="1" noTextEdit="1"/>
              </p:cNvSpPr>
              <p:nvPr/>
            </p:nvSpPr>
            <p:spPr>
              <a:xfrm>
                <a:off x="4843750" y="3573959"/>
                <a:ext cx="848502" cy="769441"/>
              </a:xfrm>
              <a:prstGeom prst="rect">
                <a:avLst/>
              </a:prstGeom>
              <a:blipFill rotWithShape="1">
                <a:blip r:embed="rId5"/>
                <a:stretch>
                  <a:fillRect l="-71" t="-23" r="-810" b="-80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Rectangle 36"/>
              <p:cNvSpPr/>
              <p:nvPr/>
            </p:nvSpPr>
            <p:spPr>
              <a:xfrm>
                <a:off x="49843" y="1684408"/>
                <a:ext cx="1207882" cy="58477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𝑘</m:t>
                          </m:r>
                        </m:sub>
                      </m:sSub>
                    </m:oMath>
                  </m:oMathPara>
                </a14:m>
                <a:endParaRPr lang="en-US" sz="3200" dirty="0"/>
              </a:p>
            </p:txBody>
          </p:sp>
        </mc:Choice>
        <mc:Fallback>
          <p:sp>
            <p:nvSpPr>
              <p:cNvPr id="37" name="Rectangle 36"/>
              <p:cNvSpPr>
                <a:spLocks noRot="1" noChangeAspect="1" noMove="1" noResize="1" noEditPoints="1" noAdjustHandles="1" noChangeArrowheads="1" noChangeShapeType="1" noTextEdit="1"/>
              </p:cNvSpPr>
              <p:nvPr/>
            </p:nvSpPr>
            <p:spPr>
              <a:xfrm>
                <a:off x="49843" y="1684408"/>
                <a:ext cx="1207882" cy="584775"/>
              </a:xfrm>
              <a:prstGeom prst="rect">
                <a:avLst/>
              </a:prstGeom>
              <a:blipFill rotWithShape="1">
                <a:blip r:embed="rId6"/>
                <a:stretch>
                  <a:fillRect l="-26" t="-66" r="35" b="-5482"/>
                </a:stretch>
              </a:blipFill>
            </p:spPr>
            <p:txBody>
              <a:bodyPr/>
              <a:lstStyle/>
              <a:p>
                <a:r>
                  <a:rPr lang="zh-CN" altLang="en-US">
                    <a:noFill/>
                  </a:rPr>
                  <a:t> </a:t>
                </a:r>
              </a:p>
            </p:txBody>
          </p:sp>
        </mc:Fallback>
      </mc:AlternateContent>
      <p:cxnSp>
        <p:nvCxnSpPr>
          <p:cNvPr id="38" name="Straight Arrow Connector 37"/>
          <p:cNvCxnSpPr/>
          <p:nvPr/>
        </p:nvCxnSpPr>
        <p:spPr bwMode="auto">
          <a:xfrm flipH="1" flipV="1">
            <a:off x="1331773" y="2135591"/>
            <a:ext cx="2613757" cy="864895"/>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2" name="Rectangle 41"/>
              <p:cNvSpPr/>
              <p:nvPr/>
            </p:nvSpPr>
            <p:spPr>
              <a:xfrm>
                <a:off x="1981200" y="1428971"/>
                <a:ext cx="2330766" cy="85702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FF0000"/>
                              </a:solidFill>
                              <a:latin typeface="Cambria Math" panose="02040503050406030204" pitchFamily="18" charset="0"/>
                            </a:rPr>
                          </m:ctrlPr>
                        </m:fPr>
                        <m:num>
                          <m:r>
                            <a:rPr lang="en-US" b="0"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b="0" i="1">
                              <a:solidFill>
                                <a:srgbClr val="FF0000"/>
                              </a:solidFill>
                              <a:latin typeface="Cambria Math" panose="02040503050406030204" pitchFamily="18" charset="0"/>
                            </a:rPr>
                            <m:t>𝜕</m:t>
                          </m:r>
                          <m:sSub>
                            <m:sSubPr>
                              <m:ctrlPr>
                                <a:rPr lang="en-US" b="0" i="1">
                                  <a:solidFill>
                                    <a:srgbClr val="FF0000"/>
                                  </a:solidFill>
                                  <a:latin typeface="Cambria Math" panose="02040503050406030204" pitchFamily="18" charset="0"/>
                                </a:rPr>
                              </m:ctrlPr>
                            </m:sSubPr>
                            <m:e>
                              <m:r>
                                <a:rPr lang="en-US" b="0" i="1">
                                  <a:solidFill>
                                    <a:srgbClr val="FF0000"/>
                                  </a:solidFill>
                                  <a:latin typeface="Cambria Math" panose="02040503050406030204" pitchFamily="18" charset="0"/>
                                </a:rPr>
                                <m:t>𝑤</m:t>
                              </m:r>
                            </m:e>
                            <m:sub>
                              <m:r>
                                <a:rPr lang="en-US" b="0" i="1">
                                  <a:solidFill>
                                    <a:srgbClr val="FF0000"/>
                                  </a:solidFill>
                                  <a:latin typeface="Cambria Math" panose="02040503050406030204" pitchFamily="18" charset="0"/>
                                </a:rPr>
                                <m:t>𝑘</m:t>
                              </m:r>
                            </m:sub>
                          </m:sSub>
                        </m:den>
                      </m:f>
                      <m:r>
                        <a:rPr lang="en-US" b="0" i="1" smtClean="0">
                          <a:solidFill>
                            <a:srgbClr val="FF0000"/>
                          </a:solidFill>
                          <a:latin typeface="Cambria Math" panose="02040503050406030204" pitchFamily="18" charset="0"/>
                        </a:rPr>
                        <m:t>=</m:t>
                      </m:r>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sSub>
                            <m:sSubPr>
                              <m:ctrlPr>
                                <a:rPr lang="en-US" b="0" i="1">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ℎ</m:t>
                              </m:r>
                            </m:e>
                            <m:sub>
                              <m:r>
                                <a:rPr lang="en-US" b="0" i="1">
                                  <a:solidFill>
                                    <a:srgbClr val="C00000"/>
                                  </a:solidFill>
                                  <a:latin typeface="Cambria Math" panose="02040503050406030204" pitchFamily="18" charset="0"/>
                                </a:rPr>
                                <m:t>𝑘</m:t>
                              </m:r>
                            </m:sub>
                          </m:sSub>
                        </m:den>
                      </m:f>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ℎ</m:t>
                              </m:r>
                            </m:e>
                            <m:sub>
                              <m:r>
                                <a:rPr lang="en-US" b="0" i="1">
                                  <a:solidFill>
                                    <a:srgbClr val="9900CC"/>
                                  </a:solidFill>
                                  <a:latin typeface="Cambria Math" panose="02040503050406030204" pitchFamily="18" charset="0"/>
                                </a:rPr>
                                <m:t>𝑘</m:t>
                              </m:r>
                            </m:sub>
                          </m:sSub>
                        </m:num>
                        <m:den>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𝑤</m:t>
                              </m:r>
                            </m:e>
                            <m:sub>
                              <m:r>
                                <a:rPr lang="en-US" b="0" i="1">
                                  <a:solidFill>
                                    <a:srgbClr val="9900CC"/>
                                  </a:solidFill>
                                  <a:latin typeface="Cambria Math" panose="02040503050406030204" pitchFamily="18" charset="0"/>
                                </a:rPr>
                                <m:t>𝑘</m:t>
                              </m:r>
                            </m:sub>
                          </m:sSub>
                        </m:den>
                      </m:f>
                    </m:oMath>
                  </m:oMathPara>
                </a14:m>
                <a:endParaRPr lang="en-US" dirty="0">
                  <a:solidFill>
                    <a:srgbClr val="FF0000"/>
                  </a:solidFill>
                </a:endParaRPr>
              </a:p>
            </p:txBody>
          </p:sp>
        </mc:Choice>
        <mc:Fallback>
          <p:sp>
            <p:nvSpPr>
              <p:cNvPr id="42" name="Rectangle 41"/>
              <p:cNvSpPr>
                <a:spLocks noRot="1" noChangeAspect="1" noMove="1" noResize="1" noEditPoints="1" noAdjustHandles="1" noChangeArrowheads="1" noChangeShapeType="1" noTextEdit="1"/>
              </p:cNvSpPr>
              <p:nvPr/>
            </p:nvSpPr>
            <p:spPr>
              <a:xfrm>
                <a:off x="1981200" y="1428971"/>
                <a:ext cx="2330766" cy="857029"/>
              </a:xfrm>
              <a:prstGeom prst="rect">
                <a:avLst/>
              </a:prstGeom>
              <a:blipFill rotWithShape="1">
                <a:blip r:embed="rId7"/>
                <a:stretch>
                  <a:fillRect t="-26" r="14"/>
                </a:stretch>
              </a:blipFill>
            </p:spPr>
            <p:txBody>
              <a:bodyPr/>
              <a:lstStyle/>
              <a:p>
                <a:r>
                  <a:rPr lang="zh-CN" altLang="en-US">
                    <a:noFill/>
                  </a:rPr>
                  <a:t> </a:t>
                </a:r>
              </a:p>
            </p:txBody>
          </p:sp>
        </mc:Fallback>
      </mc:AlternateContent>
      <p:cxnSp>
        <p:nvCxnSpPr>
          <p:cNvPr id="61" name="Straight Arrow Connector 60"/>
          <p:cNvCxnSpPr/>
          <p:nvPr/>
        </p:nvCxnSpPr>
        <p:spPr bwMode="auto">
          <a:xfrm flipH="1">
            <a:off x="1375877" y="4960071"/>
            <a:ext cx="2569653" cy="526329"/>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4" name="Rectangle 63"/>
              <p:cNvSpPr/>
              <p:nvPr/>
            </p:nvSpPr>
            <p:spPr>
              <a:xfrm>
                <a:off x="3853150" y="4171037"/>
                <a:ext cx="1067856" cy="85702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ℎ</m:t>
                              </m:r>
                            </m:e>
                            <m:sub>
                              <m:r>
                                <a:rPr lang="en-US" b="0" i="1">
                                  <a:solidFill>
                                    <a:srgbClr val="9900CC"/>
                                  </a:solidFill>
                                  <a:latin typeface="Cambria Math" panose="02040503050406030204" pitchFamily="18" charset="0"/>
                                </a:rPr>
                                <m:t>𝑘</m:t>
                              </m:r>
                            </m:sub>
                          </m:sSub>
                        </m:num>
                        <m:den>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ℎ</m:t>
                              </m:r>
                            </m:e>
                            <m:sub>
                              <m:r>
                                <a:rPr lang="en-US" b="0" i="1">
                                  <a:solidFill>
                                    <a:srgbClr val="9900CC"/>
                                  </a:solidFill>
                                  <a:latin typeface="Cambria Math" panose="02040503050406030204" pitchFamily="18" charset="0"/>
                                </a:rPr>
                                <m:t>𝑘</m:t>
                              </m:r>
                              <m:r>
                                <a:rPr lang="en-US" b="0" i="1">
                                  <a:solidFill>
                                    <a:srgbClr val="9900CC"/>
                                  </a:solidFill>
                                  <a:latin typeface="Cambria Math" panose="02040503050406030204" pitchFamily="18" charset="0"/>
                                </a:rPr>
                                <m:t>−</m:t>
                              </m:r>
                              <m:r>
                                <a:rPr lang="en-US" b="0" i="1">
                                  <a:solidFill>
                                    <a:srgbClr val="9900CC"/>
                                  </a:solidFill>
                                  <a:latin typeface="Cambria Math" panose="02040503050406030204" pitchFamily="18" charset="0"/>
                                </a:rPr>
                                <m:t>1</m:t>
                              </m:r>
                            </m:sub>
                          </m:sSub>
                        </m:den>
                      </m:f>
                    </m:oMath>
                  </m:oMathPara>
                </a14:m>
                <a:endParaRPr lang="en-US" dirty="0">
                  <a:solidFill>
                    <a:srgbClr val="9900CC"/>
                  </a:solidFill>
                </a:endParaRPr>
              </a:p>
            </p:txBody>
          </p:sp>
        </mc:Choice>
        <mc:Fallback>
          <p:sp>
            <p:nvSpPr>
              <p:cNvPr id="64" name="Rectangle 63"/>
              <p:cNvSpPr>
                <a:spLocks noRot="1" noChangeAspect="1" noMove="1" noResize="1" noEditPoints="1" noAdjustHandles="1" noChangeArrowheads="1" noChangeShapeType="1" noTextEdit="1"/>
              </p:cNvSpPr>
              <p:nvPr/>
            </p:nvSpPr>
            <p:spPr>
              <a:xfrm>
                <a:off x="3853150" y="4171037"/>
                <a:ext cx="1067856" cy="857029"/>
              </a:xfrm>
              <a:prstGeom prst="rect">
                <a:avLst/>
              </a:prstGeom>
              <a:blipFill rotWithShape="1">
                <a:blip r:embed="rId8"/>
                <a:stretch>
                  <a:fillRect l="-57" t="-42" r="37"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5" name="Rectangle 64"/>
              <p:cNvSpPr/>
              <p:nvPr/>
            </p:nvSpPr>
            <p:spPr>
              <a:xfrm>
                <a:off x="3945530" y="3000486"/>
                <a:ext cx="822020" cy="85702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ℎ</m:t>
                              </m:r>
                            </m:e>
                            <m:sub>
                              <m:r>
                                <a:rPr lang="en-US" b="0" i="1">
                                  <a:solidFill>
                                    <a:srgbClr val="9900CC"/>
                                  </a:solidFill>
                                  <a:latin typeface="Cambria Math" panose="02040503050406030204" pitchFamily="18" charset="0"/>
                                </a:rPr>
                                <m:t>𝑘</m:t>
                              </m:r>
                            </m:sub>
                          </m:sSub>
                        </m:num>
                        <m:den>
                          <m: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𝑤</m:t>
                              </m:r>
                            </m:e>
                            <m:sub>
                              <m:r>
                                <a:rPr lang="en-US" b="0" i="1">
                                  <a:solidFill>
                                    <a:srgbClr val="9900CC"/>
                                  </a:solidFill>
                                  <a:latin typeface="Cambria Math" panose="02040503050406030204" pitchFamily="18" charset="0"/>
                                </a:rPr>
                                <m:t>𝑘</m:t>
                              </m:r>
                            </m:sub>
                          </m:sSub>
                        </m:den>
                      </m:f>
                    </m:oMath>
                  </m:oMathPara>
                </a14:m>
                <a:endParaRPr lang="en-US" dirty="0">
                  <a:solidFill>
                    <a:srgbClr val="9900CC"/>
                  </a:solidFill>
                </a:endParaRPr>
              </a:p>
            </p:txBody>
          </p:sp>
        </mc:Choice>
        <mc:Fallback>
          <p:sp>
            <p:nvSpPr>
              <p:cNvPr id="65" name="Rectangle 64"/>
              <p:cNvSpPr>
                <a:spLocks noRot="1" noChangeAspect="1" noMove="1" noResize="1" noEditPoints="1" noAdjustHandles="1" noChangeArrowheads="1" noChangeShapeType="1" noTextEdit="1"/>
              </p:cNvSpPr>
              <p:nvPr/>
            </p:nvSpPr>
            <p:spPr>
              <a:xfrm>
                <a:off x="3945530" y="3000486"/>
                <a:ext cx="822020" cy="857029"/>
              </a:xfrm>
              <a:prstGeom prst="rect">
                <a:avLst/>
              </a:prstGeom>
              <a:blipFill rotWithShape="1">
                <a:blip r:embed="rId9"/>
                <a:stretch>
                  <a:fillRect l="-33" t="-13" r="74" b="61"/>
                </a:stretch>
              </a:blipFill>
            </p:spPr>
            <p:txBody>
              <a:bodyPr/>
              <a:lstStyle/>
              <a:p>
                <a:r>
                  <a:rPr lang="zh-CN" altLang="en-US">
                    <a:noFill/>
                  </a:rPr>
                  <a:t> </a:t>
                </a:r>
              </a:p>
            </p:txBody>
          </p:sp>
        </mc:Fallback>
      </mc:AlternateContent>
      <p:sp>
        <p:nvSpPr>
          <p:cNvPr id="70" name="TextBox 69"/>
          <p:cNvSpPr txBox="1"/>
          <p:nvPr/>
        </p:nvSpPr>
        <p:spPr>
          <a:xfrm>
            <a:off x="4746610" y="3257490"/>
            <a:ext cx="1795684" cy="400110"/>
          </a:xfrm>
          <a:prstGeom prst="rect">
            <a:avLst/>
          </a:prstGeom>
          <a:noFill/>
        </p:spPr>
        <p:txBody>
          <a:bodyPr wrap="none" rtlCol="0">
            <a:spAutoFit/>
          </a:bodyPr>
          <a:lstStyle/>
          <a:p>
            <a:r>
              <a:rPr lang="en-US" sz="2000" b="0" dirty="0">
                <a:solidFill>
                  <a:srgbClr val="9900CC"/>
                </a:solidFill>
              </a:rPr>
              <a:t>Local gradient</a:t>
            </a:r>
            <a:endParaRPr lang="en-US" sz="2000" b="0" dirty="0">
              <a:solidFill>
                <a:srgbClr val="9900CC"/>
              </a:solidFill>
            </a:endParaRPr>
          </a:p>
        </p:txBody>
      </p:sp>
      <p:sp>
        <p:nvSpPr>
          <p:cNvPr id="71" name="TextBox 70"/>
          <p:cNvSpPr txBox="1"/>
          <p:nvPr/>
        </p:nvSpPr>
        <p:spPr>
          <a:xfrm>
            <a:off x="4757516" y="4400490"/>
            <a:ext cx="1795684" cy="400110"/>
          </a:xfrm>
          <a:prstGeom prst="rect">
            <a:avLst/>
          </a:prstGeom>
          <a:noFill/>
        </p:spPr>
        <p:txBody>
          <a:bodyPr wrap="none" rtlCol="0">
            <a:spAutoFit/>
          </a:bodyPr>
          <a:lstStyle/>
          <a:p>
            <a:r>
              <a:rPr lang="en-US" sz="2000" b="0" dirty="0">
                <a:solidFill>
                  <a:srgbClr val="9900CC"/>
                </a:solidFill>
              </a:rPr>
              <a:t>Local gradient</a:t>
            </a:r>
            <a:endParaRPr lang="en-US" sz="2000" b="0" dirty="0">
              <a:solidFill>
                <a:srgbClr val="9900CC"/>
              </a:solidFill>
            </a:endParaRPr>
          </a:p>
        </p:txBody>
      </p:sp>
      <p:sp>
        <p:nvSpPr>
          <p:cNvPr id="72" name="Rectangle 71"/>
          <p:cNvSpPr/>
          <p:nvPr/>
        </p:nvSpPr>
        <p:spPr>
          <a:xfrm>
            <a:off x="1828800" y="969982"/>
            <a:ext cx="2735044" cy="461665"/>
          </a:xfrm>
          <a:prstGeom prst="rect">
            <a:avLst/>
          </a:prstGeom>
        </p:spPr>
        <p:txBody>
          <a:bodyPr wrap="none">
            <a:spAutoFit/>
          </a:bodyPr>
          <a:lstStyle/>
          <a:p>
            <a:pPr algn="ctr"/>
            <a:r>
              <a:rPr lang="en-US" b="0" dirty="0">
                <a:solidFill>
                  <a:srgbClr val="FF0000"/>
                </a:solidFill>
              </a:rPr>
              <a:t>Parameter update:</a:t>
            </a:r>
            <a:endParaRPr lang="en-US" b="0" dirty="0">
              <a:solidFill>
                <a:srgbClr val="FF0000"/>
              </a:solidFill>
            </a:endParaRPr>
          </a:p>
        </p:txBody>
      </p:sp>
      <p:cxnSp>
        <p:nvCxnSpPr>
          <p:cNvPr id="22" name="Straight Arrow Connector 21"/>
          <p:cNvCxnSpPr/>
          <p:nvPr/>
        </p:nvCxnSpPr>
        <p:spPr bwMode="auto">
          <a:xfrm>
            <a:off x="6599557" y="6096000"/>
            <a:ext cx="740950"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3" name="TextBox 2"/>
          <p:cNvSpPr txBox="1"/>
          <p:nvPr/>
        </p:nvSpPr>
        <p:spPr>
          <a:xfrm>
            <a:off x="7391400" y="5867400"/>
            <a:ext cx="1582484" cy="369332"/>
          </a:xfrm>
          <a:prstGeom prst="rect">
            <a:avLst/>
          </a:prstGeom>
          <a:noFill/>
        </p:spPr>
        <p:txBody>
          <a:bodyPr wrap="none" rtlCol="0">
            <a:spAutoFit/>
          </a:bodyPr>
          <a:lstStyle/>
          <a:p>
            <a:r>
              <a:rPr lang="en-US" sz="1800" b="0" dirty="0">
                <a:solidFill>
                  <a:srgbClr val="00B050"/>
                </a:solidFill>
              </a:rPr>
              <a:t>Forward pass</a:t>
            </a:r>
            <a:endParaRPr lang="en-US" sz="1800" b="0" dirty="0">
              <a:solidFill>
                <a:srgbClr val="00B050"/>
              </a:solidFill>
            </a:endParaRPr>
          </a:p>
        </p:txBody>
      </p:sp>
      <p:cxnSp>
        <p:nvCxnSpPr>
          <p:cNvPr id="28" name="Straight Arrow Connector 27"/>
          <p:cNvCxnSpPr/>
          <p:nvPr/>
        </p:nvCxnSpPr>
        <p:spPr bwMode="auto">
          <a:xfrm flipH="1">
            <a:off x="6574250" y="6400800"/>
            <a:ext cx="740950"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1" name="TextBox 30"/>
          <p:cNvSpPr txBox="1"/>
          <p:nvPr/>
        </p:nvSpPr>
        <p:spPr>
          <a:xfrm>
            <a:off x="7391400" y="6172200"/>
            <a:ext cx="1749197" cy="369332"/>
          </a:xfrm>
          <a:prstGeom prst="rect">
            <a:avLst/>
          </a:prstGeom>
          <a:noFill/>
        </p:spPr>
        <p:txBody>
          <a:bodyPr wrap="none" rtlCol="0">
            <a:spAutoFit/>
          </a:bodyPr>
          <a:lstStyle/>
          <a:p>
            <a:r>
              <a:rPr lang="en-US" sz="1800" b="0" dirty="0">
                <a:solidFill>
                  <a:srgbClr val="FF0000"/>
                </a:solidFill>
              </a:rPr>
              <a:t>Backward pass</a:t>
            </a:r>
            <a:endParaRPr lang="en-US" sz="1800" b="0" dirty="0">
              <a:solidFill>
                <a:srgbClr val="FF0000"/>
              </a:solidFill>
            </a:endParaRPr>
          </a:p>
        </p:txBody>
      </p:sp>
    </p:spTree>
    <p:custDataLst>
      <p:tags r:id="rId1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p:bldP spid="42" grpId="0"/>
      <p:bldP spid="64" grpId="0"/>
      <p:bldP spid="65" grpId="0"/>
      <p:bldP spid="70" grpId="0"/>
      <p:bldP spid="71" grpId="0"/>
      <p:bldP spid="72"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220200" cy="838200"/>
          </a:xfrm>
        </p:spPr>
        <p:txBody>
          <a:bodyPr/>
          <a:lstStyle/>
          <a:p>
            <a:r>
              <a:rPr lang="en-US" dirty="0"/>
              <a:t>What about more general computation graphs?</a:t>
            </a:r>
            <a:endParaRPr lang="en-US" dirty="0"/>
          </a:p>
        </p:txBody>
      </p:sp>
      <p:pic>
        <p:nvPicPr>
          <p:cNvPr id="4" name="Picture 3"/>
          <p:cNvPicPr>
            <a:picLocks noChangeAspect="1"/>
          </p:cNvPicPr>
          <p:nvPr/>
        </p:nvPicPr>
        <p:blipFill>
          <a:blip r:embed="rId1"/>
          <a:stretch>
            <a:fillRect/>
          </a:stretch>
        </p:blipFill>
        <p:spPr>
          <a:xfrm>
            <a:off x="838200" y="2133600"/>
            <a:ext cx="7885953" cy="3467100"/>
          </a:xfrm>
          <a:prstGeom prst="rect">
            <a:avLst/>
          </a:prstGeom>
        </p:spPr>
      </p:pic>
      <p:sp>
        <p:nvSpPr>
          <p:cNvPr id="5" name="TextBox 4"/>
          <p:cNvSpPr txBox="1"/>
          <p:nvPr/>
        </p:nvSpPr>
        <p:spPr>
          <a:xfrm>
            <a:off x="1143000" y="1447800"/>
            <a:ext cx="1247457" cy="461665"/>
          </a:xfrm>
          <a:prstGeom prst="rect">
            <a:avLst/>
          </a:prstGeom>
          <a:noFill/>
        </p:spPr>
        <p:txBody>
          <a:bodyPr wrap="none" rtlCol="0">
            <a:spAutoFit/>
          </a:bodyPr>
          <a:lstStyle/>
          <a:p>
            <a:r>
              <a:rPr lang="en-US" dirty="0" err="1">
                <a:solidFill>
                  <a:srgbClr val="FF0000"/>
                </a:solidFill>
              </a:rPr>
              <a:t>ResNet</a:t>
            </a:r>
            <a:endParaRPr lang="en-US" dirty="0">
              <a:solidFill>
                <a:srgbClr val="FF0000"/>
              </a:solidFill>
            </a:endParaRPr>
          </a:p>
        </p:txBody>
      </p:sp>
      <p:sp>
        <p:nvSpPr>
          <p:cNvPr id="7" name="TextBox 6"/>
          <p:cNvSpPr txBox="1"/>
          <p:nvPr/>
        </p:nvSpPr>
        <p:spPr>
          <a:xfrm>
            <a:off x="5181600" y="1447799"/>
            <a:ext cx="1452642" cy="461665"/>
          </a:xfrm>
          <a:prstGeom prst="rect">
            <a:avLst/>
          </a:prstGeom>
          <a:noFill/>
        </p:spPr>
        <p:txBody>
          <a:bodyPr wrap="none" rtlCol="0">
            <a:spAutoFit/>
          </a:bodyPr>
          <a:lstStyle/>
          <a:p>
            <a:r>
              <a:rPr lang="en-US" dirty="0" err="1">
                <a:solidFill>
                  <a:srgbClr val="FF0000"/>
                </a:solidFill>
              </a:rPr>
              <a:t>ResNeXt</a:t>
            </a:r>
            <a:endParaRPr lang="en-US" dirty="0">
              <a:solidFill>
                <a:srgbClr val="FF0000"/>
              </a:solidFill>
            </a:endParaRPr>
          </a:p>
        </p:txBody>
      </p:sp>
      <p:sp>
        <p:nvSpPr>
          <p:cNvPr id="8" name="TextBox 7"/>
          <p:cNvSpPr txBox="1"/>
          <p:nvPr/>
        </p:nvSpPr>
        <p:spPr>
          <a:xfrm>
            <a:off x="7629586" y="6443246"/>
            <a:ext cx="1438214" cy="338554"/>
          </a:xfrm>
          <a:prstGeom prst="rect">
            <a:avLst/>
          </a:prstGeom>
          <a:noFill/>
        </p:spPr>
        <p:txBody>
          <a:bodyPr wrap="none" rtlCol="0">
            <a:spAutoFit/>
          </a:bodyPr>
          <a:lstStyle/>
          <a:p>
            <a:r>
              <a:rPr lang="en-US" sz="1600" b="0" dirty="0">
                <a:hlinkClick r:id="rId2"/>
              </a:rPr>
              <a:t>Figure source</a:t>
            </a:r>
            <a:endParaRPr lang="en-US" sz="16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220200" cy="838200"/>
          </a:xfrm>
        </p:spPr>
        <p:txBody>
          <a:bodyPr/>
          <a:lstStyle/>
          <a:p>
            <a:r>
              <a:rPr lang="en-US" dirty="0"/>
              <a:t>What about more general computation graphs?</a:t>
            </a:r>
            <a:endParaRPr 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27319" y="1524000"/>
            <a:ext cx="6289362" cy="4185920"/>
          </a:xfrm>
          <a:prstGeom prst="rect">
            <a:avLst/>
          </a:prstGeom>
        </p:spPr>
      </p:pic>
      <p:sp>
        <p:nvSpPr>
          <p:cNvPr id="10" name="TextBox 9"/>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2"/>
              </a:rPr>
              <a:t>Stanford 231n</a:t>
            </a:r>
            <a:endParaRPr lang="en-US" sz="1600" b="0" dirty="0"/>
          </a:p>
        </p:txBody>
      </p:sp>
      <p:sp>
        <p:nvSpPr>
          <p:cNvPr id="6" name="Rectangle 5"/>
          <p:cNvSpPr/>
          <p:nvPr/>
        </p:nvSpPr>
        <p:spPr bwMode="auto">
          <a:xfrm>
            <a:off x="3962400" y="3352800"/>
            <a:ext cx="324866"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3" name="TextBox 2"/>
          <p:cNvSpPr txBox="1"/>
          <p:nvPr/>
        </p:nvSpPr>
        <p:spPr>
          <a:xfrm>
            <a:off x="4204368" y="3200400"/>
            <a:ext cx="4330032" cy="461665"/>
          </a:xfrm>
          <a:prstGeom prst="rect">
            <a:avLst/>
          </a:prstGeom>
          <a:solidFill>
            <a:schemeClr val="bg1"/>
          </a:solidFill>
        </p:spPr>
        <p:txBody>
          <a:bodyPr wrap="none" rtlCol="0">
            <a:spAutoFit/>
          </a:bodyPr>
          <a:lstStyle/>
          <a:p>
            <a:r>
              <a:rPr lang="en-US" dirty="0">
                <a:solidFill>
                  <a:srgbClr val="FF0000"/>
                </a:solidFill>
              </a:rPr>
              <a:t>+ Gradients add at branches</a:t>
            </a:r>
            <a:endParaRPr lang="en-US" dirty="0">
              <a:solidFill>
                <a:srgbClr val="FF0000"/>
              </a:solidFill>
            </a:endParaRPr>
          </a:p>
        </p:txBody>
      </p:sp>
      <p:cxnSp>
        <p:nvCxnSpPr>
          <p:cNvPr id="7" name="Straight Arrow Connector 6"/>
          <p:cNvCxnSpPr/>
          <p:nvPr/>
        </p:nvCxnSpPr>
        <p:spPr bwMode="auto">
          <a:xfrm>
            <a:off x="1752600" y="2362200"/>
            <a:ext cx="990600" cy="83820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11" name="Straight Arrow Connector 10"/>
          <p:cNvCxnSpPr/>
          <p:nvPr/>
        </p:nvCxnSpPr>
        <p:spPr bwMode="auto">
          <a:xfrm flipV="1">
            <a:off x="1600200" y="3662065"/>
            <a:ext cx="1219200" cy="833735"/>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7" name="TextBox 6"/>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8" name="Rectangle 7"/>
          <p:cNvSpPr/>
          <p:nvPr/>
        </p:nvSpPr>
        <p:spPr bwMode="auto">
          <a:xfrm>
            <a:off x="1524000" y="2188688"/>
            <a:ext cx="38100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Rectangle 15"/>
          <p:cNvSpPr/>
          <p:nvPr/>
        </p:nvSpPr>
        <p:spPr bwMode="auto">
          <a:xfrm>
            <a:off x="1479395" y="3546755"/>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8" name="Rectangle 17"/>
          <p:cNvSpPr/>
          <p:nvPr/>
        </p:nvSpPr>
        <p:spPr bwMode="auto">
          <a:xfrm>
            <a:off x="2712720" y="2853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0" name="Rectangle 19"/>
          <p:cNvSpPr/>
          <p:nvPr/>
        </p:nvSpPr>
        <p:spPr bwMode="auto">
          <a:xfrm>
            <a:off x="3886200" y="374137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1" name="Rectangle 20"/>
          <p:cNvSpPr/>
          <p:nvPr/>
        </p:nvSpPr>
        <p:spPr bwMode="auto">
          <a:xfrm>
            <a:off x="38862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2" name="Rectangle 21"/>
          <p:cNvSpPr/>
          <p:nvPr/>
        </p:nvSpPr>
        <p:spPr bwMode="auto">
          <a:xfrm>
            <a:off x="5101683" y="37338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3" name="Rectangle 22"/>
          <p:cNvSpPr/>
          <p:nvPr/>
        </p:nvSpPr>
        <p:spPr bwMode="auto">
          <a:xfrm>
            <a:off x="51054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4" name="Rectangle 23"/>
          <p:cNvSpPr/>
          <p:nvPr/>
        </p:nvSpPr>
        <p:spPr bwMode="auto">
          <a:xfrm>
            <a:off x="63246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5" name="Rectangle 24"/>
          <p:cNvSpPr/>
          <p:nvPr/>
        </p:nvSpPr>
        <p:spPr bwMode="auto">
          <a:xfrm>
            <a:off x="6317166" y="3714979"/>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6" name="Rectangle 25"/>
          <p:cNvSpPr/>
          <p:nvPr/>
        </p:nvSpPr>
        <p:spPr bwMode="auto">
          <a:xfrm>
            <a:off x="7524843" y="3733799"/>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7" name="Rectangle 26"/>
          <p:cNvSpPr/>
          <p:nvPr/>
        </p:nvSpPr>
        <p:spPr bwMode="auto">
          <a:xfrm>
            <a:off x="75438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8" name="Rectangle 27"/>
          <p:cNvSpPr/>
          <p:nvPr/>
        </p:nvSpPr>
        <p:spPr bwMode="auto">
          <a:xfrm>
            <a:off x="8686800" y="3714979"/>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9" name="Rectangle 28"/>
          <p:cNvSpPr/>
          <p:nvPr/>
        </p:nvSpPr>
        <p:spPr bwMode="auto">
          <a:xfrm>
            <a:off x="8686800" y="3995566"/>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30" name="TextBox 29"/>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P spid="18" grpId="0" animBg="1"/>
      <p:bldP spid="20" grpId="0" animBg="1"/>
      <p:bldP spid="22" grpId="0" animBg="1"/>
      <p:bldP spid="25" grpId="0" animBg="1"/>
      <p:bldP spid="26"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1" name="Rectangle 20"/>
          <p:cNvSpPr/>
          <p:nvPr/>
        </p:nvSpPr>
        <p:spPr bwMode="auto">
          <a:xfrm>
            <a:off x="38862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3" name="Rectangle 22"/>
          <p:cNvSpPr/>
          <p:nvPr/>
        </p:nvSpPr>
        <p:spPr bwMode="auto">
          <a:xfrm>
            <a:off x="51054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4" name="Rectangle 23"/>
          <p:cNvSpPr/>
          <p:nvPr/>
        </p:nvSpPr>
        <p:spPr bwMode="auto">
          <a:xfrm>
            <a:off x="63246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7" name="Rectangle 26"/>
          <p:cNvSpPr/>
          <p:nvPr/>
        </p:nvSpPr>
        <p:spPr bwMode="auto">
          <a:xfrm>
            <a:off x="75438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9" name="Rectangle 28"/>
          <p:cNvSpPr/>
          <p:nvPr/>
        </p:nvSpPr>
        <p:spPr bwMode="auto">
          <a:xfrm>
            <a:off x="8686800" y="3995566"/>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 name="TextBox 2"/>
              <p:cNvSpPr txBox="1"/>
              <p:nvPr/>
            </p:nvSpPr>
            <p:spPr>
              <a:xfrm>
                <a:off x="6816595" y="5334000"/>
                <a:ext cx="2022605"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m:t>
                              </m:r>
                              <m:r>
                                <a:rPr lang="en-US" sz="2000" b="0" i="1" smtClean="0">
                                  <a:latin typeface="Cambria Math" panose="02040503050406030204" pitchFamily="18" charset="0"/>
                                </a:rPr>
                                <m:t>𝑥</m:t>
                              </m:r>
                            </m:e>
                          </m:d>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oMath>
                  </m:oMathPara>
                </a14:m>
                <a:endParaRPr lang="en-US" sz="2000" b="0" dirty="0"/>
              </a:p>
            </p:txBody>
          </p:sp>
        </mc:Choice>
        <mc:Fallback>
          <p:sp>
            <p:nvSpPr>
              <p:cNvPr id="3" name="TextBox 2"/>
              <p:cNvSpPr txBox="1">
                <a:spLocks noRot="1" noChangeAspect="1" noMove="1" noResize="1" noEditPoints="1" noAdjustHandles="1" noChangeArrowheads="1" noChangeShapeType="1" noTextEdit="1"/>
              </p:cNvSpPr>
              <p:nvPr/>
            </p:nvSpPr>
            <p:spPr>
              <a:xfrm>
                <a:off x="6816595" y="5334000"/>
                <a:ext cx="2022605" cy="400110"/>
              </a:xfrm>
              <a:prstGeom prst="rect">
                <a:avLst/>
              </a:prstGeom>
              <a:blipFill rotWithShape="1">
                <a:blip r:embed="rId2"/>
                <a:stretch>
                  <a:fillRect l="-25" b="-6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3"/>
                <a:stretch>
                  <a:fillRect r="4" b="4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6400800" y="5772366"/>
                <a:ext cx="2591287" cy="67056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m:t>
                      </m:r>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1</m:t>
                          </m:r>
                        </m:num>
                        <m:den>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37</m:t>
                              </m:r>
                            </m:e>
                            <m:sup>
                              <m:r>
                                <a:rPr lang="en-US" sz="2000" b="0" i="1" smtClean="0">
                                  <a:solidFill>
                                    <a:schemeClr val="tx1"/>
                                  </a:solidFill>
                                  <a:latin typeface="Cambria Math" panose="02040503050406030204" pitchFamily="18" charset="0"/>
                                </a:rPr>
                                <m:t>2</m:t>
                              </m:r>
                            </m:sup>
                          </m:sSup>
                        </m:den>
                      </m:f>
                      <m:r>
                        <a:rPr lang="en-US" sz="2000" b="0" i="1" smtClean="0">
                          <a:solidFill>
                            <a:schemeClr val="tx1"/>
                          </a:solidFill>
                          <a:latin typeface="Cambria Math" panose="02040503050406030204" pitchFamily="18" charset="0"/>
                        </a:rPr>
                        <m:t> ∗ </m:t>
                      </m:r>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0</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53</m:t>
                      </m:r>
                    </m:oMath>
                  </m:oMathPara>
                </a14:m>
                <a:endParaRPr lang="en-US" sz="2000" b="0" dirty="0">
                  <a:solidFill>
                    <a:schemeClr val="tx1"/>
                  </a:solidFill>
                </a:endParaRPr>
              </a:p>
            </p:txBody>
          </p:sp>
        </mc:Choice>
        <mc:Fallback>
          <p:sp>
            <p:nvSpPr>
              <p:cNvPr id="31" name="TextBox 30"/>
              <p:cNvSpPr txBox="1">
                <a:spLocks noRot="1" noChangeAspect="1" noMove="1" noResize="1" noEditPoints="1" noAdjustHandles="1" noChangeArrowheads="1" noChangeShapeType="1" noTextEdit="1"/>
              </p:cNvSpPr>
              <p:nvPr/>
            </p:nvSpPr>
            <p:spPr>
              <a:xfrm>
                <a:off x="6400800" y="5772366"/>
                <a:ext cx="2591287" cy="670568"/>
              </a:xfrm>
              <a:prstGeom prst="rect">
                <a:avLst/>
              </a:prstGeom>
              <a:blipFill rotWithShape="1">
                <a:blip r:embed="rId4"/>
                <a:stretch>
                  <a:fillRect t="-32" r="19" b="33"/>
                </a:stretch>
              </a:blipFill>
            </p:spPr>
            <p:txBody>
              <a:bodyPr/>
              <a:lstStyle/>
              <a:p>
                <a:r>
                  <a:rPr lang="zh-CN" altLang="en-US">
                    <a:noFill/>
                  </a:rPr>
                  <a:t> </a:t>
                </a:r>
              </a:p>
            </p:txBody>
          </p:sp>
        </mc:Fallback>
      </mc:AlternateContent>
      <p:sp>
        <p:nvSpPr>
          <p:cNvPr id="4" name="Rectangle 3"/>
          <p:cNvSpPr/>
          <p:nvPr/>
        </p:nvSpPr>
        <p:spPr bwMode="auto">
          <a:xfrm>
            <a:off x="7467600" y="3995567"/>
            <a:ext cx="609600"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7315200" y="4190191"/>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55280" y="4190191"/>
              <a:ext cx="32004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sp>
        <p:nvSpPr>
          <p:cNvPr id="44" name="TextBox 43"/>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5"/>
              </a:rPr>
              <a:t>Stanford 231n</a:t>
            </a:r>
            <a:endParaRPr lang="en-US" sz="1600" b="0" dirty="0"/>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 grpId="0"/>
      <p:bldP spid="31" grpId="0"/>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1" name="Rectangle 20"/>
          <p:cNvSpPr/>
          <p:nvPr/>
        </p:nvSpPr>
        <p:spPr bwMode="auto">
          <a:xfrm>
            <a:off x="38862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3" name="Rectangle 22"/>
          <p:cNvSpPr/>
          <p:nvPr/>
        </p:nvSpPr>
        <p:spPr bwMode="auto">
          <a:xfrm>
            <a:off x="51054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4" name="Rectangle 23"/>
          <p:cNvSpPr/>
          <p:nvPr/>
        </p:nvSpPr>
        <p:spPr bwMode="auto">
          <a:xfrm>
            <a:off x="63246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6172200" y="3995567"/>
            <a:ext cx="609600"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6172200" y="4190191"/>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24800" y="4190191"/>
              <a:ext cx="35052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sp>
        <p:nvSpPr>
          <p:cNvPr id="35" name="TextBox 34"/>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1" name="Rectangle 20"/>
          <p:cNvSpPr/>
          <p:nvPr/>
        </p:nvSpPr>
        <p:spPr bwMode="auto">
          <a:xfrm>
            <a:off x="38862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3" name="Rectangle 22"/>
          <p:cNvSpPr/>
          <p:nvPr/>
        </p:nvSpPr>
        <p:spPr bwMode="auto">
          <a:xfrm>
            <a:off x="51054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5029200" y="3995567"/>
            <a:ext cx="609600"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4953000" y="4174333"/>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24800" y="4190191"/>
              <a:ext cx="35052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mc:AlternateContent xmlns:mc="http://schemas.openxmlformats.org/markup-compatibility/2006">
        <mc:Choice xmlns:a14="http://schemas.microsoft.com/office/drawing/2010/main" Requires="a14">
          <p:sp>
            <p:nvSpPr>
              <p:cNvPr id="25" name="TextBox 24"/>
              <p:cNvSpPr txBox="1"/>
              <p:nvPr/>
            </p:nvSpPr>
            <p:spPr>
              <a:xfrm>
                <a:off x="4648200" y="5334000"/>
                <a:ext cx="3322704"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exp</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1</m:t>
                              </m:r>
                            </m:e>
                          </m:d>
                        </m:e>
                      </m:func>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53</m:t>
                          </m:r>
                        </m:e>
                      </m:d>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20</m:t>
                      </m:r>
                    </m:oMath>
                  </m:oMathPara>
                </a14:m>
                <a:endParaRPr lang="en-US" sz="2000" b="0" dirty="0">
                  <a:solidFill>
                    <a:schemeClr val="tx1"/>
                  </a:solidFill>
                </a:endParaRPr>
              </a:p>
            </p:txBody>
          </p:sp>
        </mc:Choice>
        <mc:Fallback>
          <p:sp>
            <p:nvSpPr>
              <p:cNvPr id="25" name="TextBox 24"/>
              <p:cNvSpPr txBox="1">
                <a:spLocks noRot="1" noChangeAspect="1" noMove="1" noResize="1" noEditPoints="1" noAdjustHandles="1" noChangeArrowheads="1" noChangeShapeType="1" noTextEdit="1"/>
              </p:cNvSpPr>
              <p:nvPr/>
            </p:nvSpPr>
            <p:spPr>
              <a:xfrm>
                <a:off x="4648200" y="5334000"/>
                <a:ext cx="3322704" cy="400110"/>
              </a:xfrm>
              <a:prstGeom prst="rect">
                <a:avLst/>
              </a:prstGeom>
              <a:blipFill rotWithShape="1">
                <a:blip r:embed="rId3"/>
                <a:stretch>
                  <a:fillRect r="12" b="-620"/>
                </a:stretch>
              </a:blipFill>
            </p:spPr>
            <p:txBody>
              <a:bodyPr/>
              <a:lstStyle/>
              <a:p>
                <a:r>
                  <a:rPr lang="zh-CN" altLang="en-US">
                    <a:noFill/>
                  </a:rPr>
                  <a:t> </a:t>
                </a:r>
              </a:p>
            </p:txBody>
          </p:sp>
        </mc:Fallback>
      </mc:AlternateContent>
      <p:sp>
        <p:nvSpPr>
          <p:cNvPr id="26" name="TextBox 25"/>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4"/>
              </a:rPr>
              <a:t>Stanford 231n</a:t>
            </a:r>
            <a:endParaRPr lang="en-US" sz="1600" b="0" dirty="0"/>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4" grpId="0" animBg="1"/>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1" name="Rectangle 20"/>
          <p:cNvSpPr/>
          <p:nvPr/>
        </p:nvSpPr>
        <p:spPr bwMode="auto">
          <a:xfrm>
            <a:off x="3886200" y="3996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3810000" y="3995567"/>
            <a:ext cx="609600"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3733800" y="4174333"/>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24800" y="4190191"/>
              <a:ext cx="35052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sp>
        <p:nvSpPr>
          <p:cNvPr id="24" name="TextBox 23"/>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83464" y="4868698"/>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304800" y="4876800"/>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2514600" y="4185726"/>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24800" y="4190191"/>
              <a:ext cx="35052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sp>
        <p:nvSpPr>
          <p:cNvPr id="23" name="TextBox 22"/>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Rectangle 18"/>
          <p:cNvSpPr/>
          <p:nvPr/>
        </p:nvSpPr>
        <p:spPr bwMode="auto">
          <a:xfrm>
            <a:off x="2667000" y="31242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2667000" y="3124200"/>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42" name="Group 41"/>
          <p:cNvGrpSpPr/>
          <p:nvPr/>
        </p:nvGrpSpPr>
        <p:grpSpPr>
          <a:xfrm>
            <a:off x="2514600" y="4185726"/>
            <a:ext cx="1783080" cy="1148274"/>
            <a:chOff x="7315200" y="4190191"/>
            <a:chExt cx="1783080" cy="1148274"/>
          </a:xfrm>
        </p:grpSpPr>
        <p:sp>
          <p:nvSpPr>
            <p:cNvPr id="5" name="TextBox 4"/>
            <p:cNvSpPr txBox="1"/>
            <p:nvPr/>
          </p:nvSpPr>
          <p:spPr>
            <a:xfrm>
              <a:off x="7315200" y="4794177"/>
              <a:ext cx="960120" cy="461665"/>
            </a:xfrm>
            <a:prstGeom prst="rect">
              <a:avLst/>
            </a:prstGeom>
            <a:noFill/>
          </p:spPr>
          <p:txBody>
            <a:bodyPr wrap="square" rtlCol="0">
              <a:spAutoFit/>
            </a:bodyPr>
            <a:lstStyle/>
            <a:p>
              <a:pPr algn="ctr"/>
              <a:r>
                <a:rPr lang="en-US" sz="1200" b="0" dirty="0"/>
                <a:t>Local gradient</a:t>
              </a:r>
              <a:endParaRPr lang="en-US" sz="1200" b="0" dirty="0"/>
            </a:p>
          </p:txBody>
        </p:sp>
        <p:sp>
          <p:nvSpPr>
            <p:cNvPr id="32" name="TextBox 31"/>
            <p:cNvSpPr txBox="1"/>
            <p:nvPr/>
          </p:nvSpPr>
          <p:spPr>
            <a:xfrm>
              <a:off x="8138160" y="4800600"/>
              <a:ext cx="960120" cy="461665"/>
            </a:xfrm>
            <a:prstGeom prst="rect">
              <a:avLst/>
            </a:prstGeom>
            <a:noFill/>
          </p:spPr>
          <p:txBody>
            <a:bodyPr wrap="square" rtlCol="0">
              <a:spAutoFit/>
            </a:bodyPr>
            <a:lstStyle/>
            <a:p>
              <a:pPr algn="ctr"/>
              <a:r>
                <a:rPr lang="en-US" sz="1200" b="0" dirty="0"/>
                <a:t>Upstream gradient</a:t>
              </a:r>
              <a:endParaRPr lang="en-US" sz="1200" b="0" dirty="0"/>
            </a:p>
          </p:txBody>
        </p:sp>
        <p:cxnSp>
          <p:nvCxnSpPr>
            <p:cNvPr id="33" name="Straight Arrow Connector 32"/>
            <p:cNvCxnSpPr/>
            <p:nvPr/>
          </p:nvCxnSpPr>
          <p:spPr bwMode="auto">
            <a:xfrm flipV="1">
              <a:off x="7924800" y="4190191"/>
              <a:ext cx="350520" cy="57215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4" name="Straight Arrow Connector 33"/>
            <p:cNvCxnSpPr/>
            <p:nvPr/>
          </p:nvCxnSpPr>
          <p:spPr bwMode="auto">
            <a:xfrm flipV="1">
              <a:off x="8583168" y="4223293"/>
              <a:ext cx="294047" cy="539051"/>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36" name="TextBox 35"/>
            <p:cNvSpPr txBox="1"/>
            <p:nvPr/>
          </p:nvSpPr>
          <p:spPr>
            <a:xfrm>
              <a:off x="8001000" y="4876800"/>
              <a:ext cx="304892" cy="461665"/>
            </a:xfrm>
            <a:prstGeom prst="rect">
              <a:avLst/>
            </a:prstGeom>
            <a:noFill/>
          </p:spPr>
          <p:txBody>
            <a:bodyPr wrap="none" rtlCol="0">
              <a:spAutoFit/>
            </a:bodyPr>
            <a:lstStyle/>
            <a:p>
              <a:r>
                <a:rPr lang="en-US" b="0" dirty="0"/>
                <a:t>*</a:t>
              </a:r>
              <a:endParaRPr lang="en-US" b="0" dirty="0"/>
            </a:p>
          </p:txBody>
        </p:sp>
        <p:sp>
          <p:nvSpPr>
            <p:cNvPr id="37" name="Rectangle 36"/>
            <p:cNvSpPr/>
            <p:nvPr/>
          </p:nvSpPr>
          <p:spPr bwMode="auto">
            <a:xfrm>
              <a:off x="7434072" y="4764620"/>
              <a:ext cx="1557528" cy="55798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sp>
        <p:nvSpPr>
          <p:cNvPr id="22" name="TextBox 21"/>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1487944" y="3805674"/>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1474497" y="3810000"/>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6" name="TextBox 25"/>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1447800" y="24384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1473439" y="2420781"/>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0" name="TextBox 19"/>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337073" y="4179856"/>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3" name="TextBox 2"/>
          <p:cNvSpPr txBox="1"/>
          <p:nvPr/>
        </p:nvSpPr>
        <p:spPr>
          <a:xfrm>
            <a:off x="283464" y="4133088"/>
            <a:ext cx="534121" cy="276999"/>
          </a:xfrm>
          <a:prstGeom prst="rect">
            <a:avLst/>
          </a:prstGeom>
          <a:noFill/>
        </p:spPr>
        <p:txBody>
          <a:bodyPr wrap="none" rtlCol="0">
            <a:spAutoFit/>
          </a:bodyPr>
          <a:lstStyle/>
          <a:p>
            <a:r>
              <a:rPr lang="en-US" sz="1200" b="0" dirty="0">
                <a:solidFill>
                  <a:srgbClr val="FF0000"/>
                </a:solidFill>
              </a:rPr>
              <a:t>-0.60</a:t>
            </a:r>
            <a:endParaRPr lang="en-US" sz="1200" b="0" dirty="0">
              <a:solidFill>
                <a:srgbClr val="FF0000"/>
              </a:solidFill>
            </a:endParaRPr>
          </a:p>
        </p:txBody>
      </p:sp>
      <p:sp>
        <p:nvSpPr>
          <p:cNvPr id="20" name="TextBox 19"/>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337073" y="3478834"/>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3" name="TextBox 2"/>
          <p:cNvSpPr txBox="1"/>
          <p:nvPr/>
        </p:nvSpPr>
        <p:spPr>
          <a:xfrm>
            <a:off x="283464" y="3438144"/>
            <a:ext cx="534121" cy="276999"/>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4" name="TextBox 13"/>
          <p:cNvSpPr txBox="1"/>
          <p:nvPr/>
        </p:nvSpPr>
        <p:spPr>
          <a:xfrm>
            <a:off x="283464" y="4133088"/>
            <a:ext cx="534121" cy="276999"/>
          </a:xfrm>
          <a:prstGeom prst="rect">
            <a:avLst/>
          </a:prstGeom>
          <a:noFill/>
        </p:spPr>
        <p:txBody>
          <a:bodyPr wrap="none" rtlCol="0">
            <a:spAutoFit/>
          </a:bodyPr>
          <a:lstStyle/>
          <a:p>
            <a:r>
              <a:rPr lang="en-US" sz="1200" b="0" dirty="0">
                <a:solidFill>
                  <a:srgbClr val="FF0000"/>
                </a:solidFill>
              </a:rPr>
              <a:t>-0.60</a:t>
            </a:r>
            <a:endParaRPr lang="en-US" sz="1200" b="0" dirty="0">
              <a:solidFill>
                <a:srgbClr val="FF0000"/>
              </a:solidFill>
            </a:endParaRPr>
          </a:p>
        </p:txBody>
      </p:sp>
      <p:sp>
        <p:nvSpPr>
          <p:cNvPr id="15" name="TextBox 14"/>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913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337073" y="2793034"/>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TextBox 13"/>
          <p:cNvSpPr txBox="1"/>
          <p:nvPr/>
        </p:nvSpPr>
        <p:spPr>
          <a:xfrm>
            <a:off x="283464" y="4133088"/>
            <a:ext cx="534121" cy="276999"/>
          </a:xfrm>
          <a:prstGeom prst="rect">
            <a:avLst/>
          </a:prstGeom>
          <a:noFill/>
        </p:spPr>
        <p:txBody>
          <a:bodyPr wrap="none" rtlCol="0">
            <a:spAutoFit/>
          </a:bodyPr>
          <a:lstStyle/>
          <a:p>
            <a:r>
              <a:rPr lang="en-US" sz="1200" b="0" dirty="0">
                <a:solidFill>
                  <a:srgbClr val="FF0000"/>
                </a:solidFill>
              </a:rPr>
              <a:t>-0.60</a:t>
            </a:r>
            <a:endParaRPr lang="en-US" sz="1200" b="0" dirty="0">
              <a:solidFill>
                <a:srgbClr val="FF0000"/>
              </a:solidFill>
            </a:endParaRPr>
          </a:p>
        </p:txBody>
      </p:sp>
      <p:sp>
        <p:nvSpPr>
          <p:cNvPr id="15" name="TextBox 14"/>
          <p:cNvSpPr txBox="1"/>
          <p:nvPr/>
        </p:nvSpPr>
        <p:spPr>
          <a:xfrm>
            <a:off x="304800" y="2743199"/>
            <a:ext cx="482824" cy="283464"/>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6" name="TextBox 15"/>
          <p:cNvSpPr txBox="1"/>
          <p:nvPr/>
        </p:nvSpPr>
        <p:spPr>
          <a:xfrm>
            <a:off x="283464" y="3438144"/>
            <a:ext cx="534121" cy="276999"/>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7" name="TextBox 16"/>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9" name="Rectangle 8"/>
          <p:cNvSpPr/>
          <p:nvPr/>
        </p:nvSpPr>
        <p:spPr bwMode="auto">
          <a:xfrm>
            <a:off x="304800" y="2084832"/>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4" name="Rectangle 3"/>
          <p:cNvSpPr/>
          <p:nvPr/>
        </p:nvSpPr>
        <p:spPr bwMode="auto">
          <a:xfrm>
            <a:off x="291353" y="2073368"/>
            <a:ext cx="424927" cy="178766"/>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TextBox 13"/>
          <p:cNvSpPr txBox="1"/>
          <p:nvPr/>
        </p:nvSpPr>
        <p:spPr>
          <a:xfrm>
            <a:off x="283464" y="4133088"/>
            <a:ext cx="534121" cy="276999"/>
          </a:xfrm>
          <a:prstGeom prst="rect">
            <a:avLst/>
          </a:prstGeom>
          <a:noFill/>
        </p:spPr>
        <p:txBody>
          <a:bodyPr wrap="none" rtlCol="0">
            <a:spAutoFit/>
          </a:bodyPr>
          <a:lstStyle/>
          <a:p>
            <a:r>
              <a:rPr lang="en-US" sz="1200" b="0" dirty="0">
                <a:solidFill>
                  <a:srgbClr val="FF0000"/>
                </a:solidFill>
              </a:rPr>
              <a:t>-0.60</a:t>
            </a:r>
            <a:endParaRPr lang="en-US" sz="1200" b="0" dirty="0">
              <a:solidFill>
                <a:srgbClr val="FF0000"/>
              </a:solidFill>
            </a:endParaRPr>
          </a:p>
        </p:txBody>
      </p:sp>
      <p:sp>
        <p:nvSpPr>
          <p:cNvPr id="16" name="TextBox 15"/>
          <p:cNvSpPr txBox="1"/>
          <p:nvPr/>
        </p:nvSpPr>
        <p:spPr>
          <a:xfrm>
            <a:off x="283464" y="3438144"/>
            <a:ext cx="534121" cy="276999"/>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8" name="TextBox 17"/>
          <p:cNvSpPr txBox="1"/>
          <p:nvPr/>
        </p:nvSpPr>
        <p:spPr>
          <a:xfrm>
            <a:off x="304800" y="2743199"/>
            <a:ext cx="482824" cy="283464"/>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9" name="TextBox 18"/>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3"/>
              </a:rPr>
              <a:t>Stanford 231n</a:t>
            </a:r>
            <a:endParaRPr lang="en-US" sz="1600" b="0"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detailed example</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55063"/>
            <a:ext cx="9144000" cy="3347874"/>
          </a:xfrm>
          <a:prstGeom prst="rect">
            <a:avLst/>
          </a:prstGeom>
        </p:spPr>
      </p:pic>
      <p:sp>
        <p:nvSpPr>
          <p:cNvPr id="11" name="Rectangle 10"/>
          <p:cNvSpPr/>
          <p:nvPr/>
        </p:nvSpPr>
        <p:spPr bwMode="auto">
          <a:xfrm>
            <a:off x="304800" y="2777177"/>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274320" y="3462977"/>
            <a:ext cx="429768"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350520" y="4191000"/>
            <a:ext cx="411480" cy="19462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30" name="TextBox 29"/>
              <p:cNvSpPr txBox="1"/>
              <p:nvPr/>
            </p:nvSpPr>
            <p:spPr>
              <a:xfrm>
                <a:off x="3276600" y="914400"/>
                <a:ext cx="5715860" cy="75661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e>
                          </m:d>
                        </m:den>
                      </m:f>
                    </m:oMath>
                  </m:oMathPara>
                </a14:m>
                <a:endParaRPr lang="en-US" b="0" dirty="0"/>
              </a:p>
            </p:txBody>
          </p:sp>
        </mc:Choice>
        <mc:Fallback>
          <p:sp>
            <p:nvSpPr>
              <p:cNvPr id="30" name="TextBox 29"/>
              <p:cNvSpPr txBox="1">
                <a:spLocks noRot="1" noChangeAspect="1" noMove="1" noResize="1" noEditPoints="1" noAdjustHandles="1" noChangeArrowheads="1" noChangeShapeType="1" noTextEdit="1"/>
              </p:cNvSpPr>
              <p:nvPr/>
            </p:nvSpPr>
            <p:spPr>
              <a:xfrm>
                <a:off x="3276600" y="914400"/>
                <a:ext cx="5715860" cy="756617"/>
              </a:xfrm>
              <a:prstGeom prst="rect">
                <a:avLst/>
              </a:prstGeom>
              <a:blipFill rotWithShape="1">
                <a:blip r:embed="rId2"/>
                <a:stretch>
                  <a:fillRect r="4" b="44"/>
                </a:stretch>
              </a:blipFill>
            </p:spPr>
            <p:txBody>
              <a:bodyPr/>
              <a:lstStyle/>
              <a:p>
                <a:r>
                  <a:rPr lang="zh-CN" altLang="en-US">
                    <a:noFill/>
                  </a:rPr>
                  <a:t> </a:t>
                </a:r>
              </a:p>
            </p:txBody>
          </p:sp>
        </mc:Fallback>
      </mc:AlternateContent>
      <p:sp>
        <p:nvSpPr>
          <p:cNvPr id="14" name="TextBox 13"/>
          <p:cNvSpPr txBox="1"/>
          <p:nvPr/>
        </p:nvSpPr>
        <p:spPr>
          <a:xfrm>
            <a:off x="283464" y="4133088"/>
            <a:ext cx="534121" cy="276999"/>
          </a:xfrm>
          <a:prstGeom prst="rect">
            <a:avLst/>
          </a:prstGeom>
          <a:noFill/>
        </p:spPr>
        <p:txBody>
          <a:bodyPr wrap="none" rtlCol="0">
            <a:spAutoFit/>
          </a:bodyPr>
          <a:lstStyle/>
          <a:p>
            <a:r>
              <a:rPr lang="en-US" sz="1200" b="0" dirty="0">
                <a:solidFill>
                  <a:srgbClr val="FF0000"/>
                </a:solidFill>
              </a:rPr>
              <a:t>-0.60</a:t>
            </a:r>
            <a:endParaRPr lang="en-US" sz="1200" b="0" dirty="0">
              <a:solidFill>
                <a:srgbClr val="FF0000"/>
              </a:solidFill>
            </a:endParaRPr>
          </a:p>
        </p:txBody>
      </p:sp>
      <p:sp>
        <p:nvSpPr>
          <p:cNvPr id="16" name="TextBox 15"/>
          <p:cNvSpPr txBox="1"/>
          <p:nvPr/>
        </p:nvSpPr>
        <p:spPr>
          <a:xfrm>
            <a:off x="283464" y="3438144"/>
            <a:ext cx="534121" cy="276999"/>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18" name="TextBox 17"/>
          <p:cNvSpPr txBox="1"/>
          <p:nvPr/>
        </p:nvSpPr>
        <p:spPr>
          <a:xfrm>
            <a:off x="304800" y="2743199"/>
            <a:ext cx="482824" cy="283464"/>
          </a:xfrm>
          <a:prstGeom prst="rect">
            <a:avLst/>
          </a:prstGeom>
          <a:noFill/>
        </p:spPr>
        <p:txBody>
          <a:bodyPr wrap="none" rtlCol="0">
            <a:spAutoFit/>
          </a:bodyPr>
          <a:lstStyle/>
          <a:p>
            <a:r>
              <a:rPr lang="en-US" sz="1200" b="0" dirty="0">
                <a:solidFill>
                  <a:srgbClr val="FF0000"/>
                </a:solidFill>
              </a:rPr>
              <a:t>0.40</a:t>
            </a:r>
            <a:endParaRPr lang="en-US" sz="1200" b="0" dirty="0">
              <a:solidFill>
                <a:srgbClr val="FF0000"/>
              </a:solidFill>
            </a:endParaRPr>
          </a:p>
        </p:txBody>
      </p:sp>
      <p:sp>
        <p:nvSpPr>
          <p:cNvPr id="3" name="Rectangle 2"/>
          <p:cNvSpPr/>
          <p:nvPr/>
        </p:nvSpPr>
        <p:spPr bwMode="auto">
          <a:xfrm>
            <a:off x="4419600" y="3276600"/>
            <a:ext cx="4191000" cy="1295400"/>
          </a:xfrm>
          <a:prstGeom prst="rect">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rgbClr val="FF0000"/>
              </a:solidFill>
              <a:effectLst/>
              <a:latin typeface="Arial" panose="020B0604020202090204" pitchFamily="34" charset="0"/>
              <a:cs typeface="Arial" panose="020B0604020202090204" pitchFamily="34" charset="0"/>
            </a:endParaRPr>
          </a:p>
        </p:txBody>
      </p:sp>
      <mc:AlternateContent xmlns:mc="http://schemas.openxmlformats.org/markup-compatibility/2006">
        <mc:Choice xmlns:a14="http://schemas.microsoft.com/office/drawing/2010/main" Requires="a14">
          <p:sp>
            <p:nvSpPr>
              <p:cNvPr id="5" name="TextBox 4"/>
              <p:cNvSpPr txBox="1"/>
              <p:nvPr/>
            </p:nvSpPr>
            <p:spPr>
              <a:xfrm>
                <a:off x="4096374" y="4876800"/>
                <a:ext cx="4971426" cy="1094915"/>
              </a:xfrm>
              <a:prstGeom prst="rect">
                <a:avLst/>
              </a:prstGeom>
              <a:noFill/>
            </p:spPr>
            <p:txBody>
              <a:bodyPr wrap="none" rtlCol="0">
                <a:spAutoFit/>
              </a:bodyPr>
              <a:lstStyle/>
              <a:p>
                <a:pPr algn="ctr"/>
                <a:r>
                  <a:rPr lang="en-US" sz="2000" b="0" dirty="0"/>
                  <a:t>Sigmoid gate </a:t>
                </a:r>
                <a14:m>
                  <m:oMath xmlns:m="http://schemas.openxmlformats.org/officeDocument/2006/math">
                    <m:r>
                      <a:rPr lang="en-US" sz="2000" b="0" i="1" smtClean="0">
                        <a:latin typeface="Cambria Math" panose="02040503050406030204" pitchFamily="18" charset="0"/>
                        <a:ea typeface="Cambria Math" panose="02040503050406030204" pitchFamily="18" charset="0"/>
                      </a:rPr>
                      <m:t>𝜎</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oMath>
                </a14:m>
                <a:endParaRPr lang="en-US" sz="20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ea typeface="Cambria Math" panose="02040503050406030204" pitchFamily="18" charset="0"/>
                            </a:rPr>
                            <m:t>′</m:t>
                          </m:r>
                        </m:sup>
                      </m:sSup>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𝜎</m:t>
                      </m:r>
                      <m:d>
                        <m:dPr>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𝑥</m:t>
                          </m:r>
                        </m:e>
                      </m:d>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𝜎</m:t>
                          </m:r>
                          <m:d>
                            <m:dPr>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𝑥</m:t>
                              </m:r>
                            </m:e>
                          </m:d>
                        </m:e>
                      </m:d>
                    </m:oMath>
                  </m:oMathPara>
                </a14:m>
                <a:endParaRPr lang="en-US" sz="2000"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000" b="0" i="1">
                          <a:latin typeface="Cambria Math" panose="02040503050406030204" pitchFamily="18" charset="0"/>
                          <a:ea typeface="Cambria Math" panose="02040503050406030204" pitchFamily="18" charset="0"/>
                        </a:rPr>
                        <m:t>𝜎</m:t>
                      </m:r>
                      <m:d>
                        <m:dPr>
                          <m:ctrlPr>
                            <a:rPr lang="en-US" sz="2000" b="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e>
                      </m:d>
                      <m:d>
                        <m:dPr>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1</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𝜎</m:t>
                          </m:r>
                          <m:d>
                            <m:dPr>
                              <m:ctrlPr>
                                <a:rPr lang="en-US" sz="2000" b="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73</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73</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20</m:t>
                      </m:r>
                    </m:oMath>
                  </m:oMathPara>
                </a14:m>
                <a:endParaRPr lang="en-US" sz="2000" b="0" dirty="0"/>
              </a:p>
            </p:txBody>
          </p:sp>
        </mc:Choice>
        <mc:Fallback>
          <p:sp>
            <p:nvSpPr>
              <p:cNvPr id="5" name="TextBox 4"/>
              <p:cNvSpPr txBox="1">
                <a:spLocks noRot="1" noChangeAspect="1" noMove="1" noResize="1" noEditPoints="1" noAdjustHandles="1" noChangeArrowheads="1" noChangeShapeType="1" noTextEdit="1"/>
              </p:cNvSpPr>
              <p:nvPr/>
            </p:nvSpPr>
            <p:spPr>
              <a:xfrm>
                <a:off x="4096374" y="4876800"/>
                <a:ext cx="4971426" cy="1094915"/>
              </a:xfrm>
              <a:prstGeom prst="rect">
                <a:avLst/>
              </a:prstGeom>
              <a:blipFill rotWithShape="1">
                <a:blip r:embed="rId3"/>
                <a:stretch>
                  <a:fillRect l="-13" b="-3580"/>
                </a:stretch>
              </a:blipFill>
            </p:spPr>
            <p:txBody>
              <a:bodyPr/>
              <a:lstStyle/>
              <a:p>
                <a:r>
                  <a:rPr lang="zh-CN" altLang="en-US">
                    <a:noFill/>
                  </a:rPr>
                  <a:t> </a:t>
                </a:r>
              </a:p>
            </p:txBody>
          </p:sp>
        </mc:Fallback>
      </mc:AlternateContent>
      <p:sp>
        <p:nvSpPr>
          <p:cNvPr id="7" name="TextBox 6"/>
          <p:cNvSpPr txBox="1"/>
          <p:nvPr/>
        </p:nvSpPr>
        <p:spPr>
          <a:xfrm>
            <a:off x="4339250" y="2743199"/>
            <a:ext cx="4499950" cy="461665"/>
          </a:xfrm>
          <a:prstGeom prst="rect">
            <a:avLst/>
          </a:prstGeom>
          <a:noFill/>
        </p:spPr>
        <p:txBody>
          <a:bodyPr wrap="none" rtlCol="0">
            <a:spAutoFit/>
          </a:bodyPr>
          <a:lstStyle/>
          <a:p>
            <a:r>
              <a:rPr lang="en-US" b="0" dirty="0">
                <a:solidFill>
                  <a:srgbClr val="FF0000"/>
                </a:solidFill>
              </a:rPr>
              <a:t>Can simplify computation graph</a:t>
            </a:r>
            <a:endParaRPr lang="en-US" b="0" dirty="0">
              <a:solidFill>
                <a:srgbClr val="FF0000"/>
              </a:solidFill>
            </a:endParaRPr>
          </a:p>
        </p:txBody>
      </p:sp>
      <p:sp>
        <p:nvSpPr>
          <p:cNvPr id="17" name="TextBox 16"/>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4"/>
              </a:rPr>
              <a:t>Stanford 231n</a:t>
            </a:r>
            <a:endParaRPr lang="en-US" sz="1600" b="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Patterns in gradient flow</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2600" y="1219200"/>
            <a:ext cx="5801015" cy="3429000"/>
          </a:xfrm>
          <a:prstGeom prst="rect">
            <a:avLst/>
          </a:prstGeom>
        </p:spPr>
      </p:pic>
      <p:sp>
        <p:nvSpPr>
          <p:cNvPr id="6" name="Rectangle 5"/>
          <p:cNvSpPr/>
          <p:nvPr/>
        </p:nvSpPr>
        <p:spPr bwMode="auto">
          <a:xfrm>
            <a:off x="3657600" y="1676400"/>
            <a:ext cx="762000" cy="304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7" name="Rectangle 6"/>
          <p:cNvSpPr/>
          <p:nvPr/>
        </p:nvSpPr>
        <p:spPr bwMode="auto">
          <a:xfrm>
            <a:off x="3505200" y="35814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8" name="Rectangle 7"/>
          <p:cNvSpPr/>
          <p:nvPr/>
        </p:nvSpPr>
        <p:spPr bwMode="auto">
          <a:xfrm>
            <a:off x="5257800" y="2667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9" name="Rectangle 8"/>
          <p:cNvSpPr/>
          <p:nvPr/>
        </p:nvSpPr>
        <p:spPr bwMode="auto">
          <a:xfrm>
            <a:off x="6858000" y="2667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0" name="Rectangle 9"/>
          <p:cNvSpPr/>
          <p:nvPr/>
        </p:nvSpPr>
        <p:spPr bwMode="auto">
          <a:xfrm>
            <a:off x="1947672" y="16002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1981200" y="25146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1905000" y="3429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057400" y="43860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3581400" y="2057400"/>
            <a:ext cx="609600" cy="381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Rectangle 15"/>
          <p:cNvSpPr/>
          <p:nvPr/>
        </p:nvSpPr>
        <p:spPr bwMode="auto">
          <a:xfrm>
            <a:off x="3581400" y="39288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5105400" y="30144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8" name="Rectangle 17"/>
          <p:cNvSpPr/>
          <p:nvPr/>
        </p:nvSpPr>
        <p:spPr bwMode="auto">
          <a:xfrm>
            <a:off x="6705600" y="29718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TextBox 18"/>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2"/>
              </a:rPr>
              <a:t>Stanford 231n</a:t>
            </a:r>
            <a:endParaRPr lang="en-US" sz="1600" b="0"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Patterns in gradient flow</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071" y="1219200"/>
            <a:ext cx="5801015" cy="3429000"/>
          </a:xfrm>
          <a:prstGeom prst="rect">
            <a:avLst/>
          </a:prstGeom>
        </p:spPr>
      </p:pic>
      <p:sp>
        <p:nvSpPr>
          <p:cNvPr id="10" name="Rectangle 9"/>
          <p:cNvSpPr/>
          <p:nvPr/>
        </p:nvSpPr>
        <p:spPr bwMode="auto">
          <a:xfrm>
            <a:off x="1955143" y="16002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1988671" y="25146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1912471" y="3429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064871" y="43860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Rectangle 14"/>
          <p:cNvSpPr/>
          <p:nvPr/>
        </p:nvSpPr>
        <p:spPr bwMode="auto">
          <a:xfrm>
            <a:off x="3588871" y="2057400"/>
            <a:ext cx="609600" cy="381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Rectangle 15"/>
          <p:cNvSpPr/>
          <p:nvPr/>
        </p:nvSpPr>
        <p:spPr bwMode="auto">
          <a:xfrm>
            <a:off x="3588871" y="39288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Rectangle 16"/>
          <p:cNvSpPr/>
          <p:nvPr/>
        </p:nvSpPr>
        <p:spPr bwMode="auto">
          <a:xfrm>
            <a:off x="5112871" y="2996184"/>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20" name="TextBox 19"/>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2"/>
              </a:rPr>
              <a:t>Stanford 231n</a:t>
            </a:r>
            <a:endParaRPr lang="en-US" sz="1600" b="0" dirty="0"/>
          </a:p>
        </p:txBody>
      </p:sp>
      <p:sp>
        <p:nvSpPr>
          <p:cNvPr id="21" name="TextBox 20"/>
          <p:cNvSpPr txBox="1"/>
          <p:nvPr/>
        </p:nvSpPr>
        <p:spPr>
          <a:xfrm>
            <a:off x="1996945" y="4872335"/>
            <a:ext cx="4344459" cy="461665"/>
          </a:xfrm>
          <a:prstGeom prst="rect">
            <a:avLst/>
          </a:prstGeom>
          <a:noFill/>
        </p:spPr>
        <p:txBody>
          <a:bodyPr wrap="none" rtlCol="0">
            <a:spAutoFit/>
          </a:bodyPr>
          <a:lstStyle/>
          <a:p>
            <a:r>
              <a:rPr lang="en-US" b="0" dirty="0">
                <a:solidFill>
                  <a:srgbClr val="FF0000"/>
                </a:solidFill>
              </a:rPr>
              <a:t>Add gate: “gradient distributor”</a:t>
            </a:r>
            <a:endParaRPr lang="en-US" b="0" dirty="0">
              <a:solidFill>
                <a:srgbClr val="FF0000"/>
              </a:solidFill>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Patterns in gradient flow</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071" y="1219200"/>
            <a:ext cx="5801015" cy="3429000"/>
          </a:xfrm>
          <a:prstGeom prst="rect">
            <a:avLst/>
          </a:prstGeom>
        </p:spPr>
      </p:pic>
      <p:sp>
        <p:nvSpPr>
          <p:cNvPr id="10" name="Rectangle 9"/>
          <p:cNvSpPr/>
          <p:nvPr/>
        </p:nvSpPr>
        <p:spPr bwMode="auto">
          <a:xfrm>
            <a:off x="1955143" y="16002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1912471" y="3429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4" name="Rectangle 13"/>
          <p:cNvSpPr/>
          <p:nvPr/>
        </p:nvSpPr>
        <p:spPr bwMode="auto">
          <a:xfrm>
            <a:off x="2995016" y="46146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TextBox 18"/>
          <p:cNvSpPr txBox="1"/>
          <p:nvPr/>
        </p:nvSpPr>
        <p:spPr>
          <a:xfrm>
            <a:off x="1996945" y="4872335"/>
            <a:ext cx="4344459" cy="461665"/>
          </a:xfrm>
          <a:prstGeom prst="rect">
            <a:avLst/>
          </a:prstGeom>
          <a:noFill/>
        </p:spPr>
        <p:txBody>
          <a:bodyPr wrap="none" rtlCol="0">
            <a:spAutoFit/>
          </a:bodyPr>
          <a:lstStyle/>
          <a:p>
            <a:r>
              <a:rPr lang="en-US" b="0" dirty="0">
                <a:solidFill>
                  <a:srgbClr val="FF0000"/>
                </a:solidFill>
              </a:rPr>
              <a:t>Add gate: “gradient distributor”</a:t>
            </a:r>
            <a:endParaRPr lang="en-US" b="0" dirty="0">
              <a:solidFill>
                <a:srgbClr val="FF0000"/>
              </a:solidFill>
            </a:endParaRPr>
          </a:p>
        </p:txBody>
      </p:sp>
      <p:sp>
        <p:nvSpPr>
          <p:cNvPr id="20" name="TextBox 19"/>
          <p:cNvSpPr txBox="1"/>
          <p:nvPr/>
        </p:nvSpPr>
        <p:spPr>
          <a:xfrm>
            <a:off x="2004416" y="5329535"/>
            <a:ext cx="4624984" cy="461665"/>
          </a:xfrm>
          <a:prstGeom prst="rect">
            <a:avLst/>
          </a:prstGeom>
          <a:noFill/>
        </p:spPr>
        <p:txBody>
          <a:bodyPr wrap="none" rtlCol="0">
            <a:spAutoFit/>
          </a:bodyPr>
          <a:lstStyle/>
          <a:p>
            <a:r>
              <a:rPr lang="en-US" b="0" dirty="0">
                <a:solidFill>
                  <a:srgbClr val="FF0000"/>
                </a:solidFill>
              </a:rPr>
              <a:t>Multiply gate: “gradient switcher”</a:t>
            </a:r>
            <a:endParaRPr lang="en-US" b="0" dirty="0">
              <a:solidFill>
                <a:srgbClr val="FF0000"/>
              </a:solidFill>
            </a:endParaRPr>
          </a:p>
        </p:txBody>
      </p:sp>
      <p:sp>
        <p:nvSpPr>
          <p:cNvPr id="21" name="TextBox 20"/>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2"/>
              </a:rPr>
              <a:t>Stanford 231n</a:t>
            </a:r>
            <a:endParaRPr lang="en-US" sz="1600" b="0" dirty="0"/>
          </a:p>
        </p:txBody>
      </p:sp>
      <p:sp>
        <p:nvSpPr>
          <p:cNvPr id="22" name="Rectangle 21"/>
          <p:cNvSpPr/>
          <p:nvPr/>
        </p:nvSpPr>
        <p:spPr bwMode="auto">
          <a:xfrm>
            <a:off x="2064871" y="4386072"/>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Patterns in gradient flow</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071" y="1219200"/>
            <a:ext cx="5801015" cy="3429000"/>
          </a:xfrm>
          <a:prstGeom prst="rect">
            <a:avLst/>
          </a:prstGeom>
        </p:spPr>
      </p:pic>
      <p:sp>
        <p:nvSpPr>
          <p:cNvPr id="13" name="Rectangle 12"/>
          <p:cNvSpPr/>
          <p:nvPr/>
        </p:nvSpPr>
        <p:spPr bwMode="auto">
          <a:xfrm>
            <a:off x="1912471" y="3429000"/>
            <a:ext cx="685800" cy="228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9" name="TextBox 18"/>
          <p:cNvSpPr txBox="1"/>
          <p:nvPr/>
        </p:nvSpPr>
        <p:spPr>
          <a:xfrm>
            <a:off x="1996945" y="4872335"/>
            <a:ext cx="4344459" cy="461665"/>
          </a:xfrm>
          <a:prstGeom prst="rect">
            <a:avLst/>
          </a:prstGeom>
          <a:noFill/>
        </p:spPr>
        <p:txBody>
          <a:bodyPr wrap="none" rtlCol="0">
            <a:spAutoFit/>
          </a:bodyPr>
          <a:lstStyle/>
          <a:p>
            <a:r>
              <a:rPr lang="en-US" b="0" dirty="0">
                <a:solidFill>
                  <a:srgbClr val="FF0000"/>
                </a:solidFill>
              </a:rPr>
              <a:t>Add gate: “gradient distributor”</a:t>
            </a:r>
            <a:endParaRPr lang="en-US" b="0" dirty="0">
              <a:solidFill>
                <a:srgbClr val="FF0000"/>
              </a:solidFill>
            </a:endParaRPr>
          </a:p>
        </p:txBody>
      </p:sp>
      <p:sp>
        <p:nvSpPr>
          <p:cNvPr id="20" name="TextBox 19"/>
          <p:cNvSpPr txBox="1"/>
          <p:nvPr/>
        </p:nvSpPr>
        <p:spPr>
          <a:xfrm>
            <a:off x="2004416" y="5329535"/>
            <a:ext cx="4624984" cy="461665"/>
          </a:xfrm>
          <a:prstGeom prst="rect">
            <a:avLst/>
          </a:prstGeom>
          <a:noFill/>
        </p:spPr>
        <p:txBody>
          <a:bodyPr wrap="none" rtlCol="0">
            <a:spAutoFit/>
          </a:bodyPr>
          <a:lstStyle/>
          <a:p>
            <a:r>
              <a:rPr lang="en-US" b="0" dirty="0">
                <a:solidFill>
                  <a:srgbClr val="FF0000"/>
                </a:solidFill>
              </a:rPr>
              <a:t>Multiply gate: “gradient switcher”</a:t>
            </a:r>
            <a:endParaRPr lang="en-US" b="0" dirty="0">
              <a:solidFill>
                <a:srgbClr val="FF0000"/>
              </a:solidFill>
            </a:endParaRPr>
          </a:p>
        </p:txBody>
      </p:sp>
      <p:sp>
        <p:nvSpPr>
          <p:cNvPr id="11" name="TextBox 10"/>
          <p:cNvSpPr txBox="1"/>
          <p:nvPr/>
        </p:nvSpPr>
        <p:spPr>
          <a:xfrm>
            <a:off x="2004416" y="5786735"/>
            <a:ext cx="3829895" cy="461665"/>
          </a:xfrm>
          <a:prstGeom prst="rect">
            <a:avLst/>
          </a:prstGeom>
          <a:noFill/>
        </p:spPr>
        <p:txBody>
          <a:bodyPr wrap="none" rtlCol="0">
            <a:spAutoFit/>
          </a:bodyPr>
          <a:lstStyle/>
          <a:p>
            <a:r>
              <a:rPr lang="en-US" b="0" dirty="0">
                <a:solidFill>
                  <a:srgbClr val="FF0000"/>
                </a:solidFill>
              </a:rPr>
              <a:t>Max gate: “gradient router”</a:t>
            </a:r>
            <a:endParaRPr lang="en-US" b="0" dirty="0">
              <a:solidFill>
                <a:srgbClr val="FF0000"/>
              </a:solidFill>
            </a:endParaRPr>
          </a:p>
        </p:txBody>
      </p:sp>
      <p:sp>
        <p:nvSpPr>
          <p:cNvPr id="15" name="TextBox 14"/>
          <p:cNvSpPr txBox="1"/>
          <p:nvPr/>
        </p:nvSpPr>
        <p:spPr>
          <a:xfrm>
            <a:off x="6858000" y="6443246"/>
            <a:ext cx="2238113" cy="338554"/>
          </a:xfrm>
          <a:prstGeom prst="rect">
            <a:avLst/>
          </a:prstGeom>
          <a:noFill/>
        </p:spPr>
        <p:txBody>
          <a:bodyPr wrap="none" rtlCol="0">
            <a:spAutoFit/>
          </a:bodyPr>
          <a:lstStyle/>
          <a:p>
            <a:r>
              <a:rPr lang="en-US" sz="1600" b="0" dirty="0"/>
              <a:t>Source: </a:t>
            </a:r>
            <a:r>
              <a:rPr lang="en-US" sz="1600" b="0" dirty="0">
                <a:hlinkClick r:id="rId2"/>
              </a:rPr>
              <a:t>Stanford 231n</a:t>
            </a:r>
            <a:endParaRPr lang="en-US" sz="1600" b="0"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54"/>
          <p:cNvSpPr/>
          <p:nvPr/>
        </p:nvSpPr>
        <p:spPr bwMode="auto">
          <a:xfrm>
            <a:off x="2734413" y="3457350"/>
            <a:ext cx="3581788" cy="1381372"/>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3200" b="0" i="0" u="none" strike="noStrike" cap="none" normalizeH="0" baseline="0" dirty="0">
              <a:ln>
                <a:noFill/>
              </a:ln>
              <a:solidFill>
                <a:schemeClr val="tx1"/>
              </a:solidFill>
              <a:effectLst/>
              <a:cs typeface="Arial" panose="020B0604020202090204" pitchFamily="34" charset="0"/>
            </a:endParaRPr>
          </a:p>
        </p:txBody>
      </p:sp>
      <p:sp>
        <p:nvSpPr>
          <p:cNvPr id="2" name="Title 1"/>
          <p:cNvSpPr>
            <a:spLocks noGrp="1"/>
          </p:cNvSpPr>
          <p:nvPr>
            <p:ph type="title"/>
          </p:nvPr>
        </p:nvSpPr>
        <p:spPr/>
        <p:txBody>
          <a:bodyPr/>
          <a:lstStyle/>
          <a:p>
            <a:r>
              <a:rPr lang="en-US" dirty="0"/>
              <a:t>Dealing with vectors</a:t>
            </a:r>
            <a:endParaRPr lang="en-US" dirty="0"/>
          </a:p>
        </p:txBody>
      </p:sp>
      <mc:AlternateContent xmlns:mc="http://schemas.openxmlformats.org/markup-compatibility/2006">
        <mc:Choice xmlns:a14="http://schemas.microsoft.com/office/drawing/2010/main" Requires="a14">
          <p:sp>
            <p:nvSpPr>
              <p:cNvPr id="46" name="Rectangle 45"/>
              <p:cNvSpPr/>
              <p:nvPr/>
            </p:nvSpPr>
            <p:spPr>
              <a:xfrm>
                <a:off x="381000" y="3796747"/>
                <a:ext cx="528927"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oMath>
                  </m:oMathPara>
                </a14:m>
                <a:endParaRPr lang="en-US" sz="3200" dirty="0"/>
              </a:p>
            </p:txBody>
          </p:sp>
        </mc:Choice>
        <mc:Fallback>
          <p:sp>
            <p:nvSpPr>
              <p:cNvPr id="46" name="Rectangle 45"/>
              <p:cNvSpPr>
                <a:spLocks noRot="1" noChangeAspect="1" noMove="1" noResize="1" noEditPoints="1" noAdjustHandles="1" noChangeArrowheads="1" noChangeShapeType="1" noTextEdit="1"/>
              </p:cNvSpPr>
              <p:nvPr/>
            </p:nvSpPr>
            <p:spPr>
              <a:xfrm>
                <a:off x="381000" y="3796747"/>
                <a:ext cx="528927" cy="584775"/>
              </a:xfrm>
              <a:prstGeom prst="rect">
                <a:avLst/>
              </a:prstGeom>
              <a:blipFill rotWithShape="1">
                <a:blip r:embed="rId1"/>
                <a:stretch>
                  <a:fillRect t="-14" r="115" b="-55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Rectangle 46"/>
              <p:cNvSpPr/>
              <p:nvPr/>
            </p:nvSpPr>
            <p:spPr>
              <a:xfrm>
                <a:off x="8144857" y="3796747"/>
                <a:ext cx="50424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𝑧</m:t>
                      </m:r>
                    </m:oMath>
                  </m:oMathPara>
                </a14:m>
                <a:endParaRPr lang="en-US" sz="3200" dirty="0"/>
              </a:p>
            </p:txBody>
          </p:sp>
        </mc:Choice>
        <mc:Fallback>
          <p:sp>
            <p:nvSpPr>
              <p:cNvPr id="47" name="Rectangle 46"/>
              <p:cNvSpPr>
                <a:spLocks noRot="1" noChangeAspect="1" noMove="1" noResize="1" noEditPoints="1" noAdjustHandles="1" noChangeArrowheads="1" noChangeShapeType="1" noTextEdit="1"/>
              </p:cNvSpPr>
              <p:nvPr/>
            </p:nvSpPr>
            <p:spPr>
              <a:xfrm>
                <a:off x="8144857" y="3796747"/>
                <a:ext cx="504241" cy="584775"/>
              </a:xfrm>
              <a:prstGeom prst="rect">
                <a:avLst/>
              </a:prstGeom>
              <a:blipFill rotWithShape="1">
                <a:blip r:embed="rId2"/>
                <a:stretch>
                  <a:fillRect l="-69" t="-14" r="79" b="-55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6850025" y="4375671"/>
                <a:ext cx="706387" cy="816377"/>
              </a:xfrm>
              <a:prstGeom prst="rect">
                <a:avLst/>
              </a:prstGeom>
            </p:spPr>
            <p:txBody>
              <a:bodyPr wrap="square">
                <a:spAutoFit/>
              </a:bodyPr>
              <a:lstStyle/>
              <a:p>
                <a:pPr algn="ct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𝑧</m:t>
                        </m:r>
                      </m:den>
                    </m:f>
                  </m:oMath>
                </a14:m>
                <a:r>
                  <a:rPr lang="en-US" sz="3200" b="0" dirty="0">
                    <a:solidFill>
                      <a:srgbClr val="C00000"/>
                    </a:solidFill>
                  </a:rPr>
                  <a:t> </a:t>
                </a:r>
                <a:endParaRPr lang="en-US" sz="3200" b="0" dirty="0">
                  <a:solidFill>
                    <a:srgbClr val="C00000"/>
                  </a:solidFill>
                </a:endParaRPr>
              </a:p>
            </p:txBody>
          </p:sp>
        </mc:Choice>
        <mc:Fallback>
          <p:sp>
            <p:nvSpPr>
              <p:cNvPr id="48" name="Rectangle 47"/>
              <p:cNvSpPr>
                <a:spLocks noRot="1" noChangeAspect="1" noMove="1" noResize="1" noEditPoints="1" noAdjustHandles="1" noChangeArrowheads="1" noChangeShapeType="1" noTextEdit="1"/>
              </p:cNvSpPr>
              <p:nvPr/>
            </p:nvSpPr>
            <p:spPr>
              <a:xfrm>
                <a:off x="6850025" y="4375671"/>
                <a:ext cx="706387" cy="816377"/>
              </a:xfrm>
              <a:prstGeom prst="rect">
                <a:avLst/>
              </a:prstGeom>
              <a:blipFill rotWithShape="1">
                <a:blip r:embed="rId3"/>
                <a:stretch>
                  <a:fillRect l="-40" t="-64" r="77" b="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Rectangle 49"/>
              <p:cNvSpPr/>
              <p:nvPr/>
            </p:nvSpPr>
            <p:spPr>
              <a:xfrm>
                <a:off x="3954001" y="3771922"/>
                <a:ext cx="1223668" cy="64633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𝑓</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oMath>
                  </m:oMathPara>
                </a14:m>
                <a:endParaRPr lang="en-US" sz="3600" dirty="0"/>
              </a:p>
            </p:txBody>
          </p:sp>
        </mc:Choice>
        <mc:Fallback>
          <p:sp>
            <p:nvSpPr>
              <p:cNvPr id="50" name="Rectangle 49"/>
              <p:cNvSpPr>
                <a:spLocks noRot="1" noChangeAspect="1" noMove="1" noResize="1" noEditPoints="1" noAdjustHandles="1" noChangeArrowheads="1" noChangeShapeType="1" noTextEdit="1"/>
              </p:cNvSpPr>
              <p:nvPr/>
            </p:nvSpPr>
            <p:spPr>
              <a:xfrm>
                <a:off x="3954001" y="3771922"/>
                <a:ext cx="1223668" cy="646331"/>
              </a:xfrm>
              <a:prstGeom prst="rect">
                <a:avLst/>
              </a:prstGeom>
              <a:blipFill rotWithShape="1">
                <a:blip r:embed="rId4"/>
                <a:stretch>
                  <a:fillRect l="-40" t="-3" r="42" b="-64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Rectangle 55"/>
              <p:cNvSpPr/>
              <p:nvPr/>
            </p:nvSpPr>
            <p:spPr>
              <a:xfrm>
                <a:off x="2887274" y="1929448"/>
                <a:ext cx="617926" cy="7946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dirty="0">
                  <a:solidFill>
                    <a:srgbClr val="9900CC"/>
                  </a:solidFill>
                </a:endParaRPr>
              </a:p>
            </p:txBody>
          </p:sp>
        </mc:Choice>
        <mc:Fallback>
          <p:sp>
            <p:nvSpPr>
              <p:cNvPr id="56" name="Rectangle 55"/>
              <p:cNvSpPr>
                <a:spLocks noRot="1" noChangeAspect="1" noMove="1" noResize="1" noEditPoints="1" noAdjustHandles="1" noChangeArrowheads="1" noChangeShapeType="1" noTextEdit="1"/>
              </p:cNvSpPr>
              <p:nvPr/>
            </p:nvSpPr>
            <p:spPr>
              <a:xfrm>
                <a:off x="2887274" y="1929448"/>
                <a:ext cx="617926" cy="794641"/>
              </a:xfrm>
              <a:prstGeom prst="rect">
                <a:avLst/>
              </a:prstGeom>
              <a:blipFill rotWithShape="1">
                <a:blip r:embed="rId5"/>
                <a:stretch>
                  <a:fillRect l="-91" t="-40" b="7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Rectangle 56"/>
              <p:cNvSpPr/>
              <p:nvPr/>
            </p:nvSpPr>
            <p:spPr>
              <a:xfrm>
                <a:off x="2438400" y="2759236"/>
                <a:ext cx="1523999" cy="707886"/>
              </a:xfrm>
              <a:prstGeom prst="rect">
                <a:avLst/>
              </a:prstGeom>
            </p:spPr>
            <p:txBody>
              <a:bodyPr wrap="square">
                <a:spAutoFit/>
              </a:bodyPr>
              <a:lstStyle/>
              <a:p>
                <a:pPr algn="ctr"/>
                <a14:m>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smtClean="0">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Jacobian</a:t>
                </a:r>
                <a:endParaRPr lang="en-US" sz="2000" b="0" dirty="0">
                  <a:solidFill>
                    <a:srgbClr val="9900CC"/>
                  </a:solidFill>
                </a:endParaRPr>
              </a:p>
            </p:txBody>
          </p:sp>
        </mc:Choice>
        <mc:Fallback>
          <p:sp>
            <p:nvSpPr>
              <p:cNvPr id="57" name="Rectangle 56"/>
              <p:cNvSpPr>
                <a:spLocks noRot="1" noChangeAspect="1" noMove="1" noResize="1" noEditPoints="1" noAdjustHandles="1" noChangeArrowheads="1" noChangeShapeType="1" noTextEdit="1"/>
              </p:cNvSpPr>
              <p:nvPr/>
            </p:nvSpPr>
            <p:spPr>
              <a:xfrm>
                <a:off x="2438400" y="2759236"/>
                <a:ext cx="1523999" cy="707886"/>
              </a:xfrm>
              <a:prstGeom prst="rect">
                <a:avLst/>
              </a:prstGeom>
              <a:blipFill rotWithShape="1">
                <a:blip r:embed="rId6"/>
                <a:stretch>
                  <a:fillRect t="-23" r="4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Rectangle 57"/>
              <p:cNvSpPr/>
              <p:nvPr/>
            </p:nvSpPr>
            <p:spPr>
              <a:xfrm>
                <a:off x="228600" y="4362412"/>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58" name="Rectangle 57"/>
              <p:cNvSpPr>
                <a:spLocks noRot="1" noChangeAspect="1" noMove="1" noResize="1" noEditPoints="1" noAdjustHandles="1" noChangeArrowheads="1" noChangeShapeType="1" noTextEdit="1"/>
              </p:cNvSpPr>
              <p:nvPr/>
            </p:nvSpPr>
            <p:spPr>
              <a:xfrm>
                <a:off x="228600" y="4362412"/>
                <a:ext cx="804900" cy="400110"/>
              </a:xfrm>
              <a:prstGeom prst="rect">
                <a:avLst/>
              </a:prstGeom>
              <a:blipFill rotWithShape="1">
                <a:blip r:embed="rId7"/>
                <a:stretch>
                  <a:fillRect t="-149" r="-18653" b="-4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Rectangle 58"/>
              <p:cNvSpPr/>
              <p:nvPr/>
            </p:nvSpPr>
            <p:spPr>
              <a:xfrm>
                <a:off x="7988557" y="4375671"/>
                <a:ext cx="774443"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𝑁</m:t>
                    </m:r>
                  </m:oMath>
                </a14:m>
                <a:r>
                  <a:rPr lang="en-US" sz="2000" b="0" dirty="0">
                    <a:solidFill>
                      <a:srgbClr val="9900CC"/>
                    </a:solidFill>
                  </a:rPr>
                  <a:t> </a:t>
                </a:r>
                <a:endParaRPr lang="en-US" sz="2000" dirty="0"/>
              </a:p>
            </p:txBody>
          </p:sp>
        </mc:Choice>
        <mc:Fallback>
          <p:sp>
            <p:nvSpPr>
              <p:cNvPr id="59" name="Rectangle 58"/>
              <p:cNvSpPr>
                <a:spLocks noRot="1" noChangeAspect="1" noMove="1" noResize="1" noEditPoints="1" noAdjustHandles="1" noChangeArrowheads="1" noChangeShapeType="1" noTextEdit="1"/>
              </p:cNvSpPr>
              <p:nvPr/>
            </p:nvSpPr>
            <p:spPr>
              <a:xfrm>
                <a:off x="7988557" y="4375671"/>
                <a:ext cx="774443" cy="400110"/>
              </a:xfrm>
              <a:prstGeom prst="rect">
                <a:avLst/>
              </a:prstGeom>
              <a:blipFill rotWithShape="1">
                <a:blip r:embed="rId8"/>
                <a:stretch>
                  <a:fillRect l="-33" t="-130" r="-19433" b="-4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Rectangle 59"/>
              <p:cNvSpPr/>
              <p:nvPr/>
            </p:nvSpPr>
            <p:spPr>
              <a:xfrm>
                <a:off x="6850025" y="5247063"/>
                <a:ext cx="774443"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𝑁</m:t>
                    </m:r>
                  </m:oMath>
                </a14:m>
                <a:r>
                  <a:rPr lang="en-US" sz="2000" b="0" dirty="0">
                    <a:solidFill>
                      <a:srgbClr val="C00000"/>
                    </a:solidFill>
                  </a:rPr>
                  <a:t> </a:t>
                </a:r>
                <a:endParaRPr lang="en-US" sz="2000" dirty="0">
                  <a:solidFill>
                    <a:srgbClr val="C00000"/>
                  </a:solidFill>
                </a:endParaRPr>
              </a:p>
            </p:txBody>
          </p:sp>
        </mc:Choice>
        <mc:Fallback>
          <p:sp>
            <p:nvSpPr>
              <p:cNvPr id="60" name="Rectangle 59"/>
              <p:cNvSpPr>
                <a:spLocks noRot="1" noChangeAspect="1" noMove="1" noResize="1" noEditPoints="1" noAdjustHandles="1" noChangeArrowheads="1" noChangeShapeType="1" noTextEdit="1"/>
              </p:cNvSpPr>
              <p:nvPr/>
            </p:nvSpPr>
            <p:spPr>
              <a:xfrm>
                <a:off x="6850025" y="5247063"/>
                <a:ext cx="774443" cy="400110"/>
              </a:xfrm>
              <a:prstGeom prst="rect">
                <a:avLst/>
              </a:prstGeom>
              <a:blipFill rotWithShape="1">
                <a:blip r:embed="rId9"/>
                <a:stretch>
                  <a:fillRect l="-36" t="-14" r="-19430" b="-605"/>
                </a:stretch>
              </a:blipFill>
            </p:spPr>
            <p:txBody>
              <a:bodyPr/>
              <a:lstStyle/>
              <a:p>
                <a:r>
                  <a:rPr lang="zh-CN" altLang="en-US">
                    <a:noFill/>
                  </a:rPr>
                  <a:t> </a:t>
                </a:r>
              </a:p>
            </p:txBody>
          </p:sp>
        </mc:Fallback>
      </mc:AlternateContent>
      <p:cxnSp>
        <p:nvCxnSpPr>
          <p:cNvPr id="24" name="Straight Arrow Connector 23"/>
          <p:cNvCxnSpPr/>
          <p:nvPr/>
        </p:nvCxnSpPr>
        <p:spPr bwMode="auto">
          <a:xfrm flipH="1">
            <a:off x="1118536" y="4229122"/>
            <a:ext cx="1616265"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1" name="Rectangle 30"/>
              <p:cNvSpPr/>
              <p:nvPr/>
            </p:nvSpPr>
            <p:spPr>
              <a:xfrm>
                <a:off x="3377884" y="1409722"/>
                <a:ext cx="3076420" cy="19909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solidFill>
                            <a:srgbClr val="9900CC"/>
                          </a:solidFill>
                          <a:latin typeface="Cambria Math" panose="02040503050406030204" pitchFamily="18" charset="0"/>
                        </a:rPr>
                        <m:t>=</m:t>
                      </m:r>
                      <m:d>
                        <m:dPr>
                          <m:ctrlPr>
                            <a:rPr lang="en-US" b="0" i="1">
                              <a:solidFill>
                                <a:srgbClr val="9900CC"/>
                              </a:solidFill>
                              <a:latin typeface="Cambria Math" panose="02040503050406030204" pitchFamily="18" charset="0"/>
                            </a:rPr>
                          </m:ctrlPr>
                        </m:dPr>
                        <m:e>
                          <m:m>
                            <m:mPr>
                              <m:mcs>
                                <m:mc>
                                  <m:mcPr>
                                    <m:count m:val="3"/>
                                    <m:mcJc m:val="center"/>
                                  </m:mcPr>
                                </m:mc>
                              </m:mcs>
                              <m:ctrlPr>
                                <a:rPr lang="en-US" b="0" i="1">
                                  <a:solidFill>
                                    <a:srgbClr val="9900CC"/>
                                  </a:solidFill>
                                  <a:latin typeface="Cambria Math" panose="02040503050406030204" pitchFamily="18" charset="0"/>
                                </a:rPr>
                              </m:ctrlPr>
                            </m:mPr>
                            <m:mr>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1</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1</m:t>
                                        </m:r>
                                      </m:sub>
                                    </m:sSub>
                                  </m:den>
                                </m:f>
                              </m:e>
                              <m:e>
                                <m:r>
                                  <a:rPr lang="en-US" b="0" i="1">
                                    <a:solidFill>
                                      <a:srgbClr val="9900CC"/>
                                    </a:solidFill>
                                    <a:latin typeface="Cambria Math" panose="02040503050406030204" pitchFamily="18" charset="0"/>
                                  </a:rPr>
                                  <m:t>…</m:t>
                                </m:r>
                              </m:e>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1</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𝑀</m:t>
                                        </m:r>
                                      </m:sub>
                                    </m:sSub>
                                  </m:den>
                                </m:f>
                              </m:e>
                            </m:mr>
                            <m:mr>
                              <m:e>
                                <m:r>
                                  <a:rPr lang="en-US" b="0" i="1">
                                    <a:solidFill>
                                      <a:srgbClr val="9900CC"/>
                                    </a:solidFill>
                                    <a:latin typeface="Cambria Math" panose="02040503050406030204" pitchFamily="18" charset="0"/>
                                  </a:rPr>
                                  <m:t>⋮</m:t>
                                </m:r>
                              </m:e>
                              <m:e>
                                <m:r>
                                  <a:rPr lang="en-US" b="0" i="1">
                                    <a:solidFill>
                                      <a:srgbClr val="9900CC"/>
                                    </a:solidFill>
                                    <a:latin typeface="Cambria Math" panose="02040503050406030204" pitchFamily="18" charset="0"/>
                                  </a:rPr>
                                  <m:t>⋱</m:t>
                                </m:r>
                              </m:e>
                              <m:e>
                                <m:r>
                                  <a:rPr lang="en-US" b="0" i="1">
                                    <a:solidFill>
                                      <a:srgbClr val="9900CC"/>
                                    </a:solidFill>
                                    <a:latin typeface="Cambria Math" panose="02040503050406030204" pitchFamily="18" charset="0"/>
                                  </a:rPr>
                                  <m:t>⋮</m:t>
                                </m:r>
                              </m:e>
                            </m:mr>
                            <m:mr>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𝑁</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1</m:t>
                                        </m:r>
                                      </m:sub>
                                    </m:sSub>
                                  </m:den>
                                </m:f>
                              </m:e>
                              <m:e>
                                <m:r>
                                  <a:rPr lang="en-US" b="0" i="1">
                                    <a:solidFill>
                                      <a:srgbClr val="9900CC"/>
                                    </a:solidFill>
                                    <a:latin typeface="Cambria Math" panose="02040503050406030204" pitchFamily="18" charset="0"/>
                                  </a:rPr>
                                  <m:t>…</m:t>
                                </m:r>
                              </m:e>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𝑁</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𝑀</m:t>
                                        </m:r>
                                      </m:sub>
                                    </m:sSub>
                                  </m:den>
                                </m:f>
                              </m:e>
                            </m:mr>
                          </m:m>
                        </m:e>
                      </m:d>
                    </m:oMath>
                  </m:oMathPara>
                </a14:m>
                <a:endParaRPr lang="en-US" dirty="0"/>
              </a:p>
            </p:txBody>
          </p:sp>
        </mc:Choice>
        <mc:Fallback>
          <p:sp>
            <p:nvSpPr>
              <p:cNvPr id="31" name="Rectangle 30"/>
              <p:cNvSpPr>
                <a:spLocks noRot="1" noChangeAspect="1" noMove="1" noResize="1" noEditPoints="1" noAdjustHandles="1" noChangeArrowheads="1" noChangeShapeType="1" noTextEdit="1"/>
              </p:cNvSpPr>
              <p:nvPr/>
            </p:nvSpPr>
            <p:spPr>
              <a:xfrm>
                <a:off x="3377884" y="1409722"/>
                <a:ext cx="3076420" cy="1990994"/>
              </a:xfrm>
              <a:prstGeom prst="rect">
                <a:avLst/>
              </a:prstGeom>
              <a:blipFill rotWithShape="1">
                <a:blip r:embed="rId10"/>
                <a:stretch>
                  <a:fillRect l="-10" t="-1" r="5" b="15"/>
                </a:stretch>
              </a:blipFill>
            </p:spPr>
            <p:txBody>
              <a:bodyPr/>
              <a:lstStyle/>
              <a:p>
                <a:r>
                  <a:rPr lang="zh-CN" altLang="en-US">
                    <a:noFill/>
                  </a:rPr>
                  <a:t> </a:t>
                </a:r>
              </a:p>
            </p:txBody>
          </p:sp>
        </mc:Fallback>
      </mc:AlternateContent>
      <p:cxnSp>
        <p:nvCxnSpPr>
          <p:cNvPr id="32" name="Straight Arrow Connector 31"/>
          <p:cNvCxnSpPr/>
          <p:nvPr/>
        </p:nvCxnSpPr>
        <p:spPr bwMode="auto">
          <a:xfrm flipV="1">
            <a:off x="1118536" y="4076723"/>
            <a:ext cx="1615877" cy="12411"/>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34" name="Straight Arrow Connector 33"/>
          <p:cNvCxnSpPr/>
          <p:nvPr/>
        </p:nvCxnSpPr>
        <p:spPr bwMode="auto">
          <a:xfrm flipH="1">
            <a:off x="6316201" y="4229121"/>
            <a:ext cx="1616265"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35" name="Straight Arrow Connector 34"/>
          <p:cNvCxnSpPr/>
          <p:nvPr/>
        </p:nvCxnSpPr>
        <p:spPr bwMode="auto">
          <a:xfrm flipV="1">
            <a:off x="6316201" y="4076723"/>
            <a:ext cx="1616265" cy="12411"/>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8" name="Rectangle 37"/>
              <p:cNvSpPr/>
              <p:nvPr/>
            </p:nvSpPr>
            <p:spPr>
              <a:xfrm>
                <a:off x="762000" y="4438187"/>
                <a:ext cx="2544837" cy="79464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den>
                      </m:f>
                      <m:r>
                        <a:rPr lang="en-US" b="0" i="1" smtClean="0">
                          <a:solidFill>
                            <a:srgbClr val="C00000"/>
                          </a:solidFill>
                          <a:latin typeface="Cambria Math" panose="02040503050406030204" pitchFamily="18" charset="0"/>
                        </a:rPr>
                        <m:t> = </m:t>
                      </m:r>
                      <m:f>
                        <m:fPr>
                          <m:ctrlPr>
                            <a:rPr lang="en-US" b="0" i="1">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den>
                      </m:f>
                      <m:r>
                        <a:rPr lang="en-US" b="0" i="1" smtClean="0">
                          <a:solidFill>
                            <a:srgbClr val="C00000"/>
                          </a:solidFill>
                          <a:latin typeface="Cambria Math" panose="02040503050406030204" pitchFamily="18" charset="0"/>
                        </a:rPr>
                        <m:t>   </m:t>
                      </m:r>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a:solidFill>
                                <a:srgbClr val="9900CC"/>
                              </a:solidFill>
                              <a:latin typeface="Cambria Math" panose="02040503050406030204" pitchFamily="18" charset="0"/>
                            </a:rPr>
                            <m:t>𝑥</m:t>
                          </m:r>
                        </m:den>
                      </m:f>
                    </m:oMath>
                  </m:oMathPara>
                </a14:m>
                <a:endParaRPr lang="en-US" b="0" dirty="0">
                  <a:solidFill>
                    <a:srgbClr val="C00000"/>
                  </a:solidFill>
                </a:endParaRPr>
              </a:p>
            </p:txBody>
          </p:sp>
        </mc:Choice>
        <mc:Fallback>
          <p:sp>
            <p:nvSpPr>
              <p:cNvPr id="38" name="Rectangle 37"/>
              <p:cNvSpPr>
                <a:spLocks noRot="1" noChangeAspect="1" noMove="1" noResize="1" noEditPoints="1" noAdjustHandles="1" noChangeArrowheads="1" noChangeShapeType="1" noTextEdit="1"/>
              </p:cNvSpPr>
              <p:nvPr/>
            </p:nvSpPr>
            <p:spPr>
              <a:xfrm>
                <a:off x="762000" y="4438187"/>
                <a:ext cx="2544837" cy="794641"/>
              </a:xfrm>
              <a:prstGeom prst="rect">
                <a:avLst/>
              </a:prstGeom>
              <a:blipFill rotWithShape="1">
                <a:blip r:embed="rId11"/>
                <a:stretch>
                  <a:fillRect t="-22" r="15" b="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Rectangle 39"/>
              <p:cNvSpPr/>
              <p:nvPr/>
            </p:nvSpPr>
            <p:spPr>
              <a:xfrm>
                <a:off x="2420532" y="5314890"/>
                <a:ext cx="856068"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𝑁</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40" name="Rectangle 39"/>
              <p:cNvSpPr>
                <a:spLocks noRot="1" noChangeAspect="1" noMove="1" noResize="1" noEditPoints="1" noAdjustHandles="1" noChangeArrowheads="1" noChangeShapeType="1" noTextEdit="1"/>
              </p:cNvSpPr>
              <p:nvPr/>
            </p:nvSpPr>
            <p:spPr>
              <a:xfrm>
                <a:off x="2420532" y="5314890"/>
                <a:ext cx="856068" cy="400110"/>
              </a:xfrm>
              <a:prstGeom prst="rect">
                <a:avLst/>
              </a:prstGeom>
              <a:blipFill rotWithShape="1">
                <a:blip r:embed="rId12"/>
                <a:stretch>
                  <a:fillRect l="-64" t="-144" r="-16838"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Rectangle 40"/>
              <p:cNvSpPr/>
              <p:nvPr/>
            </p:nvSpPr>
            <p:spPr>
              <a:xfrm>
                <a:off x="1816357" y="5314890"/>
                <a:ext cx="774443"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𝑁</m:t>
                    </m:r>
                  </m:oMath>
                </a14:m>
                <a:r>
                  <a:rPr lang="en-US" sz="2000" b="0" dirty="0">
                    <a:solidFill>
                      <a:srgbClr val="C00000"/>
                    </a:solidFill>
                  </a:rPr>
                  <a:t> </a:t>
                </a:r>
                <a:endParaRPr lang="en-US" sz="2000" dirty="0">
                  <a:solidFill>
                    <a:srgbClr val="C00000"/>
                  </a:solidFill>
                </a:endParaRPr>
              </a:p>
            </p:txBody>
          </p:sp>
        </mc:Choice>
        <mc:Fallback>
          <p:sp>
            <p:nvSpPr>
              <p:cNvPr id="41" name="Rectangle 40"/>
              <p:cNvSpPr>
                <a:spLocks noRot="1" noChangeAspect="1" noMove="1" noResize="1" noEditPoints="1" noAdjustHandles="1" noChangeArrowheads="1" noChangeShapeType="1" noTextEdit="1"/>
              </p:cNvSpPr>
              <p:nvPr/>
            </p:nvSpPr>
            <p:spPr>
              <a:xfrm>
                <a:off x="1816357" y="5314890"/>
                <a:ext cx="774443" cy="400110"/>
              </a:xfrm>
              <a:prstGeom prst="rect">
                <a:avLst/>
              </a:prstGeom>
              <a:blipFill rotWithShape="1">
                <a:blip r:embed="rId9"/>
                <a:stretch>
                  <a:fillRect l="-33" t="-144" r="-19433"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Rectangle 41"/>
              <p:cNvSpPr/>
              <p:nvPr/>
            </p:nvSpPr>
            <p:spPr>
              <a:xfrm>
                <a:off x="914400" y="5314890"/>
                <a:ext cx="804900"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𝑀</m:t>
                    </m:r>
                  </m:oMath>
                </a14:m>
                <a:r>
                  <a:rPr lang="en-US" sz="2000" b="0" dirty="0">
                    <a:solidFill>
                      <a:srgbClr val="C00000"/>
                    </a:solidFill>
                  </a:rPr>
                  <a:t> </a:t>
                </a:r>
                <a:endParaRPr lang="en-US" sz="2000" dirty="0">
                  <a:solidFill>
                    <a:srgbClr val="C00000"/>
                  </a:solidFill>
                </a:endParaRPr>
              </a:p>
            </p:txBody>
          </p:sp>
        </mc:Choice>
        <mc:Fallback>
          <p:sp>
            <p:nvSpPr>
              <p:cNvPr id="42" name="Rectangle 41"/>
              <p:cNvSpPr>
                <a:spLocks noRot="1" noChangeAspect="1" noMove="1" noResize="1" noEditPoints="1" noAdjustHandles="1" noChangeArrowheads="1" noChangeShapeType="1" noTextEdit="1"/>
              </p:cNvSpPr>
              <p:nvPr/>
            </p:nvSpPr>
            <p:spPr>
              <a:xfrm>
                <a:off x="914400" y="5314890"/>
                <a:ext cx="804900" cy="400110"/>
              </a:xfrm>
              <a:prstGeom prst="rect">
                <a:avLst/>
              </a:prstGeom>
              <a:blipFill rotWithShape="1">
                <a:blip r:embed="rId13"/>
                <a:stretch>
                  <a:fillRect t="-144" r="-18653" b="-476"/>
                </a:stretch>
              </a:blipFill>
            </p:spPr>
            <p:txBody>
              <a:bodyPr/>
              <a:lstStyle/>
              <a:p>
                <a:r>
                  <a:rPr lang="zh-CN" altLang="en-US">
                    <a:noFill/>
                  </a:rPr>
                  <a:t> </a:t>
                </a:r>
              </a:p>
            </p:txBody>
          </p:sp>
        </mc:Fallback>
      </mc:AlternateContent>
    </p:spTree>
    <p:custDataLst>
      <p:tags r:id="rId1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6" grpId="0"/>
      <p:bldP spid="57" grpId="0"/>
      <p:bldP spid="60" grpId="0"/>
      <p:bldP spid="31" grpId="0"/>
      <p:bldP spid="38" grpId="0"/>
      <p:bldP spid="40" grpId="0"/>
      <p:bldP spid="41" grpId="0"/>
      <p:bldP spid="4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case: Elementwise operation</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54"/>
          <p:cNvSpPr/>
          <p:nvPr/>
        </p:nvSpPr>
        <p:spPr bwMode="auto">
          <a:xfrm>
            <a:off x="2438012" y="2885828"/>
            <a:ext cx="4768029" cy="1381372"/>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3200" b="0" i="0" u="none" strike="noStrike" cap="none" normalizeH="0" baseline="0" dirty="0">
              <a:ln>
                <a:noFill/>
              </a:ln>
              <a:solidFill>
                <a:schemeClr val="tx1"/>
              </a:solidFill>
              <a:effectLst/>
              <a:cs typeface="Arial" panose="020B0604020202090204" pitchFamily="34" charset="0"/>
            </a:endParaRPr>
          </a:p>
        </p:txBody>
      </p:sp>
      <p:sp>
        <p:nvSpPr>
          <p:cNvPr id="2" name="Title 1"/>
          <p:cNvSpPr>
            <a:spLocks noGrp="1"/>
          </p:cNvSpPr>
          <p:nvPr>
            <p:ph type="title"/>
          </p:nvPr>
        </p:nvSpPr>
        <p:spPr/>
        <p:txBody>
          <a:bodyPr/>
          <a:lstStyle/>
          <a:p>
            <a:r>
              <a:rPr lang="en-US" dirty="0"/>
              <a:t>Simple case: Elementwise operation</a:t>
            </a:r>
            <a:endParaRPr lang="en-US" dirty="0"/>
          </a:p>
        </p:txBody>
      </p:sp>
      <p:cxnSp>
        <p:nvCxnSpPr>
          <p:cNvPr id="45" name="Straight Arrow Connector 44"/>
          <p:cNvCxnSpPr/>
          <p:nvPr/>
        </p:nvCxnSpPr>
        <p:spPr bwMode="auto">
          <a:xfrm>
            <a:off x="7236874" y="3505200"/>
            <a:ext cx="1001467"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6" name="Rectangle 45"/>
              <p:cNvSpPr/>
              <p:nvPr/>
            </p:nvSpPr>
            <p:spPr>
              <a:xfrm>
                <a:off x="381000" y="3225225"/>
                <a:ext cx="528927"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oMath>
                  </m:oMathPara>
                </a14:m>
                <a:endParaRPr lang="en-US" sz="3200" dirty="0"/>
              </a:p>
            </p:txBody>
          </p:sp>
        </mc:Choice>
        <mc:Fallback>
          <p:sp>
            <p:nvSpPr>
              <p:cNvPr id="46" name="Rectangle 45"/>
              <p:cNvSpPr>
                <a:spLocks noRot="1" noChangeAspect="1" noMove="1" noResize="1" noEditPoints="1" noAdjustHandles="1" noChangeArrowheads="1" noChangeShapeType="1" noTextEdit="1"/>
              </p:cNvSpPr>
              <p:nvPr/>
            </p:nvSpPr>
            <p:spPr>
              <a:xfrm>
                <a:off x="381000" y="3225225"/>
                <a:ext cx="528927" cy="584775"/>
              </a:xfrm>
              <a:prstGeom prst="rect">
                <a:avLst/>
              </a:prstGeom>
              <a:blipFill rotWithShape="1">
                <a:blip r:embed="rId1"/>
                <a:stretch>
                  <a:fillRect t="-10" r="115" b="-55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Rectangle 46"/>
              <p:cNvSpPr/>
              <p:nvPr/>
            </p:nvSpPr>
            <p:spPr>
              <a:xfrm>
                <a:off x="8381856" y="3225225"/>
                <a:ext cx="50424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𝑧</m:t>
                      </m:r>
                    </m:oMath>
                  </m:oMathPara>
                </a14:m>
                <a:endParaRPr lang="en-US" sz="3200" dirty="0"/>
              </a:p>
            </p:txBody>
          </p:sp>
        </mc:Choice>
        <mc:Fallback>
          <p:sp>
            <p:nvSpPr>
              <p:cNvPr id="47" name="Rectangle 46"/>
              <p:cNvSpPr>
                <a:spLocks noRot="1" noChangeAspect="1" noMove="1" noResize="1" noEditPoints="1" noAdjustHandles="1" noChangeArrowheads="1" noChangeShapeType="1" noTextEdit="1"/>
              </p:cNvSpPr>
              <p:nvPr/>
            </p:nvSpPr>
            <p:spPr>
              <a:xfrm>
                <a:off x="8381856" y="3225225"/>
                <a:ext cx="504241" cy="584775"/>
              </a:xfrm>
              <a:prstGeom prst="rect">
                <a:avLst/>
              </a:prstGeom>
              <a:blipFill rotWithShape="1">
                <a:blip r:embed="rId2"/>
                <a:stretch>
                  <a:fillRect l="-97" t="-10" r="107" b="-55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7355367" y="3849610"/>
                <a:ext cx="706387" cy="816377"/>
              </a:xfrm>
              <a:prstGeom prst="rect">
                <a:avLst/>
              </a:prstGeom>
            </p:spPr>
            <p:txBody>
              <a:bodyPr wrap="square">
                <a:spAutoFit/>
              </a:bodyPr>
              <a:lstStyle/>
              <a:p>
                <a:pPr algn="ct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𝑧</m:t>
                        </m:r>
                      </m:den>
                    </m:f>
                  </m:oMath>
                </a14:m>
                <a:r>
                  <a:rPr lang="en-US" sz="3200" b="0" dirty="0">
                    <a:solidFill>
                      <a:srgbClr val="C00000"/>
                    </a:solidFill>
                  </a:rPr>
                  <a:t> </a:t>
                </a:r>
                <a:endParaRPr lang="en-US" sz="3200" b="0" dirty="0">
                  <a:solidFill>
                    <a:srgbClr val="C00000"/>
                  </a:solidFill>
                </a:endParaRPr>
              </a:p>
            </p:txBody>
          </p:sp>
        </mc:Choice>
        <mc:Fallback>
          <p:sp>
            <p:nvSpPr>
              <p:cNvPr id="48" name="Rectangle 47"/>
              <p:cNvSpPr>
                <a:spLocks noRot="1" noChangeAspect="1" noMove="1" noResize="1" noEditPoints="1" noAdjustHandles="1" noChangeArrowheads="1" noChangeShapeType="1" noTextEdit="1"/>
              </p:cNvSpPr>
              <p:nvPr/>
            </p:nvSpPr>
            <p:spPr>
              <a:xfrm>
                <a:off x="7355367" y="3849610"/>
                <a:ext cx="706387" cy="816377"/>
              </a:xfrm>
              <a:prstGeom prst="rect">
                <a:avLst/>
              </a:prstGeom>
              <a:blipFill rotWithShape="1">
                <a:blip r:embed="rId3"/>
                <a:stretch>
                  <a:fillRect l="-23" t="-29" r="61" b="1"/>
                </a:stretch>
              </a:blipFill>
            </p:spPr>
            <p:txBody>
              <a:bodyPr/>
              <a:lstStyle/>
              <a:p>
                <a:r>
                  <a:rPr lang="zh-CN" altLang="en-US">
                    <a:noFill/>
                  </a:rPr>
                  <a:t> </a:t>
                </a:r>
              </a:p>
            </p:txBody>
          </p:sp>
        </mc:Fallback>
      </mc:AlternateContent>
      <p:cxnSp>
        <p:nvCxnSpPr>
          <p:cNvPr id="49" name="Straight Arrow Connector 48"/>
          <p:cNvCxnSpPr/>
          <p:nvPr/>
        </p:nvCxnSpPr>
        <p:spPr bwMode="auto">
          <a:xfrm flipH="1">
            <a:off x="7206041" y="3657600"/>
            <a:ext cx="1001467"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50" name="Rectangle 49"/>
              <p:cNvSpPr/>
              <p:nvPr/>
            </p:nvSpPr>
            <p:spPr>
              <a:xfrm>
                <a:off x="3094897" y="3200400"/>
                <a:ext cx="3728713" cy="64633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𝑓</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r>
                        <m:rPr>
                          <m:sty m:val="p"/>
                        </m:rPr>
                        <a:rPr lang="en-US" sz="3600" b="0" i="0" smtClean="0">
                          <a:latin typeface="Cambria Math" panose="02040503050406030204" pitchFamily="18" charset="0"/>
                        </a:rPr>
                        <m:t>max</m:t>
                      </m:r>
                      <m:r>
                        <a:rPr lang="en-US" sz="3600" b="0" i="1" smtClean="0">
                          <a:latin typeface="Cambria Math" panose="02040503050406030204" pitchFamily="18" charset="0"/>
                        </a:rPr>
                        <m:t>⁡(</m:t>
                      </m:r>
                      <m:r>
                        <a:rPr lang="en-US" sz="3600" b="0" i="1" smtClean="0">
                          <a:latin typeface="Cambria Math" panose="02040503050406030204" pitchFamily="18" charset="0"/>
                        </a:rPr>
                        <m:t>0</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oMath>
                  </m:oMathPara>
                </a14:m>
                <a:endParaRPr lang="en-US" sz="3600" dirty="0"/>
              </a:p>
            </p:txBody>
          </p:sp>
        </mc:Choice>
        <mc:Fallback>
          <p:sp>
            <p:nvSpPr>
              <p:cNvPr id="50" name="Rectangle 49"/>
              <p:cNvSpPr>
                <a:spLocks noRot="1" noChangeAspect="1" noMove="1" noResize="1" noEditPoints="1" noAdjustHandles="1" noChangeArrowheads="1" noChangeShapeType="1" noTextEdit="1"/>
              </p:cNvSpPr>
              <p:nvPr/>
            </p:nvSpPr>
            <p:spPr>
              <a:xfrm>
                <a:off x="3094897" y="3200400"/>
                <a:ext cx="3728713" cy="646331"/>
              </a:xfrm>
              <a:prstGeom prst="rect">
                <a:avLst/>
              </a:prstGeom>
              <a:blipFill rotWithShape="1">
                <a:blip r:embed="rId4"/>
                <a:stretch>
                  <a:fillRect l="-15" r="14" b="-65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Rectangle 55"/>
              <p:cNvSpPr/>
              <p:nvPr/>
            </p:nvSpPr>
            <p:spPr>
              <a:xfrm>
                <a:off x="3262835" y="1357926"/>
                <a:ext cx="617926" cy="7946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dirty="0">
                  <a:solidFill>
                    <a:srgbClr val="9900CC"/>
                  </a:solidFill>
                </a:endParaRPr>
              </a:p>
            </p:txBody>
          </p:sp>
        </mc:Choice>
        <mc:Fallback>
          <p:sp>
            <p:nvSpPr>
              <p:cNvPr id="56" name="Rectangle 55"/>
              <p:cNvSpPr>
                <a:spLocks noRot="1" noChangeAspect="1" noMove="1" noResize="1" noEditPoints="1" noAdjustHandles="1" noChangeArrowheads="1" noChangeShapeType="1" noTextEdit="1"/>
              </p:cNvSpPr>
              <p:nvPr/>
            </p:nvSpPr>
            <p:spPr>
              <a:xfrm>
                <a:off x="3262835" y="1357926"/>
                <a:ext cx="617926" cy="794641"/>
              </a:xfrm>
              <a:prstGeom prst="rect">
                <a:avLst/>
              </a:prstGeom>
              <a:blipFill rotWithShape="1">
                <a:blip r:embed="rId5"/>
                <a:stretch>
                  <a:fillRect l="-33" t="-37" r="45"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Rectangle 56"/>
              <p:cNvSpPr/>
              <p:nvPr/>
            </p:nvSpPr>
            <p:spPr>
              <a:xfrm>
                <a:off x="2813961" y="2187714"/>
                <a:ext cx="1523999" cy="707886"/>
              </a:xfrm>
              <a:prstGeom prst="rect">
                <a:avLst/>
              </a:prstGeom>
            </p:spPr>
            <p:txBody>
              <a:bodyPr wrap="square">
                <a:spAutoFit/>
              </a:bodyPr>
              <a:lstStyle/>
              <a:p>
                <a:pPr algn="ctr"/>
                <a14:m>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𝑀</m:t>
                    </m:r>
                    <m:r>
                      <a:rPr lang="en-US" sz="2000" b="0" i="1" smtClean="0">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Jacobian</a:t>
                </a:r>
                <a:endParaRPr lang="en-US" sz="2000" b="0" dirty="0">
                  <a:solidFill>
                    <a:srgbClr val="9900CC"/>
                  </a:solidFill>
                </a:endParaRPr>
              </a:p>
            </p:txBody>
          </p:sp>
        </mc:Choice>
        <mc:Fallback>
          <p:sp>
            <p:nvSpPr>
              <p:cNvPr id="57" name="Rectangle 56"/>
              <p:cNvSpPr>
                <a:spLocks noRot="1" noChangeAspect="1" noMove="1" noResize="1" noEditPoints="1" noAdjustHandles="1" noChangeArrowheads="1" noChangeShapeType="1" noTextEdit="1"/>
              </p:cNvSpPr>
              <p:nvPr/>
            </p:nvSpPr>
            <p:spPr>
              <a:xfrm>
                <a:off x="2813961" y="2187714"/>
                <a:ext cx="1523999" cy="707886"/>
              </a:xfrm>
              <a:prstGeom prst="rect">
                <a:avLst/>
              </a:prstGeom>
              <a:blipFill rotWithShape="1">
                <a:blip r:embed="rId6"/>
                <a:stretch>
                  <a:fillRect l="-18" t="-20" r="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Rectangle 57"/>
              <p:cNvSpPr/>
              <p:nvPr/>
            </p:nvSpPr>
            <p:spPr>
              <a:xfrm>
                <a:off x="228600" y="3790890"/>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58" name="Rectangle 57"/>
              <p:cNvSpPr>
                <a:spLocks noRot="1" noChangeAspect="1" noMove="1" noResize="1" noEditPoints="1" noAdjustHandles="1" noChangeArrowheads="1" noChangeShapeType="1" noTextEdit="1"/>
              </p:cNvSpPr>
              <p:nvPr/>
            </p:nvSpPr>
            <p:spPr>
              <a:xfrm>
                <a:off x="228600" y="3790890"/>
                <a:ext cx="804900" cy="400110"/>
              </a:xfrm>
              <a:prstGeom prst="rect">
                <a:avLst/>
              </a:prstGeom>
              <a:blipFill rotWithShape="1">
                <a:blip r:embed="rId7"/>
                <a:stretch>
                  <a:fillRect t="-144" r="-18653"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Rectangle 58"/>
              <p:cNvSpPr/>
              <p:nvPr/>
            </p:nvSpPr>
            <p:spPr>
              <a:xfrm>
                <a:off x="8225556" y="3804149"/>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59" name="Rectangle 58"/>
              <p:cNvSpPr>
                <a:spLocks noRot="1" noChangeAspect="1" noMove="1" noResize="1" noEditPoints="1" noAdjustHandles="1" noChangeArrowheads="1" noChangeShapeType="1" noTextEdit="1"/>
              </p:cNvSpPr>
              <p:nvPr/>
            </p:nvSpPr>
            <p:spPr>
              <a:xfrm>
                <a:off x="8225556" y="3804149"/>
                <a:ext cx="804900" cy="400110"/>
              </a:xfrm>
              <a:prstGeom prst="rect">
                <a:avLst/>
              </a:prstGeom>
              <a:blipFill rotWithShape="1">
                <a:blip r:embed="rId7"/>
                <a:stretch>
                  <a:fillRect l="-50" t="-125" r="-18603" b="-4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Rectangle 59"/>
              <p:cNvSpPr/>
              <p:nvPr/>
            </p:nvSpPr>
            <p:spPr>
              <a:xfrm>
                <a:off x="7355367" y="4629090"/>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60" name="Rectangle 59"/>
              <p:cNvSpPr>
                <a:spLocks noRot="1" noChangeAspect="1" noMove="1" noResize="1" noEditPoints="1" noAdjustHandles="1" noChangeArrowheads="1" noChangeShapeType="1" noTextEdit="1"/>
              </p:cNvSpPr>
              <p:nvPr/>
            </p:nvSpPr>
            <p:spPr>
              <a:xfrm>
                <a:off x="7355367" y="4629090"/>
                <a:ext cx="804900" cy="400110"/>
              </a:xfrm>
              <a:prstGeom prst="rect">
                <a:avLst/>
              </a:prstGeom>
              <a:blipFill rotWithShape="1">
                <a:blip r:embed="rId7"/>
                <a:stretch>
                  <a:fillRect l="-20" t="-144" r="-18633" b="-476"/>
                </a:stretch>
              </a:blipFill>
            </p:spPr>
            <p:txBody>
              <a:bodyPr/>
              <a:lstStyle/>
              <a:p>
                <a:r>
                  <a:rPr lang="zh-CN" altLang="en-US">
                    <a:noFill/>
                  </a:rPr>
                  <a:t> </a:t>
                </a:r>
              </a:p>
            </p:txBody>
          </p:sp>
        </mc:Fallback>
      </mc:AlternateContent>
      <p:cxnSp>
        <p:nvCxnSpPr>
          <p:cNvPr id="24" name="Straight Arrow Connector 23"/>
          <p:cNvCxnSpPr/>
          <p:nvPr/>
        </p:nvCxnSpPr>
        <p:spPr bwMode="auto">
          <a:xfrm flipH="1">
            <a:off x="838200" y="3657600"/>
            <a:ext cx="1616265"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1" name="Rectangle 30"/>
              <p:cNvSpPr/>
              <p:nvPr/>
            </p:nvSpPr>
            <p:spPr>
              <a:xfrm>
                <a:off x="3753445" y="838200"/>
                <a:ext cx="2981777" cy="196752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solidFill>
                            <a:srgbClr val="9900CC"/>
                          </a:solidFill>
                          <a:latin typeface="Cambria Math" panose="02040503050406030204" pitchFamily="18" charset="0"/>
                        </a:rPr>
                        <m:t>=</m:t>
                      </m:r>
                      <m:d>
                        <m:dPr>
                          <m:ctrlPr>
                            <a:rPr lang="en-US" b="0" i="1">
                              <a:solidFill>
                                <a:srgbClr val="9900CC"/>
                              </a:solidFill>
                              <a:latin typeface="Cambria Math" panose="02040503050406030204" pitchFamily="18" charset="0"/>
                            </a:rPr>
                          </m:ctrlPr>
                        </m:dPr>
                        <m:e>
                          <m:m>
                            <m:mPr>
                              <m:mcs>
                                <m:mc>
                                  <m:mcPr>
                                    <m:count m:val="3"/>
                                    <m:mcJc m:val="center"/>
                                  </m:mcPr>
                                </m:mc>
                              </m:mcs>
                              <m:ctrlPr>
                                <a:rPr lang="en-US" b="0" i="1">
                                  <a:solidFill>
                                    <a:srgbClr val="9900CC"/>
                                  </a:solidFill>
                                  <a:latin typeface="Cambria Math" panose="02040503050406030204" pitchFamily="18" charset="0"/>
                                </a:rPr>
                              </m:ctrlPr>
                            </m:mPr>
                            <m:mr>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1</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1</m:t>
                                        </m:r>
                                      </m:sub>
                                    </m:sSub>
                                  </m:den>
                                </m:f>
                              </m:e>
                              <m:e>
                                <m:r>
                                  <a:rPr lang="en-US" b="0" i="1">
                                    <a:solidFill>
                                      <a:srgbClr val="9900CC"/>
                                    </a:solidFill>
                                    <a:latin typeface="Cambria Math" panose="02040503050406030204" pitchFamily="18" charset="0"/>
                                  </a:rPr>
                                  <m:t>…</m:t>
                                </m:r>
                              </m:e>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1</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𝑀</m:t>
                                        </m:r>
                                      </m:sub>
                                    </m:sSub>
                                  </m:den>
                                </m:f>
                              </m:e>
                            </m:mr>
                            <m:mr>
                              <m:e>
                                <m:r>
                                  <a:rPr lang="en-US" b="0" i="1">
                                    <a:solidFill>
                                      <a:srgbClr val="9900CC"/>
                                    </a:solidFill>
                                    <a:latin typeface="Cambria Math" panose="02040503050406030204" pitchFamily="18" charset="0"/>
                                  </a:rPr>
                                  <m:t>⋮</m:t>
                                </m:r>
                              </m:e>
                              <m:e>
                                <m:r>
                                  <a:rPr lang="en-US" b="0" i="1">
                                    <a:solidFill>
                                      <a:srgbClr val="9900CC"/>
                                    </a:solidFill>
                                    <a:latin typeface="Cambria Math" panose="02040503050406030204" pitchFamily="18" charset="0"/>
                                  </a:rPr>
                                  <m:t>⋱</m:t>
                                </m:r>
                              </m:e>
                              <m:e>
                                <m:r>
                                  <a:rPr lang="en-US" b="0" i="1">
                                    <a:solidFill>
                                      <a:srgbClr val="9900CC"/>
                                    </a:solidFill>
                                    <a:latin typeface="Cambria Math" panose="02040503050406030204" pitchFamily="18" charset="0"/>
                                  </a:rPr>
                                  <m:t>⋮</m:t>
                                </m:r>
                              </m:e>
                            </m:mr>
                            <m:mr>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𝑀</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1</m:t>
                                        </m:r>
                                      </m:sub>
                                    </m:sSub>
                                  </m:den>
                                </m:f>
                              </m:e>
                              <m:e>
                                <m:r>
                                  <a:rPr lang="en-US" b="0" i="1">
                                    <a:solidFill>
                                      <a:srgbClr val="9900CC"/>
                                    </a:solidFill>
                                    <a:latin typeface="Cambria Math" panose="02040503050406030204" pitchFamily="18" charset="0"/>
                                  </a:rPr>
                                  <m:t>…</m:t>
                                </m:r>
                              </m:e>
                              <m:e>
                                <m:f>
                                  <m:fPr>
                                    <m:ctrlPr>
                                      <a:rPr lang="en-US" b="0" i="1">
                                        <a:solidFill>
                                          <a:srgbClr val="9900CC"/>
                                        </a:solidFill>
                                        <a:latin typeface="Cambria Math" panose="02040503050406030204" pitchFamily="18" charset="0"/>
                                      </a:rPr>
                                    </m:ctrlPr>
                                  </m:fPr>
                                  <m:num>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𝑀</m:t>
                                        </m:r>
                                      </m:sub>
                                    </m:sSub>
                                  </m:num>
                                  <m:den>
                                    <m:r>
                                      <m:rPr>
                                        <m:brk m:alnAt="7"/>
                                      </m:rPr>
                                      <a:rPr lang="en-US" b="0" i="1">
                                        <a:solidFill>
                                          <a:srgbClr val="9900CC"/>
                                        </a:solidFill>
                                        <a:latin typeface="Cambria Math" panose="02040503050406030204" pitchFamily="18" charset="0"/>
                                      </a:rPr>
                                      <m:t>𝜕</m:t>
                                    </m:r>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𝑀</m:t>
                                        </m:r>
                                      </m:sub>
                                    </m:sSub>
                                  </m:den>
                                </m:f>
                              </m:e>
                            </m:mr>
                          </m:m>
                        </m:e>
                      </m:d>
                    </m:oMath>
                  </m:oMathPara>
                </a14:m>
                <a:endParaRPr lang="en-US" dirty="0"/>
              </a:p>
            </p:txBody>
          </p:sp>
        </mc:Choice>
        <mc:Fallback>
          <p:sp>
            <p:nvSpPr>
              <p:cNvPr id="31" name="Rectangle 30"/>
              <p:cNvSpPr>
                <a:spLocks noRot="1" noChangeAspect="1" noMove="1" noResize="1" noEditPoints="1" noAdjustHandles="1" noChangeArrowheads="1" noChangeShapeType="1" noTextEdit="1"/>
              </p:cNvSpPr>
              <p:nvPr/>
            </p:nvSpPr>
            <p:spPr>
              <a:xfrm>
                <a:off x="3753445" y="838200"/>
                <a:ext cx="2981777" cy="1967526"/>
              </a:xfrm>
              <a:prstGeom prst="rect">
                <a:avLst/>
              </a:prstGeom>
              <a:blipFill rotWithShape="1">
                <a:blip r:embed="rId8"/>
                <a:stretch>
                  <a:fillRect l="-20" r="14" b="15"/>
                </a:stretch>
              </a:blipFill>
            </p:spPr>
            <p:txBody>
              <a:bodyPr/>
              <a:lstStyle/>
              <a:p>
                <a:r>
                  <a:rPr lang="zh-CN" altLang="en-US">
                    <a:noFill/>
                  </a:rPr>
                  <a:t> </a:t>
                </a:r>
              </a:p>
            </p:txBody>
          </p:sp>
        </mc:Fallback>
      </mc:AlternateContent>
      <p:cxnSp>
        <p:nvCxnSpPr>
          <p:cNvPr id="32" name="Straight Arrow Connector 31"/>
          <p:cNvCxnSpPr/>
          <p:nvPr/>
        </p:nvCxnSpPr>
        <p:spPr bwMode="auto">
          <a:xfrm flipV="1">
            <a:off x="909927" y="3505201"/>
            <a:ext cx="1507356" cy="12412"/>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6" grpId="0"/>
      <p:bldP spid="57" grpId="0"/>
      <p:bldP spid="60" grpId="0"/>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54"/>
          <p:cNvSpPr/>
          <p:nvPr/>
        </p:nvSpPr>
        <p:spPr bwMode="auto">
          <a:xfrm>
            <a:off x="2438012" y="2885828"/>
            <a:ext cx="4768029" cy="1381372"/>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3200" b="0" i="0" u="none" strike="noStrike" cap="none" normalizeH="0" baseline="0" dirty="0">
              <a:ln>
                <a:noFill/>
              </a:ln>
              <a:solidFill>
                <a:schemeClr val="tx1"/>
              </a:solidFill>
              <a:effectLst/>
              <a:cs typeface="Arial" panose="020B0604020202090204" pitchFamily="34" charset="0"/>
            </a:endParaRPr>
          </a:p>
        </p:txBody>
      </p:sp>
      <p:sp>
        <p:nvSpPr>
          <p:cNvPr id="2" name="Title 1"/>
          <p:cNvSpPr>
            <a:spLocks noGrp="1"/>
          </p:cNvSpPr>
          <p:nvPr>
            <p:ph type="title"/>
          </p:nvPr>
        </p:nvSpPr>
        <p:spPr/>
        <p:txBody>
          <a:bodyPr/>
          <a:lstStyle/>
          <a:p>
            <a:r>
              <a:rPr lang="en-US" dirty="0"/>
              <a:t>Simple case: Elementwise operation</a:t>
            </a:r>
            <a:endParaRPr lang="en-US" dirty="0"/>
          </a:p>
        </p:txBody>
      </p:sp>
      <mc:AlternateContent xmlns:mc="http://schemas.openxmlformats.org/markup-compatibility/2006">
        <mc:Choice xmlns:a14="http://schemas.microsoft.com/office/drawing/2010/main" Requires="a14">
          <p:sp>
            <p:nvSpPr>
              <p:cNvPr id="33" name="Rectangle 32"/>
              <p:cNvSpPr/>
              <p:nvPr/>
            </p:nvSpPr>
            <p:spPr>
              <a:xfrm>
                <a:off x="815946" y="3962400"/>
                <a:ext cx="2076915" cy="79464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den>
                      </m:f>
                      <m:r>
                        <a:rPr lang="en-US" b="0" i="1" smtClean="0">
                          <a:solidFill>
                            <a:srgbClr val="C00000"/>
                          </a:solidFill>
                          <a:latin typeface="Cambria Math" panose="02040503050406030204" pitchFamily="18" charset="0"/>
                        </a:rPr>
                        <m:t> = </m:t>
                      </m:r>
                      <m:f>
                        <m:fPr>
                          <m:ctrlPr>
                            <a:rPr lang="en-US" b="0" i="1">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den>
                      </m:f>
                      <m:r>
                        <a:rPr lang="en-US" b="0" i="1" smtClean="0">
                          <a:solidFill>
                            <a:srgbClr val="C00000"/>
                          </a:solidFill>
                          <a:latin typeface="Cambria Math" panose="02040503050406030204" pitchFamily="18" charset="0"/>
                        </a:rPr>
                        <m:t>   </m:t>
                      </m:r>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b="0" dirty="0">
                  <a:solidFill>
                    <a:srgbClr val="C00000"/>
                  </a:solidFill>
                </a:endParaRPr>
              </a:p>
            </p:txBody>
          </p:sp>
        </mc:Choice>
        <mc:Fallback>
          <p:sp>
            <p:nvSpPr>
              <p:cNvPr id="33" name="Rectangle 32"/>
              <p:cNvSpPr>
                <a:spLocks noRot="1" noChangeAspect="1" noMove="1" noResize="1" noEditPoints="1" noAdjustHandles="1" noChangeArrowheads="1" noChangeShapeType="1" noTextEdit="1"/>
              </p:cNvSpPr>
              <p:nvPr/>
            </p:nvSpPr>
            <p:spPr>
              <a:xfrm>
                <a:off x="815946" y="3962400"/>
                <a:ext cx="2076915" cy="794641"/>
              </a:xfrm>
              <a:prstGeom prst="rect">
                <a:avLst/>
              </a:prstGeom>
              <a:blipFill rotWithShape="1">
                <a:blip r:embed="rId1"/>
                <a:stretch>
                  <a:fillRect l="-29" r="-285"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3780697" y="1219200"/>
                <a:ext cx="4282903" cy="114807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rgbClr val="9900CC"/>
                          </a:solidFill>
                          <a:latin typeface="Cambria Math" panose="02040503050406030204" pitchFamily="18" charset="0"/>
                        </a:rPr>
                        <m:t>=</m:t>
                      </m:r>
                      <m:d>
                        <m:dPr>
                          <m:ctrlPr>
                            <a:rPr lang="en-US" i="1">
                              <a:solidFill>
                                <a:srgbClr val="9900CC"/>
                              </a:solidFill>
                              <a:latin typeface="Cambria Math" panose="02040503050406030204" pitchFamily="18" charset="0"/>
                            </a:rPr>
                          </m:ctrlPr>
                        </m:dPr>
                        <m:e>
                          <m:m>
                            <m:mPr>
                              <m:mcs>
                                <m:mc>
                                  <m:mcPr>
                                    <m:count m:val="3"/>
                                    <m:mcJc m:val="center"/>
                                  </m:mcPr>
                                </m:mc>
                              </m:mcs>
                              <m:ctrlPr>
                                <a:rPr lang="en-US" i="1">
                                  <a:solidFill>
                                    <a:srgbClr val="9900CC"/>
                                  </a:solidFill>
                                  <a:latin typeface="Cambria Math" panose="02040503050406030204" pitchFamily="18" charset="0"/>
                                </a:rPr>
                              </m:ctrlPr>
                            </m:mPr>
                            <m:mr>
                              <m:e>
                                <m:r>
                                  <a:rPr lang="en-US" i="1">
                                    <a:solidFill>
                                      <a:srgbClr val="9900CC"/>
                                    </a:solidFill>
                                    <a:latin typeface="Cambria Math" panose="02040503050406030204" pitchFamily="18" charset="0"/>
                                    <a:ea typeface="Cambria Math" panose="02040503050406030204" pitchFamily="18" charset="0"/>
                                  </a:rPr>
                                  <m:t>𝕀</m:t>
                                </m:r>
                                <m:r>
                                  <a:rPr lang="en-US" b="0" i="1">
                                    <a:solidFill>
                                      <a:srgbClr val="9900CC"/>
                                    </a:solidFill>
                                    <a:latin typeface="Cambria Math" panose="02040503050406030204" pitchFamily="18" charset="0"/>
                                    <a:ea typeface="Cambria Math" panose="02040503050406030204" pitchFamily="18" charset="0"/>
                                  </a:rPr>
                                  <m:t>[</m:t>
                                </m:r>
                                <m:sSub>
                                  <m:sSubPr>
                                    <m:ctrlPr>
                                      <a:rPr lang="en-US" b="0" i="1">
                                        <a:solidFill>
                                          <a:srgbClr val="9900CC"/>
                                        </a:solidFill>
                                        <a:latin typeface="Cambria Math" panose="02040503050406030204" pitchFamily="18" charset="0"/>
                                        <a:ea typeface="Cambria Math" panose="02040503050406030204" pitchFamily="18" charset="0"/>
                                      </a:rPr>
                                    </m:ctrlPr>
                                  </m:sSubPr>
                                  <m:e>
                                    <m:r>
                                      <a:rPr lang="en-US" b="0" i="1">
                                        <a:solidFill>
                                          <a:srgbClr val="9900CC"/>
                                        </a:solidFill>
                                        <a:latin typeface="Cambria Math" panose="02040503050406030204" pitchFamily="18" charset="0"/>
                                        <a:ea typeface="Cambria Math" panose="02040503050406030204" pitchFamily="18" charset="0"/>
                                      </a:rPr>
                                      <m:t>𝑥</m:t>
                                    </m:r>
                                  </m:e>
                                  <m:sub>
                                    <m:r>
                                      <a:rPr lang="en-US" b="0" i="1">
                                        <a:solidFill>
                                          <a:srgbClr val="9900CC"/>
                                        </a:solidFill>
                                        <a:latin typeface="Cambria Math" panose="02040503050406030204" pitchFamily="18" charset="0"/>
                                        <a:ea typeface="Cambria Math" panose="02040503050406030204" pitchFamily="18" charset="0"/>
                                      </a:rPr>
                                      <m:t>1</m:t>
                                    </m:r>
                                  </m:sub>
                                </m:sSub>
                                <m:r>
                                  <a:rPr lang="en-US" b="0" i="1">
                                    <a:solidFill>
                                      <a:srgbClr val="9900CC"/>
                                    </a:solidFill>
                                    <a:latin typeface="Cambria Math" panose="02040503050406030204" pitchFamily="18" charset="0"/>
                                    <a:ea typeface="Cambria Math" panose="02040503050406030204" pitchFamily="18" charset="0"/>
                                  </a:rPr>
                                  <m:t>&gt;</m:t>
                                </m:r>
                                <m:r>
                                  <a:rPr lang="en-US" b="0" i="1">
                                    <a:solidFill>
                                      <a:srgbClr val="9900CC"/>
                                    </a:solidFill>
                                    <a:latin typeface="Cambria Math" panose="02040503050406030204" pitchFamily="18" charset="0"/>
                                    <a:ea typeface="Cambria Math" panose="02040503050406030204" pitchFamily="18" charset="0"/>
                                  </a:rPr>
                                  <m:t>0</m:t>
                                </m:r>
                                <m:r>
                                  <a:rPr lang="en-US" b="0" i="1">
                                    <a:solidFill>
                                      <a:srgbClr val="9900CC"/>
                                    </a:solidFill>
                                    <a:latin typeface="Cambria Math" panose="02040503050406030204" pitchFamily="18" charset="0"/>
                                    <a:ea typeface="Cambria Math" panose="02040503050406030204" pitchFamily="18" charset="0"/>
                                  </a:rPr>
                                  <m:t>]</m:t>
                                </m:r>
                              </m:e>
                              <m:e>
                                <m:r>
                                  <a:rPr lang="en-US" i="1">
                                    <a:solidFill>
                                      <a:srgbClr val="9900CC"/>
                                    </a:solidFill>
                                    <a:latin typeface="Cambria Math" panose="02040503050406030204" pitchFamily="18" charset="0"/>
                                  </a:rPr>
                                  <m:t>…</m:t>
                                </m:r>
                              </m:e>
                              <m:e>
                                <m:r>
                                  <a:rPr lang="en-US" b="0" i="1">
                                    <a:solidFill>
                                      <a:srgbClr val="9900CC"/>
                                    </a:solidFill>
                                    <a:latin typeface="Cambria Math" panose="02040503050406030204" pitchFamily="18" charset="0"/>
                                  </a:rPr>
                                  <m:t>0</m:t>
                                </m:r>
                              </m:e>
                            </m:mr>
                            <m:mr>
                              <m:e>
                                <m:r>
                                  <a:rPr lang="en-US" i="1">
                                    <a:solidFill>
                                      <a:srgbClr val="9900CC"/>
                                    </a:solidFill>
                                    <a:latin typeface="Cambria Math" panose="02040503050406030204" pitchFamily="18" charset="0"/>
                                  </a:rPr>
                                  <m:t>⋮</m:t>
                                </m:r>
                              </m:e>
                              <m:e>
                                <m:r>
                                  <a:rPr lang="en-US" i="1">
                                    <a:solidFill>
                                      <a:srgbClr val="9900CC"/>
                                    </a:solidFill>
                                    <a:latin typeface="Cambria Math" panose="02040503050406030204" pitchFamily="18" charset="0"/>
                                  </a:rPr>
                                  <m:t>⋱</m:t>
                                </m:r>
                              </m:e>
                              <m:e>
                                <m:r>
                                  <a:rPr lang="en-US" i="1">
                                    <a:solidFill>
                                      <a:srgbClr val="9900CC"/>
                                    </a:solidFill>
                                    <a:latin typeface="Cambria Math" panose="02040503050406030204" pitchFamily="18" charset="0"/>
                                  </a:rPr>
                                  <m:t>⋮</m:t>
                                </m:r>
                              </m:e>
                            </m:mr>
                            <m:mr>
                              <m:e>
                                <m:r>
                                  <a:rPr lang="en-US" b="0" i="1">
                                    <a:solidFill>
                                      <a:srgbClr val="9900CC"/>
                                    </a:solidFill>
                                    <a:latin typeface="Cambria Math" panose="02040503050406030204" pitchFamily="18" charset="0"/>
                                  </a:rPr>
                                  <m:t>0</m:t>
                                </m:r>
                              </m:e>
                              <m:e>
                                <m:r>
                                  <a:rPr lang="en-US" i="1">
                                    <a:solidFill>
                                      <a:srgbClr val="9900CC"/>
                                    </a:solidFill>
                                    <a:latin typeface="Cambria Math" panose="02040503050406030204" pitchFamily="18" charset="0"/>
                                  </a:rPr>
                                  <m:t>…</m:t>
                                </m:r>
                              </m:e>
                              <m:e>
                                <m:r>
                                  <a:rPr lang="en-US" i="1">
                                    <a:solidFill>
                                      <a:srgbClr val="9900CC"/>
                                    </a:solidFill>
                                    <a:latin typeface="Cambria Math" panose="02040503050406030204" pitchFamily="18" charset="0"/>
                                    <a:ea typeface="Cambria Math" panose="02040503050406030204" pitchFamily="18" charset="0"/>
                                  </a:rPr>
                                  <m:t>𝕀</m:t>
                                </m:r>
                                <m:r>
                                  <a:rPr lang="en-US" i="1">
                                    <a:solidFill>
                                      <a:srgbClr val="9900CC"/>
                                    </a:solidFill>
                                    <a:latin typeface="Cambria Math" panose="02040503050406030204" pitchFamily="18" charset="0"/>
                                    <a:ea typeface="Cambria Math" panose="02040503050406030204" pitchFamily="18" charset="0"/>
                                  </a:rPr>
                                  <m:t>[</m:t>
                                </m:r>
                                <m:sSub>
                                  <m:sSubPr>
                                    <m:ctrlPr>
                                      <a:rPr lang="en-US" i="1">
                                        <a:solidFill>
                                          <a:srgbClr val="9900CC"/>
                                        </a:solidFill>
                                        <a:latin typeface="Cambria Math" panose="02040503050406030204" pitchFamily="18" charset="0"/>
                                        <a:ea typeface="Cambria Math" panose="02040503050406030204" pitchFamily="18" charset="0"/>
                                      </a:rPr>
                                    </m:ctrlPr>
                                  </m:sSubPr>
                                  <m:e>
                                    <m:r>
                                      <a:rPr lang="en-US" i="1">
                                        <a:solidFill>
                                          <a:srgbClr val="9900CC"/>
                                        </a:solidFill>
                                        <a:latin typeface="Cambria Math" panose="02040503050406030204" pitchFamily="18" charset="0"/>
                                        <a:ea typeface="Cambria Math" panose="02040503050406030204" pitchFamily="18" charset="0"/>
                                      </a:rPr>
                                      <m:t>𝑥</m:t>
                                    </m:r>
                                  </m:e>
                                  <m:sub>
                                    <m:r>
                                      <a:rPr lang="en-US" b="0" i="1" smtClean="0">
                                        <a:solidFill>
                                          <a:srgbClr val="9900CC"/>
                                        </a:solidFill>
                                        <a:latin typeface="Cambria Math" panose="02040503050406030204" pitchFamily="18" charset="0"/>
                                        <a:ea typeface="Cambria Math" panose="02040503050406030204" pitchFamily="18" charset="0"/>
                                      </a:rPr>
                                      <m:t>𝑀</m:t>
                                    </m:r>
                                  </m:sub>
                                </m:sSub>
                                <m:r>
                                  <a:rPr lang="en-US" i="1">
                                    <a:solidFill>
                                      <a:srgbClr val="9900CC"/>
                                    </a:solidFill>
                                    <a:latin typeface="Cambria Math" panose="02040503050406030204" pitchFamily="18" charset="0"/>
                                    <a:ea typeface="Cambria Math" panose="02040503050406030204" pitchFamily="18" charset="0"/>
                                  </a:rPr>
                                  <m:t>&gt;</m:t>
                                </m:r>
                                <m:r>
                                  <a:rPr lang="en-US" i="1">
                                    <a:solidFill>
                                      <a:srgbClr val="9900CC"/>
                                    </a:solidFill>
                                    <a:latin typeface="Cambria Math" panose="02040503050406030204" pitchFamily="18" charset="0"/>
                                    <a:ea typeface="Cambria Math" panose="02040503050406030204" pitchFamily="18" charset="0"/>
                                  </a:rPr>
                                  <m:t>0</m:t>
                                </m:r>
                                <m:r>
                                  <a:rPr lang="en-US" i="1">
                                    <a:solidFill>
                                      <a:srgbClr val="9900CC"/>
                                    </a:solidFill>
                                    <a:latin typeface="Cambria Math" panose="02040503050406030204" pitchFamily="18" charset="0"/>
                                    <a:ea typeface="Cambria Math" panose="02040503050406030204" pitchFamily="18" charset="0"/>
                                  </a:rPr>
                                  <m:t>]</m:t>
                                </m:r>
                              </m:e>
                            </m:mr>
                          </m:m>
                        </m:e>
                      </m:d>
                    </m:oMath>
                  </m:oMathPara>
                </a14:m>
                <a:endParaRPr lang="en-US" dirty="0"/>
              </a:p>
            </p:txBody>
          </p:sp>
        </mc:Choice>
        <mc:Fallback>
          <p:sp>
            <p:nvSpPr>
              <p:cNvPr id="11" name="Rectangle 10"/>
              <p:cNvSpPr>
                <a:spLocks noRot="1" noChangeAspect="1" noMove="1" noResize="1" noEditPoints="1" noAdjustHandles="1" noChangeArrowheads="1" noChangeShapeType="1" noTextEdit="1"/>
              </p:cNvSpPr>
              <p:nvPr/>
            </p:nvSpPr>
            <p:spPr>
              <a:xfrm>
                <a:off x="3780697" y="1219200"/>
                <a:ext cx="4282903" cy="1148071"/>
              </a:xfrm>
              <a:prstGeom prst="rect">
                <a:avLst/>
              </a:prstGeom>
              <a:blipFill rotWithShape="1">
                <a:blip r:embed="rId2"/>
                <a:stretch>
                  <a:fillRect l="-13" r="9"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Rectangle 35"/>
              <p:cNvSpPr/>
              <p:nvPr/>
            </p:nvSpPr>
            <p:spPr>
              <a:xfrm>
                <a:off x="457200" y="5105400"/>
                <a:ext cx="1023165" cy="85702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den>
                      </m:f>
                      <m:r>
                        <a:rPr lang="en-US" b="0" i="1" smtClean="0">
                          <a:solidFill>
                            <a:srgbClr val="C00000"/>
                          </a:solidFill>
                          <a:latin typeface="Cambria Math" panose="02040503050406030204" pitchFamily="18" charset="0"/>
                        </a:rPr>
                        <m:t>=</m:t>
                      </m:r>
                    </m:oMath>
                  </m:oMathPara>
                </a14:m>
                <a:endParaRPr lang="en-US" b="0" dirty="0"/>
              </a:p>
            </p:txBody>
          </p:sp>
        </mc:Choice>
        <mc:Fallback>
          <p:sp>
            <p:nvSpPr>
              <p:cNvPr id="36" name="Rectangle 35"/>
              <p:cNvSpPr>
                <a:spLocks noRot="1" noChangeAspect="1" noMove="1" noResize="1" noEditPoints="1" noAdjustHandles="1" noChangeArrowheads="1" noChangeShapeType="1" noTextEdit="1"/>
              </p:cNvSpPr>
              <p:nvPr/>
            </p:nvSpPr>
            <p:spPr>
              <a:xfrm>
                <a:off x="457200" y="5105400"/>
                <a:ext cx="1023165" cy="857029"/>
              </a:xfrm>
              <a:prstGeom prst="rect">
                <a:avLst/>
              </a:prstGeom>
              <a:blipFill rotWithShape="1">
                <a:blip r:embed="rId3"/>
                <a:stretch>
                  <a:fillRect r="18" b="48"/>
                </a:stretch>
              </a:blipFill>
            </p:spPr>
            <p:txBody>
              <a:bodyPr/>
              <a:lstStyle/>
              <a:p>
                <a:r>
                  <a:rPr lang="zh-CN" altLang="en-US">
                    <a:noFill/>
                  </a:rPr>
                  <a:t> </a:t>
                </a:r>
              </a:p>
            </p:txBody>
          </p:sp>
        </mc:Fallback>
      </mc:AlternateContent>
      <p:cxnSp>
        <p:nvCxnSpPr>
          <p:cNvPr id="45" name="Straight Arrow Connector 44"/>
          <p:cNvCxnSpPr/>
          <p:nvPr/>
        </p:nvCxnSpPr>
        <p:spPr bwMode="auto">
          <a:xfrm>
            <a:off x="7236874" y="3505200"/>
            <a:ext cx="1001467"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6" name="Rectangle 45"/>
              <p:cNvSpPr/>
              <p:nvPr/>
            </p:nvSpPr>
            <p:spPr>
              <a:xfrm>
                <a:off x="381000" y="3225225"/>
                <a:ext cx="528927"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oMath>
                  </m:oMathPara>
                </a14:m>
                <a:endParaRPr lang="en-US" sz="3200" dirty="0"/>
              </a:p>
            </p:txBody>
          </p:sp>
        </mc:Choice>
        <mc:Fallback>
          <p:sp>
            <p:nvSpPr>
              <p:cNvPr id="46" name="Rectangle 45"/>
              <p:cNvSpPr>
                <a:spLocks noRot="1" noChangeAspect="1" noMove="1" noResize="1" noEditPoints="1" noAdjustHandles="1" noChangeArrowheads="1" noChangeShapeType="1" noTextEdit="1"/>
              </p:cNvSpPr>
              <p:nvPr/>
            </p:nvSpPr>
            <p:spPr>
              <a:xfrm>
                <a:off x="381000" y="3225225"/>
                <a:ext cx="528927" cy="584775"/>
              </a:xfrm>
              <a:prstGeom prst="rect">
                <a:avLst/>
              </a:prstGeom>
              <a:blipFill rotWithShape="1">
                <a:blip r:embed="rId4"/>
                <a:stretch>
                  <a:fillRect t="-10" r="115" b="-55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Rectangle 46"/>
              <p:cNvSpPr/>
              <p:nvPr/>
            </p:nvSpPr>
            <p:spPr>
              <a:xfrm>
                <a:off x="8381856" y="3225225"/>
                <a:ext cx="50424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𝑧</m:t>
                      </m:r>
                    </m:oMath>
                  </m:oMathPara>
                </a14:m>
                <a:endParaRPr lang="en-US" sz="3200" dirty="0"/>
              </a:p>
            </p:txBody>
          </p:sp>
        </mc:Choice>
        <mc:Fallback>
          <p:sp>
            <p:nvSpPr>
              <p:cNvPr id="47" name="Rectangle 46"/>
              <p:cNvSpPr>
                <a:spLocks noRot="1" noChangeAspect="1" noMove="1" noResize="1" noEditPoints="1" noAdjustHandles="1" noChangeArrowheads="1" noChangeShapeType="1" noTextEdit="1"/>
              </p:cNvSpPr>
              <p:nvPr/>
            </p:nvSpPr>
            <p:spPr>
              <a:xfrm>
                <a:off x="8381856" y="3225225"/>
                <a:ext cx="504241" cy="584775"/>
              </a:xfrm>
              <a:prstGeom prst="rect">
                <a:avLst/>
              </a:prstGeom>
              <a:blipFill rotWithShape="1">
                <a:blip r:embed="rId5"/>
                <a:stretch>
                  <a:fillRect l="-97" t="-10" r="107" b="-55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7355367" y="3849610"/>
                <a:ext cx="706387" cy="816377"/>
              </a:xfrm>
              <a:prstGeom prst="rect">
                <a:avLst/>
              </a:prstGeom>
            </p:spPr>
            <p:txBody>
              <a:bodyPr wrap="square">
                <a:spAutoFit/>
              </a:bodyPr>
              <a:lstStyle/>
              <a:p>
                <a:pPr algn="ct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𝑧</m:t>
                        </m:r>
                      </m:den>
                    </m:f>
                  </m:oMath>
                </a14:m>
                <a:r>
                  <a:rPr lang="en-US" sz="3200" b="0" dirty="0">
                    <a:solidFill>
                      <a:srgbClr val="C00000"/>
                    </a:solidFill>
                  </a:rPr>
                  <a:t> </a:t>
                </a:r>
                <a:endParaRPr lang="en-US" sz="3200" b="0" dirty="0">
                  <a:solidFill>
                    <a:srgbClr val="C00000"/>
                  </a:solidFill>
                </a:endParaRPr>
              </a:p>
            </p:txBody>
          </p:sp>
        </mc:Choice>
        <mc:Fallback>
          <p:sp>
            <p:nvSpPr>
              <p:cNvPr id="48" name="Rectangle 47"/>
              <p:cNvSpPr>
                <a:spLocks noRot="1" noChangeAspect="1" noMove="1" noResize="1" noEditPoints="1" noAdjustHandles="1" noChangeArrowheads="1" noChangeShapeType="1" noTextEdit="1"/>
              </p:cNvSpPr>
              <p:nvPr/>
            </p:nvSpPr>
            <p:spPr>
              <a:xfrm>
                <a:off x="7355367" y="3849610"/>
                <a:ext cx="706387" cy="816377"/>
              </a:xfrm>
              <a:prstGeom prst="rect">
                <a:avLst/>
              </a:prstGeom>
              <a:blipFill rotWithShape="1">
                <a:blip r:embed="rId6"/>
                <a:stretch>
                  <a:fillRect l="-23" t="-29" r="61" b="1"/>
                </a:stretch>
              </a:blipFill>
            </p:spPr>
            <p:txBody>
              <a:bodyPr/>
              <a:lstStyle/>
              <a:p>
                <a:r>
                  <a:rPr lang="zh-CN" altLang="en-US">
                    <a:noFill/>
                  </a:rPr>
                  <a:t> </a:t>
                </a:r>
              </a:p>
            </p:txBody>
          </p:sp>
        </mc:Fallback>
      </mc:AlternateContent>
      <p:cxnSp>
        <p:nvCxnSpPr>
          <p:cNvPr id="49" name="Straight Arrow Connector 48"/>
          <p:cNvCxnSpPr/>
          <p:nvPr/>
        </p:nvCxnSpPr>
        <p:spPr bwMode="auto">
          <a:xfrm flipH="1">
            <a:off x="7206041" y="3657600"/>
            <a:ext cx="1001467"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50" name="Rectangle 49"/>
              <p:cNvSpPr/>
              <p:nvPr/>
            </p:nvSpPr>
            <p:spPr>
              <a:xfrm>
                <a:off x="3094897" y="3200400"/>
                <a:ext cx="3728713" cy="64633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𝑓</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r>
                        <m:rPr>
                          <m:sty m:val="p"/>
                        </m:rPr>
                        <a:rPr lang="en-US" sz="3600" b="0" i="0" smtClean="0">
                          <a:latin typeface="Cambria Math" panose="02040503050406030204" pitchFamily="18" charset="0"/>
                        </a:rPr>
                        <m:t>max</m:t>
                      </m:r>
                      <m:r>
                        <a:rPr lang="en-US" sz="3600" b="0" i="1" smtClean="0">
                          <a:latin typeface="Cambria Math" panose="02040503050406030204" pitchFamily="18" charset="0"/>
                        </a:rPr>
                        <m:t>⁡(</m:t>
                      </m:r>
                      <m:r>
                        <a:rPr lang="en-US" sz="3600" b="0" i="1" smtClean="0">
                          <a:latin typeface="Cambria Math" panose="02040503050406030204" pitchFamily="18" charset="0"/>
                        </a:rPr>
                        <m:t>0</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oMath>
                  </m:oMathPara>
                </a14:m>
                <a:endParaRPr lang="en-US" sz="3600" dirty="0"/>
              </a:p>
            </p:txBody>
          </p:sp>
        </mc:Choice>
        <mc:Fallback>
          <p:sp>
            <p:nvSpPr>
              <p:cNvPr id="50" name="Rectangle 49"/>
              <p:cNvSpPr>
                <a:spLocks noRot="1" noChangeAspect="1" noMove="1" noResize="1" noEditPoints="1" noAdjustHandles="1" noChangeArrowheads="1" noChangeShapeType="1" noTextEdit="1"/>
              </p:cNvSpPr>
              <p:nvPr/>
            </p:nvSpPr>
            <p:spPr>
              <a:xfrm>
                <a:off x="3094897" y="3200400"/>
                <a:ext cx="3728713" cy="646331"/>
              </a:xfrm>
              <a:prstGeom prst="rect">
                <a:avLst/>
              </a:prstGeom>
              <a:blipFill rotWithShape="1">
                <a:blip r:embed="rId7"/>
                <a:stretch>
                  <a:fillRect l="-15" r="14" b="-65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Rectangle 57"/>
              <p:cNvSpPr/>
              <p:nvPr/>
            </p:nvSpPr>
            <p:spPr>
              <a:xfrm>
                <a:off x="228600" y="3790890"/>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58" name="Rectangle 57"/>
              <p:cNvSpPr>
                <a:spLocks noRot="1" noChangeAspect="1" noMove="1" noResize="1" noEditPoints="1" noAdjustHandles="1" noChangeArrowheads="1" noChangeShapeType="1" noTextEdit="1"/>
              </p:cNvSpPr>
              <p:nvPr/>
            </p:nvSpPr>
            <p:spPr>
              <a:xfrm>
                <a:off x="228600" y="3790890"/>
                <a:ext cx="804900" cy="400110"/>
              </a:xfrm>
              <a:prstGeom prst="rect">
                <a:avLst/>
              </a:prstGeom>
              <a:blipFill rotWithShape="1">
                <a:blip r:embed="rId8"/>
                <a:stretch>
                  <a:fillRect t="-144" r="-18653"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Rectangle 58"/>
              <p:cNvSpPr/>
              <p:nvPr/>
            </p:nvSpPr>
            <p:spPr>
              <a:xfrm>
                <a:off x="8225556" y="3804149"/>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59" name="Rectangle 58"/>
              <p:cNvSpPr>
                <a:spLocks noRot="1" noChangeAspect="1" noMove="1" noResize="1" noEditPoints="1" noAdjustHandles="1" noChangeArrowheads="1" noChangeShapeType="1" noTextEdit="1"/>
              </p:cNvSpPr>
              <p:nvPr/>
            </p:nvSpPr>
            <p:spPr>
              <a:xfrm>
                <a:off x="8225556" y="3804149"/>
                <a:ext cx="804900" cy="400110"/>
              </a:xfrm>
              <a:prstGeom prst="rect">
                <a:avLst/>
              </a:prstGeom>
              <a:blipFill rotWithShape="1">
                <a:blip r:embed="rId8"/>
                <a:stretch>
                  <a:fillRect l="-50" t="-125" r="-18603" b="-4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Rectangle 59"/>
              <p:cNvSpPr/>
              <p:nvPr/>
            </p:nvSpPr>
            <p:spPr>
              <a:xfrm>
                <a:off x="7355367" y="4629090"/>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60" name="Rectangle 59"/>
              <p:cNvSpPr>
                <a:spLocks noRot="1" noChangeAspect="1" noMove="1" noResize="1" noEditPoints="1" noAdjustHandles="1" noChangeArrowheads="1" noChangeShapeType="1" noTextEdit="1"/>
              </p:cNvSpPr>
              <p:nvPr/>
            </p:nvSpPr>
            <p:spPr>
              <a:xfrm>
                <a:off x="7355367" y="4629090"/>
                <a:ext cx="804900" cy="400110"/>
              </a:xfrm>
              <a:prstGeom prst="rect">
                <a:avLst/>
              </a:prstGeom>
              <a:blipFill rotWithShape="1">
                <a:blip r:embed="rId8"/>
                <a:stretch>
                  <a:fillRect l="-20" t="-144" r="-18633"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Rectangle 61"/>
              <p:cNvSpPr/>
              <p:nvPr/>
            </p:nvSpPr>
            <p:spPr>
              <a:xfrm>
                <a:off x="760486" y="4707381"/>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62" name="Rectangle 61"/>
              <p:cNvSpPr>
                <a:spLocks noRot="1" noChangeAspect="1" noMove="1" noResize="1" noEditPoints="1" noAdjustHandles="1" noChangeArrowheads="1" noChangeShapeType="1" noTextEdit="1"/>
              </p:cNvSpPr>
              <p:nvPr/>
            </p:nvSpPr>
            <p:spPr>
              <a:xfrm>
                <a:off x="760486" y="4707381"/>
                <a:ext cx="804900" cy="400110"/>
              </a:xfrm>
              <a:prstGeom prst="rect">
                <a:avLst/>
              </a:prstGeom>
              <a:blipFill rotWithShape="1">
                <a:blip r:embed="rId8"/>
                <a:stretch>
                  <a:fillRect l="-49" t="-31" r="-18605" b="-5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Rectangle 62"/>
              <p:cNvSpPr/>
              <p:nvPr/>
            </p:nvSpPr>
            <p:spPr>
              <a:xfrm>
                <a:off x="1594642" y="4705237"/>
                <a:ext cx="804900"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63" name="Rectangle 62"/>
              <p:cNvSpPr>
                <a:spLocks noRot="1" noChangeAspect="1" noMove="1" noResize="1" noEditPoints="1" noAdjustHandles="1" noChangeArrowheads="1" noChangeShapeType="1" noTextEdit="1"/>
              </p:cNvSpPr>
              <p:nvPr/>
            </p:nvSpPr>
            <p:spPr>
              <a:xfrm>
                <a:off x="1594642" y="4705237"/>
                <a:ext cx="804900" cy="400110"/>
              </a:xfrm>
              <a:prstGeom prst="rect">
                <a:avLst/>
              </a:prstGeom>
              <a:blipFill rotWithShape="1">
                <a:blip r:embed="rId8"/>
                <a:stretch>
                  <a:fillRect l="-20" t="-130" r="-18634" b="-4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Rectangle 65"/>
              <p:cNvSpPr/>
              <p:nvPr/>
            </p:nvSpPr>
            <p:spPr>
              <a:xfrm>
                <a:off x="2237675" y="4710059"/>
                <a:ext cx="886525"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𝑀</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66" name="Rectangle 65"/>
              <p:cNvSpPr>
                <a:spLocks noRot="1" noChangeAspect="1" noMove="1" noResize="1" noEditPoints="1" noAdjustHandles="1" noChangeArrowheads="1" noChangeShapeType="1" noTextEdit="1"/>
              </p:cNvSpPr>
              <p:nvPr/>
            </p:nvSpPr>
            <p:spPr>
              <a:xfrm>
                <a:off x="2237675" y="4710059"/>
                <a:ext cx="886525" cy="400110"/>
              </a:xfrm>
              <a:prstGeom prst="rect">
                <a:avLst/>
              </a:prstGeom>
              <a:blipFill rotWithShape="1">
                <a:blip r:embed="rId9"/>
                <a:stretch>
                  <a:fillRect l="-64" t="-66" r="-16188" b="-554"/>
                </a:stretch>
              </a:blipFill>
            </p:spPr>
            <p:txBody>
              <a:bodyPr/>
              <a:lstStyle/>
              <a:p>
                <a:r>
                  <a:rPr lang="zh-CN" altLang="en-US">
                    <a:noFill/>
                  </a:rPr>
                  <a:t> </a:t>
                </a:r>
              </a:p>
            </p:txBody>
          </p:sp>
        </mc:Fallback>
      </mc:AlternateContent>
      <p:cxnSp>
        <p:nvCxnSpPr>
          <p:cNvPr id="23" name="Straight Arrow Connector 22"/>
          <p:cNvCxnSpPr>
            <a:stCxn id="46" idx="3"/>
          </p:cNvCxnSpPr>
          <p:nvPr/>
        </p:nvCxnSpPr>
        <p:spPr bwMode="auto">
          <a:xfrm flipV="1">
            <a:off x="909927" y="3505201"/>
            <a:ext cx="1507356" cy="12412"/>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24" name="Straight Arrow Connector 23"/>
          <p:cNvCxnSpPr/>
          <p:nvPr/>
        </p:nvCxnSpPr>
        <p:spPr bwMode="auto">
          <a:xfrm flipH="1">
            <a:off x="838200" y="3657600"/>
            <a:ext cx="1616265"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0" name="Rectangle 29"/>
              <p:cNvSpPr/>
              <p:nvPr/>
            </p:nvSpPr>
            <p:spPr>
              <a:xfrm>
                <a:off x="562255" y="5972286"/>
                <a:ext cx="928652" cy="7946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den>
                      </m:f>
                      <m:r>
                        <a:rPr lang="en-US" b="0" i="1" smtClean="0">
                          <a:solidFill>
                            <a:srgbClr val="C00000"/>
                          </a:solidFill>
                          <a:latin typeface="Cambria Math" panose="02040503050406030204" pitchFamily="18" charset="0"/>
                        </a:rPr>
                        <m:t>=</m:t>
                      </m:r>
                    </m:oMath>
                  </m:oMathPara>
                </a14:m>
                <a:endParaRPr lang="en-US" b="0" dirty="0"/>
              </a:p>
            </p:txBody>
          </p:sp>
        </mc:Choice>
        <mc:Fallback>
          <p:sp>
            <p:nvSpPr>
              <p:cNvPr id="30" name="Rectangle 29"/>
              <p:cNvSpPr>
                <a:spLocks noRot="1" noChangeAspect="1" noMove="1" noResize="1" noEditPoints="1" noAdjustHandles="1" noChangeArrowheads="1" noChangeShapeType="1" noTextEdit="1"/>
              </p:cNvSpPr>
              <p:nvPr/>
            </p:nvSpPr>
            <p:spPr>
              <a:xfrm>
                <a:off x="562255" y="5972286"/>
                <a:ext cx="928652" cy="794641"/>
              </a:xfrm>
              <a:prstGeom prst="rect">
                <a:avLst/>
              </a:prstGeom>
              <a:blipFill rotWithShape="1">
                <a:blip r:embed="rId10"/>
                <a:stretch>
                  <a:fillRect l="-30" t="-14" r="61"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Rectangle 24"/>
              <p:cNvSpPr/>
              <p:nvPr/>
            </p:nvSpPr>
            <p:spPr>
              <a:xfrm>
                <a:off x="3262835" y="1357926"/>
                <a:ext cx="617926" cy="7946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dirty="0">
                  <a:solidFill>
                    <a:srgbClr val="9900CC"/>
                  </a:solidFill>
                </a:endParaRPr>
              </a:p>
            </p:txBody>
          </p:sp>
        </mc:Choice>
        <mc:Fallback>
          <p:sp>
            <p:nvSpPr>
              <p:cNvPr id="25" name="Rectangle 24"/>
              <p:cNvSpPr>
                <a:spLocks noRot="1" noChangeAspect="1" noMove="1" noResize="1" noEditPoints="1" noAdjustHandles="1" noChangeArrowheads="1" noChangeShapeType="1" noTextEdit="1"/>
              </p:cNvSpPr>
              <p:nvPr/>
            </p:nvSpPr>
            <p:spPr>
              <a:xfrm>
                <a:off x="3262835" y="1357926"/>
                <a:ext cx="617926" cy="794641"/>
              </a:xfrm>
              <a:prstGeom prst="rect">
                <a:avLst/>
              </a:prstGeom>
              <a:blipFill rotWithShape="1">
                <a:blip r:embed="rId11"/>
                <a:stretch>
                  <a:fillRect l="-33" t="-37" r="45"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Rectangle 25"/>
              <p:cNvSpPr/>
              <p:nvPr/>
            </p:nvSpPr>
            <p:spPr>
              <a:xfrm>
                <a:off x="2813961" y="2187714"/>
                <a:ext cx="1523999" cy="707886"/>
              </a:xfrm>
              <a:prstGeom prst="rect">
                <a:avLst/>
              </a:prstGeom>
            </p:spPr>
            <p:txBody>
              <a:bodyPr wrap="square">
                <a:spAutoFit/>
              </a:bodyPr>
              <a:lstStyle/>
              <a:p>
                <a:pPr algn="ctr"/>
                <a14:m>
                  <m:oMath xmlns:m="http://schemas.openxmlformats.org/officeDocument/2006/math">
                    <m:r>
                      <a:rPr lang="en-US" sz="2000" b="0" i="1" smtClean="0">
                        <a:solidFill>
                          <a:srgbClr val="9900CC"/>
                        </a:solidFill>
                        <a:latin typeface="Cambria Math" panose="02040503050406030204" pitchFamily="18" charset="0"/>
                      </a:rPr>
                      <m:t>𝑀</m:t>
                    </m:r>
                    <m:r>
                      <a:rPr lang="en-US" sz="2000" b="0" i="1" smtClean="0">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Jacobian</a:t>
                </a:r>
                <a:endParaRPr lang="en-US" sz="2000" b="0" dirty="0">
                  <a:solidFill>
                    <a:srgbClr val="9900CC"/>
                  </a:solidFill>
                </a:endParaRPr>
              </a:p>
            </p:txBody>
          </p:sp>
        </mc:Choice>
        <mc:Fallback>
          <p:sp>
            <p:nvSpPr>
              <p:cNvPr id="26" name="Rectangle 25"/>
              <p:cNvSpPr>
                <a:spLocks noRot="1" noChangeAspect="1" noMove="1" noResize="1" noEditPoints="1" noAdjustHandles="1" noChangeArrowheads="1" noChangeShapeType="1" noTextEdit="1"/>
              </p:cNvSpPr>
              <p:nvPr/>
            </p:nvSpPr>
            <p:spPr>
              <a:xfrm>
                <a:off x="2813961" y="2187714"/>
                <a:ext cx="1523999" cy="707886"/>
              </a:xfrm>
              <a:prstGeom prst="rect">
                <a:avLst/>
              </a:prstGeom>
              <a:blipFill rotWithShape="1">
                <a:blip r:embed="rId12"/>
                <a:stretch>
                  <a:fillRect l="-18" t="-20" r="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1295400" y="5098326"/>
                <a:ext cx="1917320" cy="85702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a:solidFill>
                            <a:srgbClr val="9900CC"/>
                          </a:solidFill>
                          <a:latin typeface="Cambria Math" panose="02040503050406030204" pitchFamily="18" charset="0"/>
                          <a:ea typeface="Cambria Math" panose="02040503050406030204" pitchFamily="18" charset="0"/>
                        </a:rPr>
                        <m:t>𝕀</m:t>
                      </m:r>
                      <m:d>
                        <m:dPr>
                          <m:begChr m:val="["/>
                          <m:endChr m:val="]"/>
                          <m:ctrlPr>
                            <a:rPr lang="en-US" i="1">
                              <a:solidFill>
                                <a:srgbClr val="9900CC"/>
                              </a:solidFill>
                              <a:latin typeface="Cambria Math" panose="02040503050406030204" pitchFamily="18" charset="0"/>
                              <a:ea typeface="Cambria Math" panose="02040503050406030204" pitchFamily="18" charset="0"/>
                            </a:rPr>
                          </m:ctrlPr>
                        </m:dPr>
                        <m:e>
                          <m:sSub>
                            <m:sSubPr>
                              <m:ctrlPr>
                                <a:rPr lang="en-US" b="0" i="1">
                                  <a:solidFill>
                                    <a:srgbClr val="9900CC"/>
                                  </a:solidFill>
                                  <a:latin typeface="Cambria Math" panose="02040503050406030204" pitchFamily="18" charset="0"/>
                                  <a:ea typeface="Cambria Math" panose="02040503050406030204" pitchFamily="18" charset="0"/>
                                </a:rPr>
                              </m:ctrlPr>
                            </m:sSubPr>
                            <m:e>
                              <m:r>
                                <a:rPr lang="en-US" b="0" i="1">
                                  <a:solidFill>
                                    <a:srgbClr val="9900CC"/>
                                  </a:solidFill>
                                  <a:latin typeface="Cambria Math" panose="02040503050406030204" pitchFamily="18" charset="0"/>
                                  <a:ea typeface="Cambria Math" panose="02040503050406030204" pitchFamily="18" charset="0"/>
                                </a:rPr>
                                <m:t>𝑥</m:t>
                              </m:r>
                            </m:e>
                            <m:sub>
                              <m:r>
                                <a:rPr lang="en-US" b="0" i="1">
                                  <a:solidFill>
                                    <a:srgbClr val="9900CC"/>
                                  </a:solidFill>
                                  <a:latin typeface="Cambria Math" panose="02040503050406030204" pitchFamily="18" charset="0"/>
                                  <a:ea typeface="Cambria Math" panose="02040503050406030204" pitchFamily="18" charset="0"/>
                                </a:rPr>
                                <m:t>𝑖</m:t>
                              </m:r>
                            </m:sub>
                          </m:sSub>
                          <m:r>
                            <a:rPr lang="en-US" b="0" i="1">
                              <a:solidFill>
                                <a:srgbClr val="9900CC"/>
                              </a:solidFill>
                              <a:latin typeface="Cambria Math" panose="02040503050406030204" pitchFamily="18" charset="0"/>
                              <a:ea typeface="Cambria Math" panose="02040503050406030204" pitchFamily="18" charset="0"/>
                            </a:rPr>
                            <m:t>&gt;</m:t>
                          </m:r>
                          <m:r>
                            <a:rPr lang="en-US" b="0" i="1">
                              <a:solidFill>
                                <a:srgbClr val="9900CC"/>
                              </a:solidFill>
                              <a:latin typeface="Cambria Math" panose="02040503050406030204" pitchFamily="18" charset="0"/>
                              <a:ea typeface="Cambria Math" panose="02040503050406030204" pitchFamily="18" charset="0"/>
                            </a:rPr>
                            <m:t>0</m:t>
                          </m:r>
                        </m:e>
                      </m:d>
                      <m:f>
                        <m:fPr>
                          <m:ctrlPr>
                            <a:rPr lang="en-US" b="0" i="1">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sSub>
                            <m:sSubPr>
                              <m:ctrlPr>
                                <a:rPr lang="en-US" b="0" i="1">
                                  <a:solidFill>
                                    <a:srgbClr val="C00000"/>
                                  </a:solidFill>
                                  <a:latin typeface="Cambria Math" panose="02040503050406030204" pitchFamily="18" charset="0"/>
                                </a:rPr>
                              </m:ctrlPr>
                            </m:sSubPr>
                            <m:e>
                              <m:r>
                                <a:rPr lang="en-US" b="0" i="1">
                                  <a:solidFill>
                                    <a:srgbClr val="C00000"/>
                                  </a:solidFill>
                                  <a:latin typeface="Cambria Math" panose="02040503050406030204" pitchFamily="18" charset="0"/>
                                </a:rPr>
                                <m:t>𝑧</m:t>
                              </m:r>
                            </m:e>
                            <m:sub>
                              <m:r>
                                <a:rPr lang="en-US" b="0" i="1">
                                  <a:solidFill>
                                    <a:srgbClr val="C00000"/>
                                  </a:solidFill>
                                  <a:latin typeface="Cambria Math" panose="02040503050406030204" pitchFamily="18" charset="0"/>
                                </a:rPr>
                                <m:t>𝑖</m:t>
                              </m:r>
                            </m:sub>
                          </m:sSub>
                        </m:den>
                      </m:f>
                    </m:oMath>
                  </m:oMathPara>
                </a14:m>
                <a:endParaRPr lang="en-US" dirty="0"/>
              </a:p>
            </p:txBody>
          </p:sp>
        </mc:Choice>
        <mc:Fallback>
          <p:sp>
            <p:nvSpPr>
              <p:cNvPr id="4" name="Rectangle 3"/>
              <p:cNvSpPr>
                <a:spLocks noRot="1" noChangeAspect="1" noMove="1" noResize="1" noEditPoints="1" noAdjustHandles="1" noChangeArrowheads="1" noChangeShapeType="1" noTextEdit="1"/>
              </p:cNvSpPr>
              <p:nvPr/>
            </p:nvSpPr>
            <p:spPr>
              <a:xfrm>
                <a:off x="1295400" y="5098326"/>
                <a:ext cx="1917320" cy="857029"/>
              </a:xfrm>
              <a:prstGeom prst="rect">
                <a:avLst/>
              </a:prstGeom>
              <a:blipFill rotWithShape="1">
                <a:blip r:embed="rId13"/>
                <a:stretch>
                  <a:fillRect t="-64" r="1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1295400" y="5987224"/>
                <a:ext cx="1975862" cy="79457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rgbClr val="9900CC"/>
                          </a:solidFill>
                          <a:latin typeface="Cambria Math" panose="02040503050406030204" pitchFamily="18" charset="0"/>
                          <a:ea typeface="Cambria Math" panose="02040503050406030204" pitchFamily="18" charset="0"/>
                        </a:rPr>
                        <m:t>𝕀</m:t>
                      </m:r>
                      <m:d>
                        <m:dPr>
                          <m:begChr m:val="["/>
                          <m:endChr m:val="]"/>
                          <m:ctrlPr>
                            <a:rPr lang="en-US" i="1">
                              <a:solidFill>
                                <a:srgbClr val="9900CC"/>
                              </a:solidFill>
                              <a:latin typeface="Cambria Math" panose="02040503050406030204" pitchFamily="18" charset="0"/>
                              <a:ea typeface="Cambria Math" panose="02040503050406030204" pitchFamily="18" charset="0"/>
                            </a:rPr>
                          </m:ctrlPr>
                        </m:dPr>
                        <m:e>
                          <m:r>
                            <a:rPr lang="en-US" b="0" i="1">
                              <a:solidFill>
                                <a:srgbClr val="9900CC"/>
                              </a:solidFill>
                              <a:latin typeface="Cambria Math" panose="02040503050406030204" pitchFamily="18" charset="0"/>
                              <a:ea typeface="Cambria Math" panose="02040503050406030204" pitchFamily="18" charset="0"/>
                            </a:rPr>
                            <m:t>𝑥</m:t>
                          </m:r>
                          <m:r>
                            <a:rPr lang="en-US" b="0" i="1">
                              <a:solidFill>
                                <a:srgbClr val="9900CC"/>
                              </a:solidFill>
                              <a:latin typeface="Cambria Math" panose="02040503050406030204" pitchFamily="18" charset="0"/>
                              <a:ea typeface="Cambria Math" panose="02040503050406030204" pitchFamily="18" charset="0"/>
                            </a:rPr>
                            <m:t>&gt;</m:t>
                          </m:r>
                          <m:r>
                            <a:rPr lang="en-US" b="0" i="1">
                              <a:solidFill>
                                <a:srgbClr val="9900CC"/>
                              </a:solidFill>
                              <a:latin typeface="Cambria Math" panose="02040503050406030204" pitchFamily="18" charset="0"/>
                              <a:ea typeface="Cambria Math" panose="02040503050406030204" pitchFamily="18" charset="0"/>
                            </a:rPr>
                            <m:t>0</m:t>
                          </m:r>
                        </m:e>
                      </m:d>
                      <m:r>
                        <a:rPr lang="en-US" b="0" i="1" smtClean="0">
                          <a:solidFill>
                            <a:srgbClr val="C00000"/>
                          </a:solidFill>
                          <a:latin typeface="Cambria Math" panose="02040503050406030204" pitchFamily="18" charset="0"/>
                          <a:ea typeface="Cambria Math" panose="02040503050406030204" pitchFamily="18" charset="0"/>
                        </a:rPr>
                        <m:t>∗</m:t>
                      </m:r>
                      <m:f>
                        <m:fPr>
                          <m:ctrlPr>
                            <a:rPr lang="en-US" b="0" i="1">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𝑧</m:t>
                          </m:r>
                        </m:den>
                      </m:f>
                    </m:oMath>
                  </m:oMathPara>
                </a14:m>
                <a:endParaRPr lang="en-US" dirty="0"/>
              </a:p>
            </p:txBody>
          </p:sp>
        </mc:Choice>
        <mc:Fallback>
          <p:sp>
            <p:nvSpPr>
              <p:cNvPr id="5" name="Rectangle 4"/>
              <p:cNvSpPr>
                <a:spLocks noRot="1" noChangeAspect="1" noMove="1" noResize="1" noEditPoints="1" noAdjustHandles="1" noChangeArrowheads="1" noChangeShapeType="1" noTextEdit="1"/>
              </p:cNvSpPr>
              <p:nvPr/>
            </p:nvSpPr>
            <p:spPr>
              <a:xfrm>
                <a:off x="1295400" y="5987224"/>
                <a:ext cx="1975862" cy="794576"/>
              </a:xfrm>
              <a:prstGeom prst="rect">
                <a:avLst/>
              </a:prstGeom>
              <a:blipFill rotWithShape="1">
                <a:blip r:embed="rId14"/>
                <a:stretch>
                  <a:fillRect t="-56" r="19"/>
                </a:stretch>
              </a:blipFill>
            </p:spPr>
            <p:txBody>
              <a:bodyPr/>
              <a:lstStyle/>
              <a:p>
                <a:r>
                  <a:rPr lang="zh-CN" altLang="en-US">
                    <a:noFill/>
                  </a:rPr>
                  <a:t> </a:t>
                </a:r>
              </a:p>
            </p:txBody>
          </p:sp>
        </mc:Fallback>
      </mc:AlternateContent>
    </p:spTree>
    <p:custDataLst>
      <p:tags r:id="rId1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1" grpId="0"/>
      <p:bldP spid="36" grpId="0"/>
      <p:bldP spid="62" grpId="0"/>
      <p:bldP spid="63" grpId="0"/>
      <p:bldP spid="66" grpId="0"/>
      <p:bldP spid="30"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Matrix-vector multiplication</a:t>
            </a:r>
            <a:endParaRPr lang="en-US" dirty="0"/>
          </a:p>
        </p:txBody>
      </p:sp>
      <p:cxnSp>
        <p:nvCxnSpPr>
          <p:cNvPr id="24" name="Straight Arrow Connector 23"/>
          <p:cNvCxnSpPr>
            <a:stCxn id="29" idx="3"/>
            <a:endCxn id="27" idx="3"/>
          </p:cNvCxnSpPr>
          <p:nvPr/>
        </p:nvCxnSpPr>
        <p:spPr bwMode="auto">
          <a:xfrm flipV="1">
            <a:off x="1132393" y="4517566"/>
            <a:ext cx="2646102" cy="971909"/>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25" name="Straight Arrow Connector 24"/>
          <p:cNvCxnSpPr/>
          <p:nvPr/>
        </p:nvCxnSpPr>
        <p:spPr bwMode="auto">
          <a:xfrm>
            <a:off x="6965237" y="3940487"/>
            <a:ext cx="1271574"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27" name="Oval 26"/>
          <p:cNvSpPr/>
          <p:nvPr/>
        </p:nvSpPr>
        <p:spPr bwMode="auto">
          <a:xfrm>
            <a:off x="3185393" y="3312051"/>
            <a:ext cx="4049951" cy="1412349"/>
          </a:xfrm>
          <a:prstGeom prst="ellipse">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3200" b="0" i="0" u="none" strike="noStrike" cap="none" normalizeH="0" baseline="0" dirty="0">
              <a:ln>
                <a:noFill/>
              </a:ln>
              <a:solidFill>
                <a:schemeClr val="tx1"/>
              </a:solidFill>
              <a:effectLst/>
              <a:cs typeface="Arial" panose="020B0604020202090204" pitchFamily="34" charset="0"/>
            </a:endParaRPr>
          </a:p>
        </p:txBody>
      </p:sp>
      <mc:AlternateContent xmlns:mc="http://schemas.openxmlformats.org/markup-compatibility/2006">
        <mc:Choice xmlns:a14="http://schemas.microsoft.com/office/drawing/2010/main" Requires="a14">
          <p:sp>
            <p:nvSpPr>
              <p:cNvPr id="29" name="Rectangle 28"/>
              <p:cNvSpPr/>
              <p:nvPr/>
            </p:nvSpPr>
            <p:spPr>
              <a:xfrm>
                <a:off x="603466" y="5197087"/>
                <a:ext cx="528927"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oMath>
                  </m:oMathPara>
                </a14:m>
                <a:endParaRPr lang="en-US" sz="3200" dirty="0"/>
              </a:p>
            </p:txBody>
          </p:sp>
        </mc:Choice>
        <mc:Fallback>
          <p:sp>
            <p:nvSpPr>
              <p:cNvPr id="29" name="Rectangle 28"/>
              <p:cNvSpPr>
                <a:spLocks noRot="1" noChangeAspect="1" noMove="1" noResize="1" noEditPoints="1" noAdjustHandles="1" noChangeArrowheads="1" noChangeShapeType="1" noTextEdit="1"/>
              </p:cNvSpPr>
              <p:nvPr/>
            </p:nvSpPr>
            <p:spPr>
              <a:xfrm>
                <a:off x="603466" y="5197087"/>
                <a:ext cx="528927" cy="584775"/>
              </a:xfrm>
              <a:prstGeom prst="rect">
                <a:avLst/>
              </a:prstGeom>
              <a:blipFill rotWithShape="1">
                <a:blip r:embed="rId1"/>
                <a:stretch>
                  <a:fillRect l="-41" t="-42" r="36" b="-55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Rectangle 29"/>
              <p:cNvSpPr/>
              <p:nvPr/>
            </p:nvSpPr>
            <p:spPr>
              <a:xfrm>
                <a:off x="8449137" y="3657600"/>
                <a:ext cx="50424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𝑧</m:t>
                      </m:r>
                    </m:oMath>
                  </m:oMathPara>
                </a14:m>
                <a:endParaRPr lang="en-US" sz="3200" dirty="0"/>
              </a:p>
            </p:txBody>
          </p:sp>
        </mc:Choice>
        <mc:Fallback>
          <p:sp>
            <p:nvSpPr>
              <p:cNvPr id="30" name="Rectangle 29"/>
              <p:cNvSpPr>
                <a:spLocks noRot="1" noChangeAspect="1" noMove="1" noResize="1" noEditPoints="1" noAdjustHandles="1" noChangeArrowheads="1" noChangeShapeType="1" noTextEdit="1"/>
              </p:cNvSpPr>
              <p:nvPr/>
            </p:nvSpPr>
            <p:spPr>
              <a:xfrm>
                <a:off x="8449137" y="3657600"/>
                <a:ext cx="504241" cy="584775"/>
              </a:xfrm>
              <a:prstGeom prst="rect">
                <a:avLst/>
              </a:prstGeom>
              <a:blipFill rotWithShape="1">
                <a:blip r:embed="rId2"/>
                <a:stretch>
                  <a:fillRect l="-92" r="102" b="-55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7366647" y="4172595"/>
                <a:ext cx="795050" cy="816377"/>
              </a:xfrm>
              <a:prstGeom prst="rect">
                <a:avLst/>
              </a:prstGeom>
            </p:spPr>
            <p:txBody>
              <a:bodyPr wrap="square">
                <a:spAutoFit/>
              </a:bodyPr>
              <a:lstStyle/>
              <a:p>
                <a:pPr algn="ct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𝑒</m:t>
                        </m:r>
                      </m:num>
                      <m:den>
                        <m:r>
                          <a:rPr lang="en-US" sz="3200" b="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𝑧</m:t>
                        </m:r>
                      </m:den>
                    </m:f>
                  </m:oMath>
                </a14:m>
                <a:r>
                  <a:rPr lang="en-US" sz="3200" b="0" dirty="0">
                    <a:solidFill>
                      <a:srgbClr val="C00000"/>
                    </a:solidFill>
                  </a:rPr>
                  <a:t> </a:t>
                </a:r>
                <a:endParaRPr lang="en-US" sz="3200" b="0" dirty="0">
                  <a:solidFill>
                    <a:srgbClr val="C00000"/>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7366647" y="4172595"/>
                <a:ext cx="795050" cy="816377"/>
              </a:xfrm>
              <a:prstGeom prst="rect">
                <a:avLst/>
              </a:prstGeom>
              <a:blipFill rotWithShape="1">
                <a:blip r:embed="rId3"/>
                <a:stretch>
                  <a:fillRect l="-2" t="-1" r="5" b="50"/>
                </a:stretch>
              </a:blipFill>
            </p:spPr>
            <p:txBody>
              <a:bodyPr/>
              <a:lstStyle/>
              <a:p>
                <a:r>
                  <a:rPr lang="zh-CN" altLang="en-US">
                    <a:noFill/>
                  </a:rPr>
                  <a:t> </a:t>
                </a:r>
              </a:p>
            </p:txBody>
          </p:sp>
        </mc:Fallback>
      </mc:AlternateContent>
      <p:cxnSp>
        <p:nvCxnSpPr>
          <p:cNvPr id="32" name="Straight Arrow Connector 31"/>
          <p:cNvCxnSpPr/>
          <p:nvPr/>
        </p:nvCxnSpPr>
        <p:spPr bwMode="auto">
          <a:xfrm flipH="1">
            <a:off x="7235344" y="4038600"/>
            <a:ext cx="956050"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3" name="Rectangle 32"/>
              <p:cNvSpPr/>
              <p:nvPr/>
            </p:nvSpPr>
            <p:spPr>
              <a:xfrm>
                <a:off x="1929828" y="5384541"/>
                <a:ext cx="1942262" cy="79464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den>
                      </m:f>
                      <m:r>
                        <a:rPr lang="en-US" b="0" i="1" smtClean="0">
                          <a:solidFill>
                            <a:srgbClr val="C00000"/>
                          </a:solidFill>
                          <a:latin typeface="Cambria Math" panose="02040503050406030204" pitchFamily="18" charset="0"/>
                        </a:rPr>
                        <m:t>= </m:t>
                      </m:r>
                      <m:f>
                        <m:fPr>
                          <m:ctrlPr>
                            <a:rPr lang="en-US" b="0" i="1">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den>
                      </m:f>
                      <m:r>
                        <a:rPr lang="en-US" b="0" i="1" smtClean="0">
                          <a:solidFill>
                            <a:srgbClr val="C00000"/>
                          </a:solidFill>
                          <a:latin typeface="Cambria Math" panose="02040503050406030204" pitchFamily="18" charset="0"/>
                        </a:rPr>
                        <m:t>  </m:t>
                      </m:r>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b="0" dirty="0">
                  <a:solidFill>
                    <a:srgbClr val="C00000"/>
                  </a:solidFill>
                </a:endParaRPr>
              </a:p>
            </p:txBody>
          </p:sp>
        </mc:Choice>
        <mc:Fallback>
          <p:sp>
            <p:nvSpPr>
              <p:cNvPr id="33" name="Rectangle 32"/>
              <p:cNvSpPr>
                <a:spLocks noRot="1" noChangeAspect="1" noMove="1" noResize="1" noEditPoints="1" noAdjustHandles="1" noChangeArrowheads="1" noChangeShapeType="1" noTextEdit="1"/>
              </p:cNvSpPr>
              <p:nvPr/>
            </p:nvSpPr>
            <p:spPr>
              <a:xfrm>
                <a:off x="1929828" y="5384541"/>
                <a:ext cx="1942262" cy="794641"/>
              </a:xfrm>
              <a:prstGeom prst="rect">
                <a:avLst/>
              </a:prstGeom>
              <a:blipFill rotWithShape="1">
                <a:blip r:embed="rId4"/>
                <a:stretch>
                  <a:fillRect l="-3" t="-47" r="25" b="80"/>
                </a:stretch>
              </a:blipFill>
            </p:spPr>
            <p:txBody>
              <a:bodyPr/>
              <a:lstStyle/>
              <a:p>
                <a:r>
                  <a:rPr lang="zh-CN" altLang="en-US">
                    <a:noFill/>
                  </a:rPr>
                  <a:t> </a:t>
                </a:r>
              </a:p>
            </p:txBody>
          </p:sp>
        </mc:Fallback>
      </mc:AlternateContent>
      <p:cxnSp>
        <p:nvCxnSpPr>
          <p:cNvPr id="34" name="Straight Arrow Connector 33"/>
          <p:cNvCxnSpPr>
            <a:endCxn id="27" idx="1"/>
          </p:cNvCxnSpPr>
          <p:nvPr/>
        </p:nvCxnSpPr>
        <p:spPr bwMode="auto">
          <a:xfrm>
            <a:off x="1135785" y="2779481"/>
            <a:ext cx="2642710" cy="739404"/>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14" name="Rectangle 13"/>
              <p:cNvSpPr/>
              <p:nvPr/>
            </p:nvSpPr>
            <p:spPr>
              <a:xfrm>
                <a:off x="3352800" y="3573959"/>
                <a:ext cx="3813352" cy="7694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r>
                        <a:rPr lang="en-US" sz="4400" b="0" i="1" smtClean="0">
                          <a:latin typeface="Cambria Math" panose="02040503050406030204" pitchFamily="18" charset="0"/>
                        </a:rPr>
                        <m:t>(</m:t>
                      </m:r>
                      <m:r>
                        <a:rPr lang="en-US" sz="4400" b="0" i="1" smtClean="0">
                          <a:latin typeface="Cambria Math" panose="02040503050406030204" pitchFamily="18" charset="0"/>
                        </a:rPr>
                        <m:t>𝑥</m:t>
                      </m:r>
                      <m:r>
                        <a:rPr lang="en-US" sz="4400" b="0" i="1" smtClean="0">
                          <a:latin typeface="Cambria Math" panose="02040503050406030204" pitchFamily="18" charset="0"/>
                        </a:rPr>
                        <m:t>,</m:t>
                      </m:r>
                      <m:r>
                        <a:rPr lang="en-US" sz="4400" b="0" i="1" smtClean="0">
                          <a:latin typeface="Cambria Math" panose="02040503050406030204" pitchFamily="18" charset="0"/>
                        </a:rPr>
                        <m:t>𝑊</m:t>
                      </m:r>
                      <m:r>
                        <a:rPr lang="en-US" sz="4400" b="0" i="1" smtClean="0">
                          <a:latin typeface="Cambria Math" panose="02040503050406030204" pitchFamily="18" charset="0"/>
                        </a:rPr>
                        <m:t>)=</m:t>
                      </m:r>
                      <m:r>
                        <a:rPr lang="en-US" sz="4400" b="0" i="1" smtClean="0">
                          <a:latin typeface="Cambria Math" panose="02040503050406030204" pitchFamily="18" charset="0"/>
                        </a:rPr>
                        <m:t>𝑥𝑊</m:t>
                      </m:r>
                    </m:oMath>
                  </m:oMathPara>
                </a14:m>
                <a:endParaRPr lang="en-US" sz="4400" dirty="0"/>
              </a:p>
            </p:txBody>
          </p:sp>
        </mc:Choice>
        <mc:Fallback>
          <p:sp>
            <p:nvSpPr>
              <p:cNvPr id="14" name="Rectangle 13"/>
              <p:cNvSpPr>
                <a:spLocks noRot="1" noChangeAspect="1" noMove="1" noResize="1" noEditPoints="1" noAdjustHandles="1" noChangeArrowheads="1" noChangeShapeType="1" noTextEdit="1"/>
              </p:cNvSpPr>
              <p:nvPr/>
            </p:nvSpPr>
            <p:spPr>
              <a:xfrm>
                <a:off x="3352800" y="3573959"/>
                <a:ext cx="3813352" cy="769441"/>
              </a:xfrm>
              <a:prstGeom prst="rect">
                <a:avLst/>
              </a:prstGeom>
              <a:blipFill rotWithShape="1">
                <a:blip r:embed="rId5"/>
                <a:stretch>
                  <a:fillRect t="-23" r="5" b="-80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Rectangle 36"/>
              <p:cNvSpPr/>
              <p:nvPr/>
            </p:nvSpPr>
            <p:spPr>
              <a:xfrm>
                <a:off x="49843" y="2362200"/>
                <a:ext cx="1207882" cy="58477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𝑊</m:t>
                      </m:r>
                    </m:oMath>
                  </m:oMathPara>
                </a14:m>
                <a:endParaRPr lang="en-US" sz="3200" dirty="0"/>
              </a:p>
            </p:txBody>
          </p:sp>
        </mc:Choice>
        <mc:Fallback>
          <p:sp>
            <p:nvSpPr>
              <p:cNvPr id="37" name="Rectangle 36"/>
              <p:cNvSpPr>
                <a:spLocks noRot="1" noChangeAspect="1" noMove="1" noResize="1" noEditPoints="1" noAdjustHandles="1" noChangeArrowheads="1" noChangeShapeType="1" noTextEdit="1"/>
              </p:cNvSpPr>
              <p:nvPr/>
            </p:nvSpPr>
            <p:spPr>
              <a:xfrm>
                <a:off x="49843" y="2362200"/>
                <a:ext cx="1207882" cy="584775"/>
              </a:xfrm>
              <a:prstGeom prst="rect">
                <a:avLst/>
              </a:prstGeom>
              <a:blipFill rotWithShape="1">
                <a:blip r:embed="rId6"/>
                <a:stretch>
                  <a:fillRect l="-26" r="35" b="-5548"/>
                </a:stretch>
              </a:blipFill>
            </p:spPr>
            <p:txBody>
              <a:bodyPr/>
              <a:lstStyle/>
              <a:p>
                <a:r>
                  <a:rPr lang="zh-CN" altLang="en-US">
                    <a:noFill/>
                  </a:rPr>
                  <a:t> </a:t>
                </a:r>
              </a:p>
            </p:txBody>
          </p:sp>
        </mc:Fallback>
      </mc:AlternateContent>
      <p:cxnSp>
        <p:nvCxnSpPr>
          <p:cNvPr id="38" name="Straight Arrow Connector 37"/>
          <p:cNvCxnSpPr/>
          <p:nvPr/>
        </p:nvCxnSpPr>
        <p:spPr bwMode="auto">
          <a:xfrm flipH="1" flipV="1">
            <a:off x="1066593" y="2933177"/>
            <a:ext cx="2473157" cy="654026"/>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2" name="Rectangle 41"/>
              <p:cNvSpPr/>
              <p:nvPr/>
            </p:nvSpPr>
            <p:spPr>
              <a:xfrm>
                <a:off x="1386017" y="1371600"/>
                <a:ext cx="2271583" cy="79457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FF0000"/>
                              </a:solidFill>
                              <a:latin typeface="Cambria Math" panose="02040503050406030204" pitchFamily="18" charset="0"/>
                            </a:rPr>
                          </m:ctrlPr>
                        </m:fPr>
                        <m:num>
                          <m:r>
                            <a:rPr lang="en-US" b="0"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b="0"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𝑊</m:t>
                          </m:r>
                        </m:den>
                      </m:f>
                      <m:r>
                        <a:rPr lang="en-US" b="0" i="1" smtClean="0">
                          <a:solidFill>
                            <a:srgbClr val="FF0000"/>
                          </a:solidFill>
                          <a:latin typeface="Cambria Math" panose="02040503050406030204" pitchFamily="18" charset="0"/>
                        </a:rPr>
                        <m:t> = </m:t>
                      </m:r>
                      <m:f>
                        <m:fPr>
                          <m:ctrlPr>
                            <a:rPr lang="en-US" b="0" i="1" smtClean="0">
                              <a:solidFill>
                                <a:srgbClr val="C00000"/>
                              </a:solidFill>
                              <a:latin typeface="Cambria Math" panose="02040503050406030204" pitchFamily="18" charset="0"/>
                            </a:rPr>
                          </m:ctrlPr>
                        </m:fPr>
                        <m:num>
                          <m:r>
                            <a:rPr lang="en-US" b="0" i="1">
                              <a:solidFill>
                                <a:srgbClr val="C00000"/>
                              </a:solidFill>
                              <a:latin typeface="Cambria Math" panose="02040503050406030204" pitchFamily="18" charset="0"/>
                            </a:rPr>
                            <m:t>𝜕</m:t>
                          </m:r>
                          <m:r>
                            <a:rPr lang="en-US" b="0" i="1">
                              <a:solidFill>
                                <a:srgbClr val="C00000"/>
                              </a:solidFill>
                              <a:latin typeface="Cambria Math" panose="02040503050406030204" pitchFamily="18" charset="0"/>
                            </a:rPr>
                            <m:t>𝑒</m:t>
                          </m:r>
                        </m:num>
                        <m:den>
                          <m:r>
                            <a:rPr lang="en-US" b="0"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den>
                      </m:f>
                      <m:r>
                        <a:rPr lang="en-US" b="0" i="1" smtClean="0">
                          <a:solidFill>
                            <a:srgbClr val="C00000"/>
                          </a:solidFill>
                          <a:latin typeface="Cambria Math" panose="02040503050406030204" pitchFamily="18" charset="0"/>
                        </a:rPr>
                        <m:t>  </m:t>
                      </m:r>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𝑊</m:t>
                          </m:r>
                        </m:den>
                      </m:f>
                    </m:oMath>
                  </m:oMathPara>
                </a14:m>
                <a:endParaRPr lang="en-US" dirty="0">
                  <a:solidFill>
                    <a:srgbClr val="FF0000"/>
                  </a:solidFill>
                </a:endParaRPr>
              </a:p>
            </p:txBody>
          </p:sp>
        </mc:Choice>
        <mc:Fallback>
          <p:sp>
            <p:nvSpPr>
              <p:cNvPr id="42" name="Rectangle 41"/>
              <p:cNvSpPr>
                <a:spLocks noRot="1" noChangeAspect="1" noMove="1" noResize="1" noEditPoints="1" noAdjustHandles="1" noChangeArrowheads="1" noChangeShapeType="1" noTextEdit="1"/>
              </p:cNvSpPr>
              <p:nvPr/>
            </p:nvSpPr>
            <p:spPr>
              <a:xfrm>
                <a:off x="1386017" y="1371600"/>
                <a:ext cx="2271583" cy="794576"/>
              </a:xfrm>
              <a:prstGeom prst="rect">
                <a:avLst/>
              </a:prstGeom>
              <a:blipFill rotWithShape="1">
                <a:blip r:embed="rId7"/>
                <a:stretch>
                  <a:fillRect l="-20" r="-699" b="24"/>
                </a:stretch>
              </a:blipFill>
            </p:spPr>
            <p:txBody>
              <a:bodyPr/>
              <a:lstStyle/>
              <a:p>
                <a:r>
                  <a:rPr lang="zh-CN" altLang="en-US">
                    <a:noFill/>
                  </a:rPr>
                  <a:t> </a:t>
                </a:r>
              </a:p>
            </p:txBody>
          </p:sp>
        </mc:Fallback>
      </mc:AlternateContent>
      <p:cxnSp>
        <p:nvCxnSpPr>
          <p:cNvPr id="61" name="Straight Arrow Connector 60"/>
          <p:cNvCxnSpPr/>
          <p:nvPr/>
        </p:nvCxnSpPr>
        <p:spPr bwMode="auto">
          <a:xfrm flipH="1">
            <a:off x="1033408" y="4569548"/>
            <a:ext cx="2924078" cy="1104703"/>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4" name="Rectangle 63"/>
              <p:cNvSpPr/>
              <p:nvPr/>
            </p:nvSpPr>
            <p:spPr>
              <a:xfrm>
                <a:off x="4710072" y="4810810"/>
                <a:ext cx="613950" cy="7946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𝑥</m:t>
                          </m:r>
                        </m:den>
                      </m:f>
                    </m:oMath>
                  </m:oMathPara>
                </a14:m>
                <a:endParaRPr lang="en-US" dirty="0">
                  <a:solidFill>
                    <a:srgbClr val="9900CC"/>
                  </a:solidFill>
                </a:endParaRPr>
              </a:p>
            </p:txBody>
          </p:sp>
        </mc:Choice>
        <mc:Fallback>
          <p:sp>
            <p:nvSpPr>
              <p:cNvPr id="64" name="Rectangle 63"/>
              <p:cNvSpPr>
                <a:spLocks noRot="1" noChangeAspect="1" noMove="1" noResize="1" noEditPoints="1" noAdjustHandles="1" noChangeArrowheads="1" noChangeShapeType="1" noTextEdit="1"/>
              </p:cNvSpPr>
              <p:nvPr/>
            </p:nvSpPr>
            <p:spPr>
              <a:xfrm>
                <a:off x="4710072" y="4810810"/>
                <a:ext cx="613950" cy="794641"/>
              </a:xfrm>
              <a:prstGeom prst="rect">
                <a:avLst/>
              </a:prstGeom>
              <a:blipFill rotWithShape="1">
                <a:blip r:embed="rId8"/>
                <a:stretch>
                  <a:fillRect l="-45" t="-6" r="30"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5" name="Rectangle 64"/>
              <p:cNvSpPr/>
              <p:nvPr/>
            </p:nvSpPr>
            <p:spPr>
              <a:xfrm>
                <a:off x="4569825" y="1990003"/>
                <a:ext cx="744948" cy="79457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900CC"/>
                              </a:solidFill>
                              <a:latin typeface="Cambria Math" panose="02040503050406030204" pitchFamily="18" charset="0"/>
                            </a:rPr>
                          </m:ctrlPr>
                        </m:fPr>
                        <m:num>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b="0" i="1">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𝑊</m:t>
                          </m:r>
                        </m:den>
                      </m:f>
                    </m:oMath>
                  </m:oMathPara>
                </a14:m>
                <a:endParaRPr lang="en-US" dirty="0">
                  <a:solidFill>
                    <a:srgbClr val="9900CC"/>
                  </a:solidFill>
                </a:endParaRPr>
              </a:p>
            </p:txBody>
          </p:sp>
        </mc:Choice>
        <mc:Fallback>
          <p:sp>
            <p:nvSpPr>
              <p:cNvPr id="65" name="Rectangle 64"/>
              <p:cNvSpPr>
                <a:spLocks noRot="1" noChangeAspect="1" noMove="1" noResize="1" noEditPoints="1" noAdjustHandles="1" noChangeArrowheads="1" noChangeShapeType="1" noTextEdit="1"/>
              </p:cNvSpPr>
              <p:nvPr/>
            </p:nvSpPr>
            <p:spPr>
              <a:xfrm>
                <a:off x="4569825" y="1990003"/>
                <a:ext cx="744948" cy="794576"/>
              </a:xfrm>
              <a:prstGeom prst="rect">
                <a:avLst/>
              </a:prstGeom>
              <a:blipFill rotWithShape="1">
                <a:blip r:embed="rId9"/>
                <a:stretch>
                  <a:fillRect l="-49" t="-69" r="61"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Rectangle 25"/>
              <p:cNvSpPr/>
              <p:nvPr/>
            </p:nvSpPr>
            <p:spPr>
              <a:xfrm>
                <a:off x="183553" y="2946911"/>
                <a:ext cx="856067"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9900CC"/>
                          </a:solidFill>
                          <a:latin typeface="Cambria Math" panose="02040503050406030204" pitchFamily="18" charset="0"/>
                        </a:rPr>
                        <m:t>𝑀</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𝑁</m:t>
                      </m:r>
                    </m:oMath>
                  </m:oMathPara>
                </a14:m>
                <a:endParaRPr lang="en-US" sz="2000" dirty="0"/>
              </a:p>
            </p:txBody>
          </p:sp>
        </mc:Choice>
        <mc:Fallback>
          <p:sp>
            <p:nvSpPr>
              <p:cNvPr id="26" name="Rectangle 25"/>
              <p:cNvSpPr>
                <a:spLocks noRot="1" noChangeAspect="1" noMove="1" noResize="1" noEditPoints="1" noAdjustHandles="1" noChangeArrowheads="1" noChangeShapeType="1" noTextEdit="1"/>
              </p:cNvSpPr>
              <p:nvPr/>
            </p:nvSpPr>
            <p:spPr>
              <a:xfrm>
                <a:off x="183553" y="2946911"/>
                <a:ext cx="856067" cy="400110"/>
              </a:xfrm>
              <a:prstGeom prst="rect">
                <a:avLst/>
              </a:prstGeom>
              <a:blipFill rotWithShape="1">
                <a:blip r:embed="rId10"/>
                <a:stretch>
                  <a:fillRect l="-4" t="-128" r="-430" b="-4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Rectangle 27"/>
              <p:cNvSpPr/>
              <p:nvPr/>
            </p:nvSpPr>
            <p:spPr>
              <a:xfrm>
                <a:off x="302882" y="5743391"/>
                <a:ext cx="804900"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m:oMathPara>
                </a14:m>
                <a:endParaRPr lang="en-US" sz="2000" dirty="0"/>
              </a:p>
            </p:txBody>
          </p:sp>
        </mc:Choice>
        <mc:Fallback>
          <p:sp>
            <p:nvSpPr>
              <p:cNvPr id="28" name="Rectangle 27"/>
              <p:cNvSpPr>
                <a:spLocks noRot="1" noChangeAspect="1" noMove="1" noResize="1" noEditPoints="1" noAdjustHandles="1" noChangeArrowheads="1" noChangeShapeType="1" noTextEdit="1"/>
              </p:cNvSpPr>
              <p:nvPr/>
            </p:nvSpPr>
            <p:spPr>
              <a:xfrm>
                <a:off x="302882" y="5743391"/>
                <a:ext cx="804900" cy="400110"/>
              </a:xfrm>
              <a:prstGeom prst="rect">
                <a:avLst/>
              </a:prstGeom>
              <a:blipFill rotWithShape="1">
                <a:blip r:embed="rId11"/>
                <a:stretch>
                  <a:fillRect l="-77" t="-113" r="-1062" b="-5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Rectangle 30"/>
              <p:cNvSpPr/>
              <p:nvPr/>
            </p:nvSpPr>
            <p:spPr>
              <a:xfrm>
                <a:off x="8191394" y="4152986"/>
                <a:ext cx="774443"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9900CC"/>
                          </a:solidFill>
                          <a:latin typeface="Cambria Math" panose="02040503050406030204" pitchFamily="18" charset="0"/>
                        </a:rPr>
                        <m:t>1</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𝑁</m:t>
                      </m:r>
                    </m:oMath>
                  </m:oMathPara>
                </a14:m>
                <a:endParaRPr lang="en-US" sz="2000" dirty="0"/>
              </a:p>
            </p:txBody>
          </p:sp>
        </mc:Choice>
        <mc:Fallback>
          <p:sp>
            <p:nvSpPr>
              <p:cNvPr id="31" name="Rectangle 30"/>
              <p:cNvSpPr>
                <a:spLocks noRot="1" noChangeAspect="1" noMove="1" noResize="1" noEditPoints="1" noAdjustHandles="1" noChangeArrowheads="1" noChangeShapeType="1" noTextEdit="1"/>
              </p:cNvSpPr>
              <p:nvPr/>
            </p:nvSpPr>
            <p:spPr>
              <a:xfrm>
                <a:off x="8191394" y="4152986"/>
                <a:ext cx="774443" cy="400110"/>
              </a:xfrm>
              <a:prstGeom prst="rect">
                <a:avLst/>
              </a:prstGeom>
              <a:blipFill rotWithShape="1">
                <a:blip r:embed="rId12"/>
                <a:stretch>
                  <a:fillRect l="-68" t="-21" r="-1195" b="-5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Rectangle 34"/>
              <p:cNvSpPr/>
              <p:nvPr/>
            </p:nvSpPr>
            <p:spPr>
              <a:xfrm>
                <a:off x="7366647" y="5027809"/>
                <a:ext cx="774443"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𝑁</m:t>
                      </m:r>
                    </m:oMath>
                  </m:oMathPara>
                </a14:m>
                <a:endParaRPr lang="en-US" sz="2000" dirty="0">
                  <a:solidFill>
                    <a:srgbClr val="C00000"/>
                  </a:solidFill>
                </a:endParaRPr>
              </a:p>
            </p:txBody>
          </p:sp>
        </mc:Choice>
        <mc:Fallback>
          <p:sp>
            <p:nvSpPr>
              <p:cNvPr id="35" name="Rectangle 34"/>
              <p:cNvSpPr>
                <a:spLocks noRot="1" noChangeAspect="1" noMove="1" noResize="1" noEditPoints="1" noAdjustHandles="1" noChangeArrowheads="1" noChangeShapeType="1" noTextEdit="1"/>
              </p:cNvSpPr>
              <p:nvPr/>
            </p:nvSpPr>
            <p:spPr>
              <a:xfrm>
                <a:off x="7366647" y="5027809"/>
                <a:ext cx="774443" cy="400110"/>
              </a:xfrm>
              <a:prstGeom prst="rect">
                <a:avLst/>
              </a:prstGeom>
              <a:blipFill rotWithShape="1">
                <a:blip r:embed="rId13"/>
                <a:stretch>
                  <a:fillRect l="-2" t="-128" r="-1262" b="-4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Rectangle 35"/>
              <p:cNvSpPr/>
              <p:nvPr/>
            </p:nvSpPr>
            <p:spPr>
              <a:xfrm>
                <a:off x="4630332" y="5619690"/>
                <a:ext cx="856068"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rPr>
                      <m:t>𝑁</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36" name="Rectangle 35"/>
              <p:cNvSpPr>
                <a:spLocks noRot="1" noChangeAspect="1" noMove="1" noResize="1" noEditPoints="1" noAdjustHandles="1" noChangeArrowheads="1" noChangeShapeType="1" noTextEdit="1"/>
              </p:cNvSpPr>
              <p:nvPr/>
            </p:nvSpPr>
            <p:spPr>
              <a:xfrm>
                <a:off x="4630332" y="5619690"/>
                <a:ext cx="856068" cy="400110"/>
              </a:xfrm>
              <a:prstGeom prst="rect">
                <a:avLst/>
              </a:prstGeom>
              <a:blipFill rotWithShape="1">
                <a:blip r:embed="rId14"/>
                <a:stretch>
                  <a:fillRect l="-64" t="-144" r="-16838"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Rectangle 38"/>
              <p:cNvSpPr/>
              <p:nvPr/>
            </p:nvSpPr>
            <p:spPr>
              <a:xfrm>
                <a:off x="4270758" y="2800290"/>
                <a:ext cx="1444242"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rPr>
                        <m:t>(</m:t>
                      </m:r>
                      <m:r>
                        <a:rPr lang="en-US" sz="2000" b="0" i="1" smtClean="0">
                          <a:solidFill>
                            <a:srgbClr val="9900CC"/>
                          </a:solidFill>
                          <a:latin typeface="Cambria Math" panose="02040503050406030204" pitchFamily="18" charset="0"/>
                        </a:rPr>
                        <m:t>𝑀</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smtClean="0">
                          <a:solidFill>
                            <a:srgbClr val="9900CC"/>
                          </a:solidFill>
                          <a:latin typeface="Cambria Math" panose="02040503050406030204" pitchFamily="18" charset="0"/>
                          <a:ea typeface="Cambria Math" panose="02040503050406030204" pitchFamily="18" charset="0"/>
                        </a:rPr>
                        <m:t>)</m:t>
                      </m:r>
                    </m:oMath>
                  </m:oMathPara>
                </a14:m>
                <a:endParaRPr lang="en-US" sz="2000" dirty="0"/>
              </a:p>
            </p:txBody>
          </p:sp>
        </mc:Choice>
        <mc:Fallback>
          <p:sp>
            <p:nvSpPr>
              <p:cNvPr id="39" name="Rectangle 38"/>
              <p:cNvSpPr>
                <a:spLocks noRot="1" noChangeAspect="1" noMove="1" noResize="1" noEditPoints="1" noAdjustHandles="1" noChangeArrowheads="1" noChangeShapeType="1" noTextEdit="1"/>
              </p:cNvSpPr>
              <p:nvPr/>
            </p:nvSpPr>
            <p:spPr>
              <a:xfrm>
                <a:off x="4270758" y="2800290"/>
                <a:ext cx="1444242" cy="400110"/>
              </a:xfrm>
              <a:prstGeom prst="rect">
                <a:avLst/>
              </a:prstGeom>
              <a:blipFill rotWithShape="1">
                <a:blip r:embed="rId15"/>
                <a:stretch>
                  <a:fillRect l="-27" t="-144" r="-7475"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Rectangle 39"/>
              <p:cNvSpPr/>
              <p:nvPr/>
            </p:nvSpPr>
            <p:spPr>
              <a:xfrm>
                <a:off x="1752600" y="6229819"/>
                <a:ext cx="804900"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𝑀</m:t>
                    </m:r>
                  </m:oMath>
                </a14:m>
                <a:r>
                  <a:rPr lang="en-US" sz="2000" b="0" dirty="0">
                    <a:solidFill>
                      <a:srgbClr val="C00000"/>
                    </a:solidFill>
                  </a:rPr>
                  <a:t> </a:t>
                </a:r>
                <a:endParaRPr lang="en-US" sz="2000" dirty="0">
                  <a:solidFill>
                    <a:srgbClr val="C00000"/>
                  </a:solidFill>
                </a:endParaRPr>
              </a:p>
            </p:txBody>
          </p:sp>
        </mc:Choice>
        <mc:Fallback>
          <p:sp>
            <p:nvSpPr>
              <p:cNvPr id="40" name="Rectangle 39"/>
              <p:cNvSpPr>
                <a:spLocks noRot="1" noChangeAspect="1" noMove="1" noResize="1" noEditPoints="1" noAdjustHandles="1" noChangeArrowheads="1" noChangeShapeType="1" noTextEdit="1"/>
              </p:cNvSpPr>
              <p:nvPr/>
            </p:nvSpPr>
            <p:spPr>
              <a:xfrm>
                <a:off x="1752600" y="6229819"/>
                <a:ext cx="804900" cy="400110"/>
              </a:xfrm>
              <a:prstGeom prst="rect">
                <a:avLst/>
              </a:prstGeom>
              <a:blipFill rotWithShape="1">
                <a:blip r:embed="rId16"/>
                <a:stretch>
                  <a:fillRect t="-117" r="-18653" b="-5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Rectangle 40"/>
              <p:cNvSpPr/>
              <p:nvPr/>
            </p:nvSpPr>
            <p:spPr>
              <a:xfrm>
                <a:off x="2586756" y="6227675"/>
                <a:ext cx="774443"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𝑁</m:t>
                    </m:r>
                  </m:oMath>
                </a14:m>
                <a:r>
                  <a:rPr lang="en-US" sz="2000" b="0" dirty="0">
                    <a:solidFill>
                      <a:srgbClr val="C00000"/>
                    </a:solidFill>
                  </a:rPr>
                  <a:t> </a:t>
                </a:r>
                <a:endParaRPr lang="en-US" sz="2000" dirty="0">
                  <a:solidFill>
                    <a:srgbClr val="C00000"/>
                  </a:solidFill>
                </a:endParaRPr>
              </a:p>
            </p:txBody>
          </p:sp>
        </mc:Choice>
        <mc:Fallback>
          <p:sp>
            <p:nvSpPr>
              <p:cNvPr id="41" name="Rectangle 40"/>
              <p:cNvSpPr>
                <a:spLocks noRot="1" noChangeAspect="1" noMove="1" noResize="1" noEditPoints="1" noAdjustHandles="1" noChangeArrowheads="1" noChangeShapeType="1" noTextEdit="1"/>
              </p:cNvSpPr>
              <p:nvPr/>
            </p:nvSpPr>
            <p:spPr>
              <a:xfrm>
                <a:off x="2586756" y="6227675"/>
                <a:ext cx="774443" cy="400110"/>
              </a:xfrm>
              <a:prstGeom prst="rect">
                <a:avLst/>
              </a:prstGeom>
              <a:blipFill rotWithShape="1">
                <a:blip r:embed="rId17"/>
                <a:stretch>
                  <a:fillRect l="-52" t="-57" r="-19414" b="-5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Rectangle 42"/>
              <p:cNvSpPr/>
              <p:nvPr/>
            </p:nvSpPr>
            <p:spPr>
              <a:xfrm>
                <a:off x="3229789" y="6232497"/>
                <a:ext cx="856068" cy="400110"/>
              </a:xfrm>
              <a:prstGeom prst="rect">
                <a:avLst/>
              </a:prstGeom>
            </p:spPr>
            <p:txBody>
              <a:bodyPr wrap="none">
                <a:spAutoFit/>
              </a:bodyPr>
              <a:lstStyle/>
              <a:p>
                <a14:m>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𝑀</m:t>
                    </m:r>
                  </m:oMath>
                </a14:m>
                <a:r>
                  <a:rPr lang="en-US" sz="2000" b="0" dirty="0">
                    <a:solidFill>
                      <a:srgbClr val="9900CC"/>
                    </a:solidFill>
                  </a:rPr>
                  <a:t> </a:t>
                </a:r>
                <a:endParaRPr lang="en-US" sz="2000" dirty="0"/>
              </a:p>
            </p:txBody>
          </p:sp>
        </mc:Choice>
        <mc:Fallback>
          <p:sp>
            <p:nvSpPr>
              <p:cNvPr id="43" name="Rectangle 42"/>
              <p:cNvSpPr>
                <a:spLocks noRot="1" noChangeAspect="1" noMove="1" noResize="1" noEditPoints="1" noAdjustHandles="1" noChangeArrowheads="1" noChangeShapeType="1" noTextEdit="1"/>
              </p:cNvSpPr>
              <p:nvPr/>
            </p:nvSpPr>
            <p:spPr>
              <a:xfrm>
                <a:off x="3229789" y="6232497"/>
                <a:ext cx="856068" cy="400110"/>
              </a:xfrm>
              <a:prstGeom prst="rect">
                <a:avLst/>
              </a:prstGeom>
              <a:blipFill rotWithShape="1">
                <a:blip r:embed="rId14"/>
                <a:stretch>
                  <a:fillRect l="-21" t="-152" r="-16881" b="-4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Rectangle 43"/>
              <p:cNvSpPr/>
              <p:nvPr/>
            </p:nvSpPr>
            <p:spPr>
              <a:xfrm>
                <a:off x="2888933" y="2190690"/>
                <a:ext cx="1444242"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rPr>
                        <m:t>(</m:t>
                      </m:r>
                      <m:r>
                        <a:rPr lang="en-US" sz="2000" b="0" i="1" smtClean="0">
                          <a:solidFill>
                            <a:srgbClr val="9900CC"/>
                          </a:solidFill>
                          <a:latin typeface="Cambria Math" panose="02040503050406030204" pitchFamily="18" charset="0"/>
                        </a:rPr>
                        <m:t>𝑀</m:t>
                      </m:r>
                      <m:r>
                        <a:rPr lang="en-US" sz="2000" b="0" i="1">
                          <a:solidFill>
                            <a:srgbClr val="9900CC"/>
                          </a:solidFill>
                          <a:latin typeface="Cambria Math" panose="02040503050406030204" pitchFamily="18" charset="0"/>
                          <a:ea typeface="Cambria Math" panose="02040503050406030204" pitchFamily="18" charset="0"/>
                        </a:rPr>
                        <m:t>×</m:t>
                      </m:r>
                      <m:r>
                        <a:rPr lang="en-US" sz="2000" b="0" i="1" smtClean="0">
                          <a:solidFill>
                            <a:srgbClr val="9900CC"/>
                          </a:solidFill>
                          <a:latin typeface="Cambria Math" panose="02040503050406030204" pitchFamily="18" charset="0"/>
                          <a:ea typeface="Cambria Math" panose="02040503050406030204" pitchFamily="18" charset="0"/>
                        </a:rPr>
                        <m:t>𝑁</m:t>
                      </m:r>
                      <m:r>
                        <a:rPr lang="en-US" sz="2000" b="0" i="1" smtClean="0">
                          <a:solidFill>
                            <a:srgbClr val="9900CC"/>
                          </a:solidFill>
                          <a:latin typeface="Cambria Math" panose="02040503050406030204" pitchFamily="18" charset="0"/>
                          <a:ea typeface="Cambria Math" panose="02040503050406030204" pitchFamily="18" charset="0"/>
                        </a:rPr>
                        <m:t>)</m:t>
                      </m:r>
                    </m:oMath>
                  </m:oMathPara>
                </a14:m>
                <a:endParaRPr lang="en-US" sz="2000" dirty="0"/>
              </a:p>
            </p:txBody>
          </p:sp>
        </mc:Choice>
        <mc:Fallback>
          <p:sp>
            <p:nvSpPr>
              <p:cNvPr id="44" name="Rectangle 43"/>
              <p:cNvSpPr>
                <a:spLocks noRot="1" noChangeAspect="1" noMove="1" noResize="1" noEditPoints="1" noAdjustHandles="1" noChangeArrowheads="1" noChangeShapeType="1" noTextEdit="1"/>
              </p:cNvSpPr>
              <p:nvPr/>
            </p:nvSpPr>
            <p:spPr>
              <a:xfrm>
                <a:off x="2888933" y="2190690"/>
                <a:ext cx="1444242" cy="400110"/>
              </a:xfrm>
              <a:prstGeom prst="rect">
                <a:avLst/>
              </a:prstGeom>
              <a:blipFill rotWithShape="1">
                <a:blip r:embed="rId15"/>
                <a:stretch>
                  <a:fillRect l="-22" t="-144" r="-7479"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Rectangle 44"/>
              <p:cNvSpPr/>
              <p:nvPr/>
            </p:nvSpPr>
            <p:spPr>
              <a:xfrm>
                <a:off x="2286000" y="2190690"/>
                <a:ext cx="774443" cy="400110"/>
              </a:xfrm>
              <a:prstGeom prst="rect">
                <a:avLst/>
              </a:prstGeom>
            </p:spPr>
            <p:txBody>
              <a:bodyPr wrap="none">
                <a:spAutoFit/>
              </a:bodyPr>
              <a:lstStyle/>
              <a:p>
                <a14:m>
                  <m:oMath xmlns:m="http://schemas.openxmlformats.org/officeDocument/2006/math">
                    <m:r>
                      <a:rPr lang="en-US" sz="2000" b="0" i="1" smtClean="0">
                        <a:solidFill>
                          <a:srgbClr val="C00000"/>
                        </a:solidFill>
                        <a:latin typeface="Cambria Math" panose="02040503050406030204" pitchFamily="18" charset="0"/>
                      </a:rPr>
                      <m:t>1</m:t>
                    </m:r>
                    <m:r>
                      <a:rPr lang="en-US" sz="2000" b="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𝑁</m:t>
                    </m:r>
                  </m:oMath>
                </a14:m>
                <a:r>
                  <a:rPr lang="en-US" sz="2000" b="0" dirty="0">
                    <a:solidFill>
                      <a:srgbClr val="C00000"/>
                    </a:solidFill>
                  </a:rPr>
                  <a:t> </a:t>
                </a:r>
                <a:endParaRPr lang="en-US" sz="2000" dirty="0">
                  <a:solidFill>
                    <a:srgbClr val="C00000"/>
                  </a:solidFill>
                </a:endParaRPr>
              </a:p>
            </p:txBody>
          </p:sp>
        </mc:Choice>
        <mc:Fallback>
          <p:sp>
            <p:nvSpPr>
              <p:cNvPr id="45" name="Rectangle 44"/>
              <p:cNvSpPr>
                <a:spLocks noRot="1" noChangeAspect="1" noMove="1" noResize="1" noEditPoints="1" noAdjustHandles="1" noChangeArrowheads="1" noChangeShapeType="1" noTextEdit="1"/>
              </p:cNvSpPr>
              <p:nvPr/>
            </p:nvSpPr>
            <p:spPr>
              <a:xfrm>
                <a:off x="2286000" y="2190690"/>
                <a:ext cx="774443" cy="400110"/>
              </a:xfrm>
              <a:prstGeom prst="rect">
                <a:avLst/>
              </a:prstGeom>
              <a:blipFill rotWithShape="1">
                <a:blip r:embed="rId17"/>
                <a:stretch>
                  <a:fillRect t="-144" r="-19466" b="-4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1277533" y="2190690"/>
                <a:ext cx="856067"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panose="02040503050406030204" pitchFamily="18" charset="0"/>
                        </a:rPr>
                        <m:t>𝑀</m:t>
                      </m:r>
                      <m:r>
                        <a:rPr lang="en-US" sz="2000" b="0" i="1">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𝑁</m:t>
                      </m:r>
                    </m:oMath>
                  </m:oMathPara>
                </a14:m>
                <a:endParaRPr lang="en-US" sz="2000" dirty="0">
                  <a:solidFill>
                    <a:srgbClr val="FF0000"/>
                  </a:solidFill>
                </a:endParaRPr>
              </a:p>
            </p:txBody>
          </p:sp>
        </mc:Choice>
        <mc:Fallback>
          <p:sp>
            <p:nvSpPr>
              <p:cNvPr id="46" name="Rectangle 45"/>
              <p:cNvSpPr>
                <a:spLocks noRot="1" noChangeAspect="1" noMove="1" noResize="1" noEditPoints="1" noAdjustHandles="1" noChangeArrowheads="1" noChangeShapeType="1" noTextEdit="1"/>
              </p:cNvSpPr>
              <p:nvPr/>
            </p:nvSpPr>
            <p:spPr>
              <a:xfrm>
                <a:off x="1277533" y="2190690"/>
                <a:ext cx="856067" cy="400110"/>
              </a:xfrm>
              <a:prstGeom prst="rect">
                <a:avLst/>
              </a:prstGeom>
              <a:blipFill rotWithShape="1">
                <a:blip r:embed="rId18"/>
                <a:stretch>
                  <a:fillRect l="-64" t="-144" r="-371" b="-476"/>
                </a:stretch>
              </a:blipFill>
            </p:spPr>
            <p:txBody>
              <a:bodyPr/>
              <a:lstStyle/>
              <a:p>
                <a:r>
                  <a:rPr lang="zh-CN" altLang="en-US">
                    <a:noFill/>
                  </a:rPr>
                  <a:t> </a:t>
                </a:r>
              </a:p>
            </p:txBody>
          </p:sp>
        </mc:Fallback>
      </mc:AlternateContent>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p:bldP spid="42" grpId="0"/>
      <p:bldP spid="64" grpId="0"/>
      <p:bldP spid="65" grpId="0"/>
      <p:bldP spid="35" grpId="0"/>
      <p:bldP spid="36" grpId="0"/>
      <p:bldP spid="39" grpId="0"/>
      <p:bldP spid="40" grpId="0"/>
      <p:bldP spid="41" grpId="0"/>
      <p:bldP spid="43" grpId="0"/>
      <p:bldP spid="44" grpId="0"/>
      <p:bldP spid="45" grpId="0"/>
      <p:bldP spid="4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Matrix-vector multiplication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914400"/>
                <a:ext cx="8458200" cy="5257800"/>
              </a:xfrm>
            </p:spPr>
            <p:txBody>
              <a:bodyPr/>
              <a:lstStyle/>
              <a:p>
                <a:r>
                  <a:rPr lang="en-US" sz="2000" dirty="0">
                    <a:solidFill>
                      <a:srgbClr val="9900CC"/>
                    </a:solidFill>
                  </a:rPr>
                  <a:t> </a:t>
                </a:r>
                <a14:m>
                  <m:oMath xmlns:m="http://schemas.openxmlformats.org/officeDocument/2006/math">
                    <m:d>
                      <m:dPr>
                        <m:ctrlPr>
                          <a:rPr lang="en-US" sz="2000" i="1" smtClean="0">
                            <a:solidFill>
                              <a:srgbClr val="9900CC"/>
                            </a:solidFill>
                            <a:latin typeface="Cambria Math" panose="02040503050406030204" pitchFamily="18" charset="0"/>
                          </a:rPr>
                        </m:ctrlPr>
                      </m:dPr>
                      <m:e>
                        <m:m>
                          <m:mPr>
                            <m:mcs>
                              <m:mc>
                                <m:mcPr>
                                  <m:count m:val="3"/>
                                  <m:mcJc m:val="center"/>
                                </m:mcPr>
                              </m:mc>
                            </m:mcs>
                            <m:ctrlPr>
                              <a:rPr lang="en-US" sz="2000" i="1">
                                <a:solidFill>
                                  <a:srgbClr val="9900CC"/>
                                </a:solidFill>
                                <a:latin typeface="Cambria Math" panose="02040503050406030204" pitchFamily="18" charset="0"/>
                              </a:rPr>
                            </m:ctrlPr>
                          </m:mPr>
                          <m:mr>
                            <m:e>
                              <m:sSub>
                                <m:sSubPr>
                                  <m:ctrlPr>
                                    <a:rPr lang="en-US" sz="2000" i="1">
                                      <a:solidFill>
                                        <a:srgbClr val="9900CC"/>
                                      </a:solidFill>
                                      <a:latin typeface="Cambria Math" panose="02040503050406030204" pitchFamily="18" charset="0"/>
                                    </a:rPr>
                                  </m:ctrlPr>
                                </m:sSubPr>
                                <m:e>
                                  <m:r>
                                    <a:rPr lang="en-US" sz="2000" b="0" i="1" smtClean="0">
                                      <a:solidFill>
                                        <a:srgbClr val="9900CC"/>
                                      </a:solidFill>
                                      <a:latin typeface="Cambria Math" panose="02040503050406030204" pitchFamily="18" charset="0"/>
                                    </a:rPr>
                                    <m:t>𝑧</m:t>
                                  </m:r>
                                </m:e>
                                <m:sub>
                                  <m:r>
                                    <a:rPr lang="en-US" sz="2000" i="1">
                                      <a:solidFill>
                                        <a:srgbClr val="9900CC"/>
                                      </a:solidFill>
                                      <a:latin typeface="Cambria Math" panose="02040503050406030204" pitchFamily="18" charset="0"/>
                                    </a:rPr>
                                    <m:t>1</m:t>
                                  </m:r>
                                </m:sub>
                              </m:sSub>
                            </m:e>
                            <m:e>
                              <m:r>
                                <a:rPr lang="en-US" sz="2000" i="1">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b="0" i="1" smtClean="0">
                                      <a:solidFill>
                                        <a:srgbClr val="9900CC"/>
                                      </a:solidFill>
                                      <a:latin typeface="Cambria Math" panose="02040503050406030204" pitchFamily="18" charset="0"/>
                                    </a:rPr>
                                    <m:t>𝑧</m:t>
                                  </m:r>
                                </m:e>
                                <m:sub>
                                  <m:r>
                                    <a:rPr lang="en-US" sz="2000" i="1" smtClean="0">
                                      <a:solidFill>
                                        <a:srgbClr val="9900CC"/>
                                      </a:solidFill>
                                      <a:latin typeface="Cambria Math" panose="02040503050406030204" pitchFamily="18" charset="0"/>
                                    </a:rPr>
                                    <m:t>𝑁</m:t>
                                  </m:r>
                                </m:sub>
                              </m:sSub>
                            </m:e>
                          </m:mr>
                        </m:m>
                      </m:e>
                    </m:d>
                    <m:r>
                      <a:rPr lang="en-US" sz="2000" b="0" i="1" smtClean="0">
                        <a:solidFill>
                          <a:srgbClr val="9900CC"/>
                        </a:solidFill>
                        <a:latin typeface="Cambria Math" panose="02040503050406030204" pitchFamily="18" charset="0"/>
                      </a:rPr>
                      <m:t>=</m:t>
                    </m:r>
                    <m:d>
                      <m:dPr>
                        <m:ctrlPr>
                          <a:rPr lang="en-US" sz="2000" b="0" i="1" smtClean="0">
                            <a:solidFill>
                              <a:srgbClr val="9900CC"/>
                            </a:solidFill>
                            <a:latin typeface="Cambria Math" panose="02040503050406030204" pitchFamily="18" charset="0"/>
                          </a:rPr>
                        </m:ctrlPr>
                      </m:dPr>
                      <m:e>
                        <m:m>
                          <m:mPr>
                            <m:mcs>
                              <m:mc>
                                <m:mcPr>
                                  <m:count m:val="3"/>
                                  <m:mcJc m:val="center"/>
                                </m:mcPr>
                              </m:mc>
                            </m:mcs>
                            <m:ctrlPr>
                              <a:rPr lang="en-US" sz="2000" b="0" i="1" smtClean="0">
                                <a:solidFill>
                                  <a:srgbClr val="9900CC"/>
                                </a:solidFill>
                                <a:latin typeface="Cambria Math" panose="02040503050406030204" pitchFamily="18" charset="0"/>
                              </a:rPr>
                            </m:ctrlPr>
                          </m:mPr>
                          <m:mr>
                            <m:e>
                              <m:sSub>
                                <m:sSubPr>
                                  <m:ctrlPr>
                                    <a:rPr lang="en-US" sz="2000" b="0" i="1" smtClean="0">
                                      <a:solidFill>
                                        <a:srgbClr val="9900CC"/>
                                      </a:solidFill>
                                      <a:latin typeface="Cambria Math" panose="02040503050406030204" pitchFamily="18" charset="0"/>
                                    </a:rPr>
                                  </m:ctrlPr>
                                </m:sSubPr>
                                <m:e>
                                  <m:r>
                                    <a:rPr lang="en-US" sz="2000" b="0" i="1" smtClean="0">
                                      <a:solidFill>
                                        <a:srgbClr val="9900CC"/>
                                      </a:solidFill>
                                      <a:latin typeface="Cambria Math" panose="02040503050406030204" pitchFamily="18" charset="0"/>
                                    </a:rPr>
                                    <m:t>𝑥</m:t>
                                  </m:r>
                                </m:e>
                                <m:sub>
                                  <m:r>
                                    <a:rPr lang="en-US" sz="2000" b="0" i="1" smtClean="0">
                                      <a:solidFill>
                                        <a:srgbClr val="9900CC"/>
                                      </a:solidFill>
                                      <a:latin typeface="Cambria Math" panose="02040503050406030204" pitchFamily="18" charset="0"/>
                                    </a:rPr>
                                    <m:t>1</m:t>
                                  </m:r>
                                </m:sub>
                              </m:sSub>
                            </m:e>
                            <m:e>
                              <m:r>
                                <a:rPr lang="en-US" sz="2000" b="0" i="1" smtClean="0">
                                  <a:solidFill>
                                    <a:srgbClr val="9900CC"/>
                                  </a:solidFill>
                                  <a:latin typeface="Cambria Math" panose="02040503050406030204" pitchFamily="18" charset="0"/>
                                </a:rPr>
                                <m:t>…</m:t>
                              </m:r>
                            </m:e>
                            <m:e>
                              <m:sSub>
                                <m:sSubPr>
                                  <m:ctrlPr>
                                    <a:rPr lang="en-US" sz="2000" b="0" i="1" smtClean="0">
                                      <a:solidFill>
                                        <a:srgbClr val="9900CC"/>
                                      </a:solidFill>
                                      <a:latin typeface="Cambria Math" panose="02040503050406030204" pitchFamily="18" charset="0"/>
                                    </a:rPr>
                                  </m:ctrlPr>
                                </m:sSubPr>
                                <m:e>
                                  <m:r>
                                    <a:rPr lang="en-US" sz="2000" b="0" i="1" smtClean="0">
                                      <a:solidFill>
                                        <a:srgbClr val="9900CC"/>
                                      </a:solidFill>
                                      <a:latin typeface="Cambria Math" panose="02040503050406030204" pitchFamily="18" charset="0"/>
                                    </a:rPr>
                                    <m:t>𝑥</m:t>
                                  </m:r>
                                </m:e>
                                <m:sub>
                                  <m:r>
                                    <a:rPr lang="en-US" sz="2000" b="0" i="1" smtClean="0">
                                      <a:solidFill>
                                        <a:srgbClr val="9900CC"/>
                                      </a:solidFill>
                                      <a:latin typeface="Cambria Math" panose="02040503050406030204" pitchFamily="18" charset="0"/>
                                    </a:rPr>
                                    <m:t>𝑀</m:t>
                                  </m:r>
                                </m:sub>
                              </m:sSub>
                            </m:e>
                          </m:mr>
                        </m:m>
                      </m:e>
                    </m:d>
                    <m:d>
                      <m:dPr>
                        <m:ctrlPr>
                          <a:rPr lang="en-US" sz="2000" b="0" i="1" smtClean="0">
                            <a:solidFill>
                              <a:srgbClr val="9900CC"/>
                            </a:solidFill>
                            <a:latin typeface="Cambria Math" panose="02040503050406030204" pitchFamily="18" charset="0"/>
                          </a:rPr>
                        </m:ctrlPr>
                      </m:dPr>
                      <m:e>
                        <m:m>
                          <m:mPr>
                            <m:mcs>
                              <m:mc>
                                <m:mcPr>
                                  <m:count m:val="3"/>
                                  <m:mcJc m:val="center"/>
                                </m:mcPr>
                              </m:mc>
                            </m:mcs>
                            <m:ctrlPr>
                              <a:rPr lang="en-US" sz="2000" b="0" i="1" smtClean="0">
                                <a:solidFill>
                                  <a:srgbClr val="9900CC"/>
                                </a:solidFill>
                                <a:latin typeface="Cambria Math" panose="02040503050406030204" pitchFamily="18" charset="0"/>
                              </a:rPr>
                            </m:ctrlPr>
                          </m:mPr>
                          <m:mr>
                            <m:e>
                              <m:sSub>
                                <m:sSubPr>
                                  <m:ctrlPr>
                                    <a:rPr lang="en-US" sz="2000" b="0" i="1" smtClean="0">
                                      <a:solidFill>
                                        <a:srgbClr val="9900CC"/>
                                      </a:solidFill>
                                      <a:latin typeface="Cambria Math" panose="02040503050406030204" pitchFamily="18" charset="0"/>
                                    </a:rPr>
                                  </m:ctrlPr>
                                </m:sSubPr>
                                <m:e>
                                  <m:r>
                                    <a:rPr lang="en-US" sz="2000" b="0" i="1" smtClean="0">
                                      <a:solidFill>
                                        <a:srgbClr val="9900CC"/>
                                      </a:solidFill>
                                      <a:latin typeface="Cambria Math" panose="02040503050406030204" pitchFamily="18" charset="0"/>
                                    </a:rPr>
                                    <m:t>𝑊</m:t>
                                  </m:r>
                                </m:e>
                                <m:sub>
                                  <m:r>
                                    <a:rPr lang="en-US" sz="2000" b="0" i="1" smtClean="0">
                                      <a:solidFill>
                                        <a:srgbClr val="9900CC"/>
                                      </a:solidFill>
                                      <a:latin typeface="Cambria Math" panose="02040503050406030204" pitchFamily="18" charset="0"/>
                                    </a:rPr>
                                    <m:t>11</m:t>
                                  </m:r>
                                </m:sub>
                              </m:sSub>
                            </m:e>
                            <m:e>
                              <m:r>
                                <a:rPr lang="en-US" sz="2000" b="0" i="1" smtClean="0">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i="1">
                                      <a:solidFill>
                                        <a:srgbClr val="9900CC"/>
                                      </a:solidFill>
                                      <a:latin typeface="Cambria Math" panose="02040503050406030204" pitchFamily="18" charset="0"/>
                                    </a:rPr>
                                    <m:t>1</m:t>
                                  </m:r>
                                  <m:r>
                                    <a:rPr lang="en-US" sz="2000" i="1" smtClean="0">
                                      <a:solidFill>
                                        <a:srgbClr val="9900CC"/>
                                      </a:solidFill>
                                      <a:latin typeface="Cambria Math" panose="02040503050406030204" pitchFamily="18" charset="0"/>
                                    </a:rPr>
                                    <m:t>𝑁</m:t>
                                  </m:r>
                                </m:sub>
                              </m:sSub>
                            </m:e>
                          </m:mr>
                          <m:mr>
                            <m:e>
                              <m:r>
                                <a:rPr lang="en-US" sz="2000" b="0" i="1" smtClean="0">
                                  <a:solidFill>
                                    <a:srgbClr val="9900CC"/>
                                  </a:solidFill>
                                  <a:latin typeface="Cambria Math" panose="02040503050406030204" pitchFamily="18" charset="0"/>
                                </a:rPr>
                                <m:t>⋮</m:t>
                              </m:r>
                            </m:e>
                            <m:e>
                              <m:r>
                                <a:rPr lang="en-US" sz="2000" b="0" i="1" smtClean="0">
                                  <a:solidFill>
                                    <a:srgbClr val="9900CC"/>
                                  </a:solidFill>
                                  <a:latin typeface="Cambria Math" panose="02040503050406030204" pitchFamily="18" charset="0"/>
                                </a:rPr>
                                <m:t>⋱</m:t>
                              </m:r>
                            </m:e>
                            <m:e>
                              <m:r>
                                <a:rPr lang="en-US" sz="2000" b="0" i="1" smtClean="0">
                                  <a:solidFill>
                                    <a:srgbClr val="9900CC"/>
                                  </a:solidFill>
                                  <a:latin typeface="Cambria Math" panose="02040503050406030204" pitchFamily="18" charset="0"/>
                                </a:rPr>
                                <m:t>⋮</m:t>
                              </m:r>
                            </m:e>
                          </m:mr>
                          <m:mr>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b="0" i="1" smtClean="0">
                                      <a:solidFill>
                                        <a:srgbClr val="9900CC"/>
                                      </a:solidFill>
                                      <a:latin typeface="Cambria Math" panose="02040503050406030204" pitchFamily="18" charset="0"/>
                                    </a:rPr>
                                    <m:t>𝑀</m:t>
                                  </m:r>
                                  <m:r>
                                    <a:rPr lang="en-US" sz="2000" i="1">
                                      <a:solidFill>
                                        <a:srgbClr val="9900CC"/>
                                      </a:solidFill>
                                      <a:latin typeface="Cambria Math" panose="02040503050406030204" pitchFamily="18" charset="0"/>
                                    </a:rPr>
                                    <m:t>1</m:t>
                                  </m:r>
                                </m:sub>
                              </m:sSub>
                            </m:e>
                            <m:e>
                              <m:r>
                                <a:rPr lang="en-US" sz="2000" b="0" i="1" smtClean="0">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b="0" i="1" smtClean="0">
                                      <a:solidFill>
                                        <a:srgbClr val="9900CC"/>
                                      </a:solidFill>
                                      <a:latin typeface="Cambria Math" panose="02040503050406030204" pitchFamily="18" charset="0"/>
                                    </a:rPr>
                                    <m:t>𝑀𝑁</m:t>
                                  </m:r>
                                </m:sub>
                              </m:sSub>
                            </m:e>
                          </m:mr>
                        </m:m>
                      </m:e>
                    </m:d>
                  </m:oMath>
                </a14:m>
                <a:endParaRPr lang="en-US" b="0" dirty="0">
                  <a:solidFill>
                    <a:srgbClr val="9900CC"/>
                  </a:solidFill>
                </a:endParaRPr>
              </a:p>
              <a:p>
                <a:r>
                  <a:rPr lang="en-US" dirty="0"/>
                  <a:t>Want:  </a:t>
                </a:r>
                <a:r>
                  <a:rPr lang="en-US" dirty="0">
                    <a:solidFill>
                      <a:srgbClr val="9900CC"/>
                    </a:solidFill>
                  </a:rPr>
                  <a:t> </a:t>
                </a:r>
                <a14:m>
                  <m:oMath xmlns:m="http://schemas.openxmlformats.org/officeDocument/2006/math">
                    <m:f>
                      <m:fPr>
                        <m:ctrlPr>
                          <a:rPr lang="en-US" sz="3600" i="1">
                            <a:solidFill>
                              <a:srgbClr val="C00000"/>
                            </a:solidFill>
                            <a:latin typeface="Cambria Math" panose="02040503050406030204" pitchFamily="18" charset="0"/>
                          </a:rPr>
                        </m:ctrlPr>
                      </m:fPr>
                      <m:num>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𝑒</m:t>
                        </m:r>
                      </m:num>
                      <m:den>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𝑥</m:t>
                        </m:r>
                      </m:den>
                    </m:f>
                    <m:r>
                      <a:rPr lang="en-US" sz="3600" i="1">
                        <a:solidFill>
                          <a:srgbClr val="C00000"/>
                        </a:solidFill>
                        <a:latin typeface="Cambria Math" panose="02040503050406030204" pitchFamily="18" charset="0"/>
                      </a:rPr>
                      <m:t>=</m:t>
                    </m:r>
                    <m:f>
                      <m:fPr>
                        <m:ctrlPr>
                          <a:rPr lang="en-US" sz="3600" i="1">
                            <a:solidFill>
                              <a:srgbClr val="C00000"/>
                            </a:solidFill>
                            <a:latin typeface="Cambria Math" panose="02040503050406030204" pitchFamily="18" charset="0"/>
                          </a:rPr>
                        </m:ctrlPr>
                      </m:fPr>
                      <m:num>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𝑒</m:t>
                        </m:r>
                      </m:num>
                      <m:den>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𝑧</m:t>
                        </m:r>
                      </m:den>
                    </m:f>
                    <m:r>
                      <a:rPr lang="en-US" sz="3600" b="0" i="1" smtClean="0">
                        <a:solidFill>
                          <a:srgbClr val="C00000"/>
                        </a:solidFill>
                        <a:latin typeface="Cambria Math" panose="02040503050406030204" pitchFamily="18" charset="0"/>
                      </a:rPr>
                      <m:t> </m:t>
                    </m:r>
                    <m:f>
                      <m:fPr>
                        <m:ctrlPr>
                          <a:rPr lang="en-US" sz="3600" i="1">
                            <a:solidFill>
                              <a:srgbClr val="9900CC"/>
                            </a:solidFill>
                            <a:latin typeface="Cambria Math" panose="02040503050406030204" pitchFamily="18" charset="0"/>
                          </a:rPr>
                        </m:ctrlPr>
                      </m:fPr>
                      <m:num>
                        <m:r>
                          <a:rPr lang="en-US" sz="3600" i="1">
                            <a:solidFill>
                              <a:srgbClr val="9900CC"/>
                            </a:solidFill>
                            <a:latin typeface="Cambria Math" panose="02040503050406030204" pitchFamily="18" charset="0"/>
                          </a:rPr>
                          <m:t>𝜕</m:t>
                        </m:r>
                        <m:r>
                          <a:rPr lang="en-US" sz="3600" i="1">
                            <a:solidFill>
                              <a:srgbClr val="9900CC"/>
                            </a:solidFill>
                            <a:latin typeface="Cambria Math" panose="02040503050406030204" pitchFamily="18" charset="0"/>
                          </a:rPr>
                          <m:t>𝑧</m:t>
                        </m:r>
                      </m:num>
                      <m:den>
                        <m:r>
                          <a:rPr lang="en-US" sz="3600" i="1">
                            <a:solidFill>
                              <a:srgbClr val="9900CC"/>
                            </a:solidFill>
                            <a:latin typeface="Cambria Math" panose="02040503050406030204" pitchFamily="18" charset="0"/>
                          </a:rPr>
                          <m:t>𝜕</m:t>
                        </m:r>
                        <m:r>
                          <a:rPr lang="en-US" sz="3600" i="1">
                            <a:solidFill>
                              <a:srgbClr val="9900CC"/>
                            </a:solidFill>
                            <a:latin typeface="Cambria Math" panose="02040503050406030204" pitchFamily="18" charset="0"/>
                          </a:rPr>
                          <m:t>𝑥</m:t>
                        </m:r>
                      </m:den>
                    </m:f>
                  </m:oMath>
                </a14:m>
                <a:endParaRPr lang="en-US" sz="3600" b="0" dirty="0">
                  <a:solidFill>
                    <a:srgbClr val="9900CC"/>
                  </a:solidFill>
                </a:endParaRPr>
              </a:p>
              <a:p>
                <a:endParaRPr lang="en-US" sz="3600" b="0" dirty="0">
                  <a:solidFill>
                    <a:srgbClr val="9900CC"/>
                  </a:solidFill>
                </a:endParaRPr>
              </a:p>
              <a:p>
                <a14:m>
                  <m:oMathPara xmlns:m="http://schemas.openxmlformats.org/officeDocument/2006/math">
                    <m:oMathParaPr>
                      <m:jc m:val="centerGroup"/>
                    </m:oMathParaPr>
                    <m:oMath xmlns:m="http://schemas.openxmlformats.org/officeDocument/2006/math">
                      <m:f>
                        <m:fPr>
                          <m:ctrlPr>
                            <a:rPr lang="en-US" i="1" smtClean="0">
                              <a:solidFill>
                                <a:srgbClr val="9900CC"/>
                              </a:solidFill>
                              <a:latin typeface="Cambria Math" panose="02040503050406030204" pitchFamily="18" charset="0"/>
                            </a:rPr>
                          </m:ctrlPr>
                        </m:fPr>
                        <m:num>
                          <m:r>
                            <a:rPr lang="en-US" i="1" smtClean="0">
                              <a:solidFill>
                                <a:srgbClr val="9900CC"/>
                              </a:solidFill>
                              <a:latin typeface="Cambria Math" panose="02040503050406030204" pitchFamily="18" charset="0"/>
                            </a:rPr>
                            <m:t>𝜕</m:t>
                          </m:r>
                          <m:sSub>
                            <m:sSubPr>
                              <m:ctrlPr>
                                <a:rPr lang="en-US" b="0"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𝑗</m:t>
                              </m:r>
                            </m:sub>
                          </m:sSub>
                        </m:num>
                        <m:den>
                          <m:r>
                            <a:rPr lang="en-US" i="1" smtClean="0">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𝑖</m:t>
                              </m:r>
                            </m:sub>
                          </m:sSub>
                        </m:den>
                      </m:f>
                      <m:r>
                        <a:rPr lang="en-US" b="0" i="1" smtClean="0">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𝑊</m:t>
                          </m:r>
                        </m:e>
                        <m:sub>
                          <m:r>
                            <a:rPr lang="en-US" i="1">
                              <a:solidFill>
                                <a:srgbClr val="9900CC"/>
                              </a:solidFill>
                              <a:latin typeface="Cambria Math" panose="02040503050406030204" pitchFamily="18" charset="0"/>
                            </a:rPr>
                            <m:t>𝑖</m:t>
                          </m:r>
                          <m:r>
                            <a:rPr lang="en-US" b="0" i="1" smtClean="0">
                              <a:solidFill>
                                <a:srgbClr val="9900CC"/>
                              </a:solidFill>
                              <a:latin typeface="Cambria Math" panose="02040503050406030204" pitchFamily="18" charset="0"/>
                            </a:rPr>
                            <m:t>𝑗</m:t>
                          </m:r>
                        </m:sub>
                      </m:sSub>
                    </m:oMath>
                  </m:oMathPara>
                </a14:m>
                <a:endParaRPr lang="en-US" dirty="0">
                  <a:solidFill>
                    <a:srgbClr val="9900CC"/>
                  </a:solidFill>
                </a:endParaRPr>
              </a:p>
              <a:p>
                <a14:m>
                  <m:oMathPara xmlns:m="http://schemas.openxmlformats.org/officeDocument/2006/math">
                    <m:oMathParaPr>
                      <m:jc m:val="centerGroup"/>
                    </m:oMathParaPr>
                    <m:oMath xmlns:m="http://schemas.openxmlformats.org/officeDocument/2006/math">
                      <m:f>
                        <m:fPr>
                          <m:ctrlPr>
                            <a:rPr lang="en-US" i="1" smtClean="0">
                              <a:solidFill>
                                <a:srgbClr val="9900CC"/>
                              </a:solidFill>
                              <a:latin typeface="Cambria Math" panose="02040503050406030204" pitchFamily="18" charset="0"/>
                            </a:rPr>
                          </m:ctrlPr>
                        </m:fPr>
                        <m:num>
                          <m:r>
                            <a:rPr lang="en-US" i="1" smtClean="0">
                              <a:solidFill>
                                <a:srgbClr val="9900CC"/>
                              </a:solidFill>
                              <a:latin typeface="Cambria Math" panose="02040503050406030204" pitchFamily="18" charset="0"/>
                            </a:rPr>
                            <m:t>𝜕</m:t>
                          </m:r>
                          <m:r>
                            <a:rPr lang="en-US" b="0" i="1" smtClean="0">
                              <a:solidFill>
                                <a:srgbClr val="9900CC"/>
                              </a:solidFill>
                              <a:latin typeface="Cambria Math" panose="02040503050406030204" pitchFamily="18" charset="0"/>
                            </a:rPr>
                            <m:t>𝑧</m:t>
                          </m:r>
                        </m:num>
                        <m:den>
                          <m:r>
                            <a:rPr lang="en-US" i="1" smtClean="0">
                              <a:solidFill>
                                <a:srgbClr val="9900CC"/>
                              </a:solidFill>
                              <a:latin typeface="Cambria Math" panose="02040503050406030204" pitchFamily="18" charset="0"/>
                            </a:rPr>
                            <m:t>𝜕</m:t>
                          </m:r>
                          <m:r>
                            <a:rPr lang="en-US" i="1" smtClean="0">
                              <a:solidFill>
                                <a:srgbClr val="9900CC"/>
                              </a:solidFill>
                              <a:latin typeface="Cambria Math" panose="02040503050406030204" pitchFamily="18" charset="0"/>
                            </a:rPr>
                            <m:t>𝑥</m:t>
                          </m:r>
                        </m:den>
                      </m:f>
                      <m:r>
                        <a:rPr lang="en-US" b="0" i="1" smtClean="0">
                          <a:solidFill>
                            <a:srgbClr val="9900CC"/>
                          </a:solidFill>
                          <a:latin typeface="Cambria Math" panose="02040503050406030204" pitchFamily="18" charset="0"/>
                        </a:rPr>
                        <m:t>=</m:t>
                      </m:r>
                      <m:sSup>
                        <m:sSupPr>
                          <m:ctrlPr>
                            <a:rPr lang="en-US" b="0" i="1" smtClean="0">
                              <a:solidFill>
                                <a:srgbClr val="9900CC"/>
                              </a:solidFill>
                              <a:latin typeface="Cambria Math" panose="02040503050406030204" pitchFamily="18" charset="0"/>
                            </a:rPr>
                          </m:ctrlPr>
                        </m:sSupPr>
                        <m:e>
                          <m:r>
                            <a:rPr lang="en-US" b="0" i="1" smtClean="0">
                              <a:solidFill>
                                <a:srgbClr val="9900CC"/>
                              </a:solidFill>
                              <a:latin typeface="Cambria Math" panose="02040503050406030204" pitchFamily="18" charset="0"/>
                            </a:rPr>
                            <m:t>𝑊</m:t>
                          </m:r>
                        </m:e>
                        <m:sup>
                          <m:r>
                            <a:rPr lang="en-US" b="0" i="1" smtClean="0">
                              <a:solidFill>
                                <a:srgbClr val="9900CC"/>
                              </a:solidFill>
                              <a:latin typeface="Cambria Math" panose="02040503050406030204" pitchFamily="18" charset="0"/>
                            </a:rPr>
                            <m:t>𝑇</m:t>
                          </m:r>
                        </m:sup>
                      </m:sSup>
                    </m:oMath>
                  </m:oMathPara>
                </a14:m>
                <a:endParaRPr lang="en-US" b="0" dirty="0"/>
              </a:p>
              <a:p>
                <a14:m>
                  <m:oMathPara xmlns:m="http://schemas.openxmlformats.org/officeDocument/2006/math">
                    <m:oMathParaPr>
                      <m:jc m:val="centerGroup"/>
                    </m:oMathParaPr>
                    <m:oMath xmlns:m="http://schemas.openxmlformats.org/officeDocument/2006/math">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𝑥</m:t>
                          </m:r>
                        </m:den>
                      </m:f>
                      <m:r>
                        <a:rPr lang="en-US" i="1">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𝑧</m:t>
                          </m:r>
                        </m:den>
                      </m:f>
                      <m:f>
                        <m:fPr>
                          <m:ctrlPr>
                            <a:rPr lang="en-US" i="1" smtClean="0">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𝑧</m:t>
                          </m:r>
                        </m:num>
                        <m:den>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𝑥</m:t>
                          </m:r>
                        </m:den>
                      </m:f>
                      <m:r>
                        <a:rPr lang="en-US" b="0" i="1" smtClean="0">
                          <a:solidFill>
                            <a:srgbClr val="9900CC"/>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𝑧</m:t>
                          </m:r>
                        </m:den>
                      </m:f>
                      <m:sSup>
                        <m:sSupPr>
                          <m:ctrlPr>
                            <a:rPr lang="en-US" i="1" smtClean="0">
                              <a:solidFill>
                                <a:srgbClr val="9900CC"/>
                              </a:solidFill>
                              <a:latin typeface="Cambria Math" panose="02040503050406030204" pitchFamily="18" charset="0"/>
                            </a:rPr>
                          </m:ctrlPr>
                        </m:sSupPr>
                        <m:e>
                          <m:r>
                            <a:rPr lang="en-US" i="1">
                              <a:solidFill>
                                <a:srgbClr val="9900CC"/>
                              </a:solidFill>
                              <a:latin typeface="Cambria Math" panose="02040503050406030204" pitchFamily="18" charset="0"/>
                            </a:rPr>
                            <m:t>𝑊</m:t>
                          </m:r>
                        </m:e>
                        <m:sup>
                          <m:r>
                            <a:rPr lang="en-US" i="1">
                              <a:solidFill>
                                <a:srgbClr val="9900CC"/>
                              </a:solidFill>
                              <a:latin typeface="Cambria Math" panose="02040503050406030204" pitchFamily="18" charset="0"/>
                            </a:rPr>
                            <m:t>𝑇</m:t>
                          </m:r>
                        </m:sup>
                      </m:sSup>
                    </m:oMath>
                  </m:oMathPara>
                </a14:m>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81000" y="914400"/>
                <a:ext cx="8458200" cy="5257800"/>
              </a:xfrm>
              <a:blipFill rotWithShape="1">
                <a:blip r:embed="rId1"/>
                <a:stretch>
                  <a:fillRect b="-52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5638800" y="3664803"/>
                <a:ext cx="2819400" cy="830997"/>
              </a:xfrm>
              <a:prstGeom prst="rect">
                <a:avLst/>
              </a:prstGeom>
              <a:noFill/>
            </p:spPr>
            <p:txBody>
              <a:bodyPr wrap="square" rtlCol="0">
                <a:spAutoFit/>
              </a:bodyPr>
              <a:lstStyle/>
              <a:p>
                <a:pPr algn="ctr"/>
                <a14:m>
                  <m:oMath xmlns:m="http://schemas.openxmlformats.org/officeDocument/2006/math">
                    <m:r>
                      <a:rPr lang="en-US" b="0" i="1" dirty="0" smtClean="0">
                        <a:solidFill>
                          <a:srgbClr val="9900CC"/>
                        </a:solidFill>
                        <a:latin typeface="Cambria Math" panose="02040503050406030204" pitchFamily="18" charset="0"/>
                      </a:rPr>
                      <m:t>𝑗</m:t>
                    </m:r>
                  </m:oMath>
                </a14:m>
                <a:r>
                  <a:rPr lang="en-US" b="0" dirty="0" err="1"/>
                  <a:t>th</a:t>
                </a:r>
                <a:r>
                  <a:rPr lang="en-US" b="0" dirty="0"/>
                  <a:t> row, </a:t>
                </a:r>
                <a14:m>
                  <m:oMath xmlns:m="http://schemas.openxmlformats.org/officeDocument/2006/math">
                    <m:r>
                      <a:rPr lang="en-US" b="0" i="1" dirty="0" smtClean="0">
                        <a:solidFill>
                          <a:srgbClr val="9900CC"/>
                        </a:solidFill>
                        <a:latin typeface="Cambria Math" panose="02040503050406030204" pitchFamily="18" charset="0"/>
                      </a:rPr>
                      <m:t>𝑖</m:t>
                    </m:r>
                  </m:oMath>
                </a14:m>
                <a:r>
                  <a:rPr lang="en-US" b="0" dirty="0" err="1"/>
                  <a:t>th</a:t>
                </a:r>
                <a:r>
                  <a:rPr lang="en-US" b="0" dirty="0"/>
                  <a:t> column of Jacobian</a:t>
                </a:r>
                <a:endParaRPr lang="en-US" b="0" dirty="0"/>
              </a:p>
            </p:txBody>
          </p:sp>
        </mc:Choice>
        <mc:Fallback>
          <p:sp>
            <p:nvSpPr>
              <p:cNvPr id="4" name="TextBox 3"/>
              <p:cNvSpPr txBox="1">
                <a:spLocks noRot="1" noChangeAspect="1" noMove="1" noResize="1" noEditPoints="1" noAdjustHandles="1" noChangeArrowheads="1" noChangeShapeType="1" noTextEdit="1"/>
              </p:cNvSpPr>
              <p:nvPr/>
            </p:nvSpPr>
            <p:spPr>
              <a:xfrm>
                <a:off x="5638800" y="3664803"/>
                <a:ext cx="2819400" cy="830997"/>
              </a:xfrm>
              <a:prstGeom prst="rect">
                <a:avLst/>
              </a:prstGeom>
              <a:blipFill rotWithShape="1">
                <a:blip r:embed="rId2"/>
                <a:stretch>
                  <a:fillRect t="-26" b="-107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1578066" y="2895600"/>
                <a:ext cx="744948" cy="369332"/>
              </a:xfrm>
              <a:prstGeom prst="rect">
                <a:avLst/>
              </a:prstGeom>
            </p:spPr>
            <p:txBody>
              <a:bodyPr wrap="none">
                <a:spAutoFit/>
              </a:bodyPr>
              <a:lstStyle/>
              <a:p>
                <a14:m>
                  <m:oMath xmlns:m="http://schemas.openxmlformats.org/officeDocument/2006/math">
                    <m:r>
                      <a:rPr lang="en-US" sz="1800" b="0" i="1" smtClean="0">
                        <a:solidFill>
                          <a:srgbClr val="C00000"/>
                        </a:solidFill>
                        <a:latin typeface="Cambria Math" panose="02040503050406030204" pitchFamily="18" charset="0"/>
                      </a:rPr>
                      <m:t>1</m:t>
                    </m:r>
                    <m:r>
                      <a:rPr lang="en-US" sz="1800" b="0" i="1">
                        <a:solidFill>
                          <a:srgbClr val="C00000"/>
                        </a:solidFill>
                        <a:latin typeface="Cambria Math" panose="02040503050406030204" pitchFamily="18" charset="0"/>
                        <a:ea typeface="Cambria Math" panose="02040503050406030204" pitchFamily="18" charset="0"/>
                      </a:rPr>
                      <m:t>×</m:t>
                    </m:r>
                    <m:r>
                      <a:rPr lang="en-US" sz="1800" b="0" i="1" smtClean="0">
                        <a:solidFill>
                          <a:srgbClr val="C00000"/>
                        </a:solidFill>
                        <a:latin typeface="Cambria Math" panose="02040503050406030204" pitchFamily="18" charset="0"/>
                        <a:ea typeface="Cambria Math" panose="02040503050406030204" pitchFamily="18" charset="0"/>
                      </a:rPr>
                      <m:t>𝑀</m:t>
                    </m:r>
                  </m:oMath>
                </a14:m>
                <a:r>
                  <a:rPr lang="en-US" sz="1800" b="0" dirty="0">
                    <a:solidFill>
                      <a:srgbClr val="C00000"/>
                    </a:solidFill>
                  </a:rPr>
                  <a:t> </a:t>
                </a:r>
                <a:endParaRPr lang="en-US" sz="1800" dirty="0">
                  <a:solidFill>
                    <a:srgbClr val="C00000"/>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1578066" y="2895600"/>
                <a:ext cx="744948" cy="369332"/>
              </a:xfrm>
              <a:prstGeom prst="rect">
                <a:avLst/>
              </a:prstGeom>
              <a:blipFill rotWithShape="1">
                <a:blip r:embed="rId3"/>
                <a:stretch>
                  <a:fillRect l="-12" r="-16597"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2530279" y="2895600"/>
                <a:ext cx="71609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1800" b="0" i="1" smtClean="0">
                          <a:solidFill>
                            <a:srgbClr val="C00000"/>
                          </a:solidFill>
                          <a:latin typeface="Cambria Math" panose="02040503050406030204" pitchFamily="18" charset="0"/>
                        </a:rPr>
                        <m:t>1</m:t>
                      </m:r>
                      <m:r>
                        <a:rPr lang="en-US" sz="1800" b="0" i="1">
                          <a:solidFill>
                            <a:srgbClr val="C00000"/>
                          </a:solidFill>
                          <a:latin typeface="Cambria Math" panose="02040503050406030204" pitchFamily="18" charset="0"/>
                          <a:ea typeface="Cambria Math" panose="02040503050406030204" pitchFamily="18" charset="0"/>
                        </a:rPr>
                        <m:t>×</m:t>
                      </m:r>
                      <m:r>
                        <a:rPr lang="en-US" sz="1800" b="0" i="1" smtClean="0">
                          <a:solidFill>
                            <a:srgbClr val="C00000"/>
                          </a:solidFill>
                          <a:latin typeface="Cambria Math" panose="02040503050406030204" pitchFamily="18" charset="0"/>
                          <a:ea typeface="Cambria Math" panose="02040503050406030204" pitchFamily="18" charset="0"/>
                        </a:rPr>
                        <m:t>𝑁</m:t>
                      </m:r>
                    </m:oMath>
                  </m:oMathPara>
                </a14:m>
                <a:endParaRPr lang="en-US" sz="1800" dirty="0">
                  <a:solidFill>
                    <a:srgbClr val="C00000"/>
                  </a:solidFill>
                </a:endParaRPr>
              </a:p>
            </p:txBody>
          </p:sp>
        </mc:Choice>
        <mc:Fallback>
          <p:sp>
            <p:nvSpPr>
              <p:cNvPr id="6" name="Rectangle 5"/>
              <p:cNvSpPr>
                <a:spLocks noRot="1" noChangeAspect="1" noMove="1" noResize="1" noEditPoints="1" noAdjustHandles="1" noChangeArrowheads="1" noChangeShapeType="1" noTextEdit="1"/>
              </p:cNvSpPr>
              <p:nvPr/>
            </p:nvSpPr>
            <p:spPr>
              <a:xfrm>
                <a:off x="2530279" y="2895600"/>
                <a:ext cx="716093" cy="369332"/>
              </a:xfrm>
              <a:prstGeom prst="rect">
                <a:avLst/>
              </a:prstGeom>
              <a:blipFill rotWithShape="1">
                <a:blip r:embed="rId4"/>
                <a:stretch>
                  <a:fillRect l="-61" r="35"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3171734" y="2895600"/>
                <a:ext cx="790666" cy="369332"/>
              </a:xfrm>
              <a:prstGeom prst="rect">
                <a:avLst/>
              </a:prstGeom>
            </p:spPr>
            <p:txBody>
              <a:bodyPr wrap="none">
                <a:spAutoFit/>
              </a:bodyPr>
              <a:lstStyle/>
              <a:p>
                <a14:m>
                  <m:oMath xmlns:m="http://schemas.openxmlformats.org/officeDocument/2006/math">
                    <m:r>
                      <a:rPr lang="en-US" sz="1800" b="0" i="1" smtClean="0">
                        <a:solidFill>
                          <a:srgbClr val="9900CC"/>
                        </a:solidFill>
                        <a:latin typeface="Cambria Math" panose="02040503050406030204" pitchFamily="18" charset="0"/>
                      </a:rPr>
                      <m:t>𝑁</m:t>
                    </m:r>
                    <m:r>
                      <a:rPr lang="en-US" sz="1800" b="0" i="1">
                        <a:solidFill>
                          <a:srgbClr val="9900CC"/>
                        </a:solidFill>
                        <a:latin typeface="Cambria Math" panose="02040503050406030204" pitchFamily="18" charset="0"/>
                        <a:ea typeface="Cambria Math" panose="02040503050406030204" pitchFamily="18" charset="0"/>
                      </a:rPr>
                      <m:t>×</m:t>
                    </m:r>
                    <m:r>
                      <a:rPr lang="en-US" sz="1800" b="0" i="1" smtClean="0">
                        <a:solidFill>
                          <a:srgbClr val="9900CC"/>
                        </a:solidFill>
                        <a:latin typeface="Cambria Math" panose="02040503050406030204" pitchFamily="18" charset="0"/>
                        <a:ea typeface="Cambria Math" panose="02040503050406030204" pitchFamily="18" charset="0"/>
                      </a:rPr>
                      <m:t>𝑀</m:t>
                    </m:r>
                  </m:oMath>
                </a14:m>
                <a:r>
                  <a:rPr lang="en-US" sz="1800" b="0" dirty="0">
                    <a:solidFill>
                      <a:srgbClr val="9900CC"/>
                    </a:solidFill>
                  </a:rPr>
                  <a:t> </a:t>
                </a:r>
                <a:endParaRPr lang="en-US" sz="1800" dirty="0"/>
              </a:p>
            </p:txBody>
          </p:sp>
        </mc:Choice>
        <mc:Fallback>
          <p:sp>
            <p:nvSpPr>
              <p:cNvPr id="7" name="Rectangle 6"/>
              <p:cNvSpPr>
                <a:spLocks noRot="1" noChangeAspect="1" noMove="1" noResize="1" noEditPoints="1" noAdjustHandles="1" noChangeArrowheads="1" noChangeShapeType="1" noTextEdit="1"/>
              </p:cNvSpPr>
              <p:nvPr/>
            </p:nvSpPr>
            <p:spPr>
              <a:xfrm>
                <a:off x="3171734" y="2895600"/>
                <a:ext cx="790666" cy="369332"/>
              </a:xfrm>
              <a:prstGeom prst="rect">
                <a:avLst/>
              </a:prstGeom>
              <a:blipFill rotWithShape="1">
                <a:blip r:embed="rId5"/>
                <a:stretch>
                  <a:fillRect l="-69" r="-15018"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6736217" y="838200"/>
                <a:ext cx="2084738" cy="113082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𝑗</m:t>
                          </m:r>
                        </m:sub>
                      </m:sSub>
                      <m:r>
                        <a:rPr lang="en-US" b="0" i="1">
                          <a:solidFill>
                            <a:srgbClr val="9900CC"/>
                          </a:solidFill>
                          <a:latin typeface="Cambria Math" panose="02040503050406030204" pitchFamily="18" charset="0"/>
                        </a:rPr>
                        <m:t>=</m:t>
                      </m:r>
                      <m:nary>
                        <m:naryPr>
                          <m:chr m:val="∑"/>
                          <m:ctrlPr>
                            <a:rPr lang="en-US" b="0" i="1">
                              <a:solidFill>
                                <a:srgbClr val="9900CC"/>
                              </a:solidFill>
                              <a:latin typeface="Cambria Math" panose="02040503050406030204" pitchFamily="18" charset="0"/>
                            </a:rPr>
                          </m:ctrlPr>
                        </m:naryPr>
                        <m:sub>
                          <m:r>
                            <m:rPr>
                              <m:brk m:alnAt="23"/>
                            </m:rPr>
                            <a:rPr lang="en-US" b="0" i="1">
                              <a:solidFill>
                                <a:srgbClr val="9900CC"/>
                              </a:solidFill>
                              <a:latin typeface="Cambria Math" panose="02040503050406030204" pitchFamily="18" charset="0"/>
                            </a:rPr>
                            <m:t>𝑖</m:t>
                          </m:r>
                          <m:r>
                            <a:rPr lang="en-US" b="0" i="1">
                              <a:solidFill>
                                <a:srgbClr val="9900CC"/>
                              </a:solidFill>
                              <a:latin typeface="Cambria Math" panose="02040503050406030204" pitchFamily="18" charset="0"/>
                            </a:rPr>
                            <m:t>=</m:t>
                          </m:r>
                          <m:r>
                            <a:rPr lang="en-US" b="0" i="1">
                              <a:solidFill>
                                <a:srgbClr val="9900CC"/>
                              </a:solidFill>
                              <a:latin typeface="Cambria Math" panose="02040503050406030204" pitchFamily="18" charset="0"/>
                            </a:rPr>
                            <m:t>1</m:t>
                          </m:r>
                        </m:sub>
                        <m:sup>
                          <m:r>
                            <a:rPr lang="en-US" b="0" i="1">
                              <a:solidFill>
                                <a:srgbClr val="9900CC"/>
                              </a:solidFill>
                              <a:latin typeface="Cambria Math" panose="02040503050406030204" pitchFamily="18" charset="0"/>
                            </a:rPr>
                            <m:t>𝑀</m:t>
                          </m:r>
                        </m:sup>
                        <m:e>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𝑖</m:t>
                              </m:r>
                            </m:sub>
                          </m:sSub>
                          <m:sSub>
                            <m:sSubPr>
                              <m:ctrlPr>
                                <a:rPr lang="en-US" b="0" i="1">
                                  <a:solidFill>
                                    <a:srgbClr val="9900CC"/>
                                  </a:solidFill>
                                  <a:latin typeface="Cambria Math" panose="02040503050406030204" pitchFamily="18" charset="0"/>
                                </a:rPr>
                              </m:ctrlPr>
                            </m:sSubPr>
                            <m:e>
                              <m:r>
                                <a:rPr lang="en-US" b="0" i="1">
                                  <a:solidFill>
                                    <a:srgbClr val="9900CC"/>
                                  </a:solidFill>
                                  <a:latin typeface="Cambria Math" panose="02040503050406030204" pitchFamily="18" charset="0"/>
                                </a:rPr>
                                <m:t>𝑊</m:t>
                              </m:r>
                            </m:e>
                            <m:sub>
                              <m:r>
                                <a:rPr lang="en-US" b="0" i="1">
                                  <a:solidFill>
                                    <a:srgbClr val="9900CC"/>
                                  </a:solidFill>
                                  <a:latin typeface="Cambria Math" panose="02040503050406030204" pitchFamily="18" charset="0"/>
                                </a:rPr>
                                <m:t>𝑖𝑗</m:t>
                              </m:r>
                            </m:sub>
                          </m:sSub>
                        </m:e>
                      </m:nary>
                    </m:oMath>
                  </m:oMathPara>
                </a14:m>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6736217" y="838200"/>
                <a:ext cx="2084738" cy="1130822"/>
              </a:xfrm>
              <a:prstGeom prst="rect">
                <a:avLst/>
              </a:prstGeom>
              <a:blipFill rotWithShape="1">
                <a:blip r:embed="rId6"/>
                <a:stretch>
                  <a:fillRect l="-7" r="8" b="46"/>
                </a:stretch>
              </a:blipFill>
            </p:spPr>
            <p:txBody>
              <a:bodyPr/>
              <a:lstStyle/>
              <a:p>
                <a:r>
                  <a:rPr lang="zh-CN" altLang="en-US">
                    <a:noFill/>
                  </a:rPr>
                  <a:t> </a:t>
                </a:r>
              </a:p>
            </p:txBody>
          </p:sp>
        </mc:Fallback>
      </mc:AlternateContent>
      <p:sp>
        <p:nvSpPr>
          <p:cNvPr id="10" name="Rectangle 9"/>
          <p:cNvSpPr/>
          <p:nvPr/>
        </p:nvSpPr>
        <p:spPr bwMode="auto">
          <a:xfrm>
            <a:off x="3171734" y="1969022"/>
            <a:ext cx="638266" cy="926578"/>
          </a:xfrm>
          <a:prstGeom prst="rect">
            <a:avLst/>
          </a:prstGeom>
          <a:noFill/>
          <a:ln w="25400" cap="flat" cmpd="sng" algn="ctr">
            <a:solidFill>
              <a:srgbClr val="9900CC"/>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4800600" y="3505200"/>
            <a:ext cx="609600" cy="762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P spid="6" grpId="0"/>
      <p:bldP spid="7" grpId="0"/>
      <p:bldP spid="9" grpId="0"/>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Matrix-vector multiplication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914400"/>
                <a:ext cx="8458200" cy="6019800"/>
              </a:xfrm>
            </p:spPr>
            <p:txBody>
              <a:bodyPr/>
              <a:lstStyle/>
              <a:p>
                <a:r>
                  <a:rPr lang="en-US" sz="2000" dirty="0">
                    <a:solidFill>
                      <a:srgbClr val="9900CC"/>
                    </a:solidFill>
                  </a:rPr>
                  <a:t> </a:t>
                </a:r>
                <a14:m>
                  <m:oMath xmlns:m="http://schemas.openxmlformats.org/officeDocument/2006/math">
                    <m:d>
                      <m:dPr>
                        <m:ctrlPr>
                          <a:rPr lang="en-US" sz="2000" i="1" smtClean="0">
                            <a:solidFill>
                              <a:srgbClr val="9900CC"/>
                            </a:solidFill>
                            <a:latin typeface="Cambria Math" panose="02040503050406030204" pitchFamily="18" charset="0"/>
                          </a:rPr>
                        </m:ctrlPr>
                      </m:dPr>
                      <m:e>
                        <m:m>
                          <m:mPr>
                            <m:mcs>
                              <m:mc>
                                <m:mcPr>
                                  <m:count m:val="3"/>
                                  <m:mcJc m:val="center"/>
                                </m:mcPr>
                              </m:mc>
                            </m:mcs>
                            <m:ctrlPr>
                              <a:rPr lang="en-US" sz="2000" i="1">
                                <a:solidFill>
                                  <a:srgbClr val="9900CC"/>
                                </a:solidFill>
                                <a:latin typeface="Cambria Math" panose="02040503050406030204" pitchFamily="18" charset="0"/>
                              </a:rPr>
                            </m:ctrlPr>
                          </m:mPr>
                          <m:mr>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𝑧</m:t>
                                  </m:r>
                                </m:e>
                                <m:sub>
                                  <m:r>
                                    <a:rPr lang="en-US" sz="2000" i="1">
                                      <a:solidFill>
                                        <a:srgbClr val="9900CC"/>
                                      </a:solidFill>
                                      <a:latin typeface="Cambria Math" panose="02040503050406030204" pitchFamily="18" charset="0"/>
                                    </a:rPr>
                                    <m:t>1</m:t>
                                  </m:r>
                                </m:sub>
                              </m:sSub>
                            </m:e>
                            <m:e>
                              <m:r>
                                <a:rPr lang="en-US" sz="2000" i="1">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𝑧</m:t>
                                  </m:r>
                                </m:e>
                                <m:sub>
                                  <m:r>
                                    <a:rPr lang="en-US" sz="2000" b="0" i="1" smtClean="0">
                                      <a:solidFill>
                                        <a:srgbClr val="9900CC"/>
                                      </a:solidFill>
                                      <a:latin typeface="Cambria Math" panose="02040503050406030204" pitchFamily="18" charset="0"/>
                                    </a:rPr>
                                    <m:t>𝑁</m:t>
                                  </m:r>
                                </m:sub>
                              </m:sSub>
                            </m:e>
                          </m:mr>
                        </m:m>
                      </m:e>
                    </m:d>
                    <m:r>
                      <a:rPr lang="en-US" sz="2000" i="1">
                        <a:solidFill>
                          <a:srgbClr val="9900CC"/>
                        </a:solidFill>
                        <a:latin typeface="Cambria Math" panose="02040503050406030204" pitchFamily="18" charset="0"/>
                      </a:rPr>
                      <m:t>=</m:t>
                    </m:r>
                    <m:d>
                      <m:dPr>
                        <m:ctrlPr>
                          <a:rPr lang="en-US" sz="2000" i="1">
                            <a:solidFill>
                              <a:srgbClr val="9900CC"/>
                            </a:solidFill>
                            <a:latin typeface="Cambria Math" panose="02040503050406030204" pitchFamily="18" charset="0"/>
                          </a:rPr>
                        </m:ctrlPr>
                      </m:dPr>
                      <m:e>
                        <m:m>
                          <m:mPr>
                            <m:mcs>
                              <m:mc>
                                <m:mcPr>
                                  <m:count m:val="3"/>
                                  <m:mcJc m:val="center"/>
                                </m:mcPr>
                              </m:mc>
                            </m:mcs>
                            <m:ctrlPr>
                              <a:rPr lang="en-US" sz="2000" i="1">
                                <a:solidFill>
                                  <a:srgbClr val="9900CC"/>
                                </a:solidFill>
                                <a:latin typeface="Cambria Math" panose="02040503050406030204" pitchFamily="18" charset="0"/>
                              </a:rPr>
                            </m:ctrlPr>
                          </m:mPr>
                          <m:mr>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𝑥</m:t>
                                  </m:r>
                                </m:e>
                                <m:sub>
                                  <m:r>
                                    <a:rPr lang="en-US" sz="2000" i="1">
                                      <a:solidFill>
                                        <a:srgbClr val="9900CC"/>
                                      </a:solidFill>
                                      <a:latin typeface="Cambria Math" panose="02040503050406030204" pitchFamily="18" charset="0"/>
                                    </a:rPr>
                                    <m:t>1</m:t>
                                  </m:r>
                                </m:sub>
                              </m:sSub>
                            </m:e>
                            <m:e>
                              <m:r>
                                <a:rPr lang="en-US" sz="2000" i="1">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𝑥</m:t>
                                  </m:r>
                                </m:e>
                                <m:sub>
                                  <m:r>
                                    <a:rPr lang="en-US" sz="2000" b="0" i="1" smtClean="0">
                                      <a:solidFill>
                                        <a:srgbClr val="9900CC"/>
                                      </a:solidFill>
                                      <a:latin typeface="Cambria Math" panose="02040503050406030204" pitchFamily="18" charset="0"/>
                                    </a:rPr>
                                    <m:t>𝑀</m:t>
                                  </m:r>
                                </m:sub>
                              </m:sSub>
                            </m:e>
                          </m:mr>
                        </m:m>
                      </m:e>
                    </m:d>
                    <m:d>
                      <m:dPr>
                        <m:ctrlPr>
                          <a:rPr lang="en-US" sz="2000" i="1">
                            <a:solidFill>
                              <a:srgbClr val="9900CC"/>
                            </a:solidFill>
                            <a:latin typeface="Cambria Math" panose="02040503050406030204" pitchFamily="18" charset="0"/>
                          </a:rPr>
                        </m:ctrlPr>
                      </m:dPr>
                      <m:e>
                        <m:m>
                          <m:mPr>
                            <m:mcs>
                              <m:mc>
                                <m:mcPr>
                                  <m:count m:val="3"/>
                                  <m:mcJc m:val="center"/>
                                </m:mcPr>
                              </m:mc>
                            </m:mcs>
                            <m:ctrlPr>
                              <a:rPr lang="en-US" sz="2000" i="1">
                                <a:solidFill>
                                  <a:srgbClr val="9900CC"/>
                                </a:solidFill>
                                <a:latin typeface="Cambria Math" panose="02040503050406030204" pitchFamily="18" charset="0"/>
                              </a:rPr>
                            </m:ctrlPr>
                          </m:mPr>
                          <m:mr>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i="1">
                                      <a:solidFill>
                                        <a:srgbClr val="9900CC"/>
                                      </a:solidFill>
                                      <a:latin typeface="Cambria Math" panose="02040503050406030204" pitchFamily="18" charset="0"/>
                                    </a:rPr>
                                    <m:t>11</m:t>
                                  </m:r>
                                </m:sub>
                              </m:sSub>
                            </m:e>
                            <m:e>
                              <m:r>
                                <a:rPr lang="en-US" sz="2000" i="1">
                                  <a:solidFill>
                                    <a:srgbClr val="9900CC"/>
                                  </a:solidFill>
                                  <a:latin typeface="Cambria Math" panose="02040503050406030204" pitchFamily="18" charset="0"/>
                                </a:rPr>
                                <m:t>…</m:t>
                              </m:r>
                            </m:e>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i="1">
                                      <a:solidFill>
                                        <a:srgbClr val="9900CC"/>
                                      </a:solidFill>
                                      <a:latin typeface="Cambria Math" panose="02040503050406030204" pitchFamily="18" charset="0"/>
                                    </a:rPr>
                                    <m:t>1</m:t>
                                  </m:r>
                                  <m:r>
                                    <a:rPr lang="en-US" sz="2000" b="0" i="1" smtClean="0">
                                      <a:solidFill>
                                        <a:srgbClr val="9900CC"/>
                                      </a:solidFill>
                                      <a:latin typeface="Cambria Math" panose="02040503050406030204" pitchFamily="18" charset="0"/>
                                    </a:rPr>
                                    <m:t>𝑁</m:t>
                                  </m:r>
                                </m:sub>
                              </m:sSub>
                            </m:e>
                          </m:mr>
                          <m:mr>
                            <m:e>
                              <m:r>
                                <a:rPr lang="en-US" sz="2000" i="1">
                                  <a:solidFill>
                                    <a:srgbClr val="9900CC"/>
                                  </a:solidFill>
                                  <a:latin typeface="Cambria Math" panose="02040503050406030204" pitchFamily="18" charset="0"/>
                                </a:rPr>
                                <m:t>⋮</m:t>
                              </m:r>
                            </m:e>
                            <m:e>
                              <m:r>
                                <a:rPr lang="en-US" sz="2000" i="1">
                                  <a:solidFill>
                                    <a:srgbClr val="9900CC"/>
                                  </a:solidFill>
                                  <a:latin typeface="Cambria Math" panose="02040503050406030204" pitchFamily="18" charset="0"/>
                                </a:rPr>
                                <m:t>⋱</m:t>
                              </m:r>
                            </m:e>
                            <m:e>
                              <m:r>
                                <a:rPr lang="en-US" sz="2000" i="1">
                                  <a:solidFill>
                                    <a:srgbClr val="9900CC"/>
                                  </a:solidFill>
                                  <a:latin typeface="Cambria Math" panose="02040503050406030204" pitchFamily="18" charset="0"/>
                                </a:rPr>
                                <m:t>⋮</m:t>
                              </m:r>
                            </m:e>
                          </m:mr>
                          <m:mr>
                            <m:e>
                              <m:sSub>
                                <m:sSubPr>
                                  <m:ctrlPr>
                                    <a:rPr lang="en-US" sz="2000" i="1">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b="0" i="1" smtClean="0">
                                      <a:solidFill>
                                        <a:srgbClr val="9900CC"/>
                                      </a:solidFill>
                                      <a:latin typeface="Cambria Math" panose="02040503050406030204" pitchFamily="18" charset="0"/>
                                    </a:rPr>
                                    <m:t>𝑀</m:t>
                                  </m:r>
                                  <m:r>
                                    <a:rPr lang="en-US" sz="2000" i="1">
                                      <a:solidFill>
                                        <a:srgbClr val="9900CC"/>
                                      </a:solidFill>
                                      <a:latin typeface="Cambria Math" panose="02040503050406030204" pitchFamily="18" charset="0"/>
                                    </a:rPr>
                                    <m:t>1</m:t>
                                  </m:r>
                                </m:sub>
                              </m:sSub>
                            </m:e>
                            <m:e>
                              <m:r>
                                <a:rPr lang="en-US" sz="2000" i="1">
                                  <a:solidFill>
                                    <a:srgbClr val="9900CC"/>
                                  </a:solidFill>
                                  <a:latin typeface="Cambria Math" panose="02040503050406030204" pitchFamily="18" charset="0"/>
                                </a:rPr>
                                <m:t>…</m:t>
                              </m:r>
                            </m:e>
                            <m:e>
                              <m:sSub>
                                <m:sSubPr>
                                  <m:ctrlPr>
                                    <a:rPr lang="en-US" sz="2000" i="1" smtClean="0">
                                      <a:solidFill>
                                        <a:srgbClr val="9900CC"/>
                                      </a:solidFill>
                                      <a:latin typeface="Cambria Math" panose="02040503050406030204" pitchFamily="18" charset="0"/>
                                    </a:rPr>
                                  </m:ctrlPr>
                                </m:sSubPr>
                                <m:e>
                                  <m:r>
                                    <a:rPr lang="en-US" sz="2000" i="1">
                                      <a:solidFill>
                                        <a:srgbClr val="9900CC"/>
                                      </a:solidFill>
                                      <a:latin typeface="Cambria Math" panose="02040503050406030204" pitchFamily="18" charset="0"/>
                                    </a:rPr>
                                    <m:t>𝑊</m:t>
                                  </m:r>
                                </m:e>
                                <m:sub>
                                  <m:r>
                                    <a:rPr lang="en-US" sz="2000" b="0" i="1" smtClean="0">
                                      <a:solidFill>
                                        <a:srgbClr val="9900CC"/>
                                      </a:solidFill>
                                      <a:latin typeface="Cambria Math" panose="02040503050406030204" pitchFamily="18" charset="0"/>
                                    </a:rPr>
                                    <m:t>𝑀𝑁</m:t>
                                  </m:r>
                                </m:sub>
                              </m:sSub>
                            </m:e>
                          </m:mr>
                        </m:m>
                      </m:e>
                    </m:d>
                  </m:oMath>
                </a14:m>
                <a:endParaRPr lang="en-US" dirty="0">
                  <a:solidFill>
                    <a:srgbClr val="9900CC"/>
                  </a:solidFill>
                </a:endParaRPr>
              </a:p>
              <a:p>
                <a:r>
                  <a:rPr lang="en-US" dirty="0"/>
                  <a:t>Want:</a:t>
                </a:r>
                <a:r>
                  <a:rPr lang="en-US" dirty="0">
                    <a:solidFill>
                      <a:srgbClr val="9900CC"/>
                    </a:solidFill>
                  </a:rPr>
                  <a:t>   </a:t>
                </a:r>
                <a14:m>
                  <m:oMath xmlns:m="http://schemas.openxmlformats.org/officeDocument/2006/math">
                    <m:f>
                      <m:fPr>
                        <m:ctrlPr>
                          <a:rPr lang="en-US" sz="3600" i="1" smtClean="0">
                            <a:solidFill>
                              <a:srgbClr val="FF0000"/>
                            </a:solidFill>
                            <a:latin typeface="Cambria Math" panose="02040503050406030204" pitchFamily="18" charset="0"/>
                          </a:rPr>
                        </m:ctrlPr>
                      </m:fPr>
                      <m:num>
                        <m:r>
                          <a:rPr lang="en-US" sz="3600" i="1">
                            <a:solidFill>
                              <a:srgbClr val="FF0000"/>
                            </a:solidFill>
                            <a:latin typeface="Cambria Math" panose="02040503050406030204" pitchFamily="18" charset="0"/>
                          </a:rPr>
                          <m:t>𝜕</m:t>
                        </m:r>
                        <m:r>
                          <a:rPr lang="en-US" sz="3600" i="1">
                            <a:solidFill>
                              <a:srgbClr val="FF0000"/>
                            </a:solidFill>
                            <a:latin typeface="Cambria Math" panose="02040503050406030204" pitchFamily="18" charset="0"/>
                          </a:rPr>
                          <m:t>𝑒</m:t>
                        </m:r>
                      </m:num>
                      <m:den>
                        <m:r>
                          <a:rPr lang="en-US" sz="3600" i="1">
                            <a:solidFill>
                              <a:srgbClr val="FF0000"/>
                            </a:solidFill>
                            <a:latin typeface="Cambria Math" panose="02040503050406030204" pitchFamily="18" charset="0"/>
                          </a:rPr>
                          <m:t>𝜕</m:t>
                        </m:r>
                        <m:r>
                          <a:rPr lang="en-US" sz="3600" b="0" i="1" smtClean="0">
                            <a:solidFill>
                              <a:srgbClr val="FF0000"/>
                            </a:solidFill>
                            <a:latin typeface="Cambria Math" panose="02040503050406030204" pitchFamily="18" charset="0"/>
                          </a:rPr>
                          <m:t>𝑊</m:t>
                        </m:r>
                      </m:den>
                    </m:f>
                    <m:r>
                      <a:rPr lang="en-US" sz="3600" b="0" i="1" smtClean="0">
                        <a:solidFill>
                          <a:srgbClr val="FF0000"/>
                        </a:solidFill>
                        <a:latin typeface="Cambria Math" panose="02040503050406030204" pitchFamily="18" charset="0"/>
                      </a:rPr>
                      <m:t> </m:t>
                    </m:r>
                    <m:r>
                      <a:rPr lang="en-US" sz="3600" i="1">
                        <a:solidFill>
                          <a:srgbClr val="C00000"/>
                        </a:solidFill>
                        <a:latin typeface="Cambria Math" panose="02040503050406030204" pitchFamily="18" charset="0"/>
                      </a:rPr>
                      <m:t>=</m:t>
                    </m:r>
                    <m:r>
                      <a:rPr lang="en-US" sz="3600" b="0" i="1" smtClean="0">
                        <a:solidFill>
                          <a:srgbClr val="C00000"/>
                        </a:solidFill>
                        <a:latin typeface="Cambria Math" panose="02040503050406030204" pitchFamily="18" charset="0"/>
                      </a:rPr>
                      <m:t> </m:t>
                    </m:r>
                    <m:f>
                      <m:fPr>
                        <m:ctrlPr>
                          <a:rPr lang="en-US" sz="3600" i="1">
                            <a:solidFill>
                              <a:srgbClr val="C00000"/>
                            </a:solidFill>
                            <a:latin typeface="Cambria Math" panose="02040503050406030204" pitchFamily="18" charset="0"/>
                          </a:rPr>
                        </m:ctrlPr>
                      </m:fPr>
                      <m:num>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𝑒</m:t>
                        </m:r>
                      </m:num>
                      <m:den>
                        <m:r>
                          <a:rPr lang="en-US" sz="3600" i="1">
                            <a:solidFill>
                              <a:srgbClr val="C00000"/>
                            </a:solidFill>
                            <a:latin typeface="Cambria Math" panose="02040503050406030204" pitchFamily="18" charset="0"/>
                          </a:rPr>
                          <m:t>𝜕</m:t>
                        </m:r>
                        <m:r>
                          <a:rPr lang="en-US" sz="3600" i="1">
                            <a:solidFill>
                              <a:srgbClr val="C00000"/>
                            </a:solidFill>
                            <a:latin typeface="Cambria Math" panose="02040503050406030204" pitchFamily="18" charset="0"/>
                          </a:rPr>
                          <m:t>𝑧</m:t>
                        </m:r>
                      </m:den>
                    </m:f>
                    <m:r>
                      <a:rPr lang="en-US" sz="3600" b="0" i="1" smtClean="0">
                        <a:solidFill>
                          <a:srgbClr val="C00000"/>
                        </a:solidFill>
                        <a:latin typeface="Cambria Math" panose="02040503050406030204" pitchFamily="18" charset="0"/>
                      </a:rPr>
                      <m:t>  </m:t>
                    </m:r>
                    <m:f>
                      <m:fPr>
                        <m:ctrlPr>
                          <a:rPr lang="en-US" sz="3600" i="1">
                            <a:solidFill>
                              <a:srgbClr val="9900CC"/>
                            </a:solidFill>
                            <a:latin typeface="Cambria Math" panose="02040503050406030204" pitchFamily="18" charset="0"/>
                          </a:rPr>
                        </m:ctrlPr>
                      </m:fPr>
                      <m:num>
                        <m:r>
                          <a:rPr lang="en-US" sz="3600" i="1">
                            <a:solidFill>
                              <a:srgbClr val="9900CC"/>
                            </a:solidFill>
                            <a:latin typeface="Cambria Math" panose="02040503050406030204" pitchFamily="18" charset="0"/>
                          </a:rPr>
                          <m:t>𝜕</m:t>
                        </m:r>
                        <m:r>
                          <a:rPr lang="en-US" sz="3600" i="1">
                            <a:solidFill>
                              <a:srgbClr val="9900CC"/>
                            </a:solidFill>
                            <a:latin typeface="Cambria Math" panose="02040503050406030204" pitchFamily="18" charset="0"/>
                          </a:rPr>
                          <m:t>𝑧</m:t>
                        </m:r>
                      </m:num>
                      <m:den>
                        <m:r>
                          <a:rPr lang="en-US" sz="3600" i="1">
                            <a:solidFill>
                              <a:srgbClr val="9900CC"/>
                            </a:solidFill>
                            <a:latin typeface="Cambria Math" panose="02040503050406030204" pitchFamily="18" charset="0"/>
                          </a:rPr>
                          <m:t>𝜕</m:t>
                        </m:r>
                        <m:r>
                          <a:rPr lang="en-US" sz="3600" b="0" i="1" smtClean="0">
                            <a:solidFill>
                              <a:srgbClr val="9900CC"/>
                            </a:solidFill>
                            <a:latin typeface="Cambria Math" panose="02040503050406030204" pitchFamily="18" charset="0"/>
                          </a:rPr>
                          <m:t>𝑊</m:t>
                        </m:r>
                      </m:den>
                    </m:f>
                  </m:oMath>
                </a14:m>
                <a:endParaRPr lang="en-US" sz="3600" i="1" dirty="0">
                  <a:solidFill>
                    <a:srgbClr val="9900CC"/>
                  </a:solidFill>
                  <a:latin typeface="Cambria Math" panose="02040503050406030204" pitchFamily="18" charset="0"/>
                </a:endParaRPr>
              </a:p>
              <a:p>
                <a:endParaRPr lang="en-US" sz="3600" i="1" dirty="0">
                  <a:solidFill>
                    <a:srgbClr val="9900CC"/>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f>
                        <m:fPr>
                          <m:ctrlPr>
                            <a:rPr lang="en-US" i="1" smtClean="0">
                              <a:solidFill>
                                <a:srgbClr val="9900CC"/>
                              </a:solidFill>
                              <a:latin typeface="Cambria Math" panose="02040503050406030204" pitchFamily="18" charset="0"/>
                            </a:rPr>
                          </m:ctrlPr>
                        </m:fPr>
                        <m:num>
                          <m:r>
                            <a:rPr lang="en-US" i="1" smtClean="0">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𝑘</m:t>
                              </m:r>
                            </m:sub>
                          </m:sSub>
                        </m:num>
                        <m:den>
                          <m:r>
                            <a:rPr lang="en-US" i="1" smtClean="0">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𝑊</m:t>
                              </m:r>
                            </m:e>
                            <m:sub>
                              <m:r>
                                <a:rPr lang="en-US" b="0" i="1" smtClean="0">
                                  <a:solidFill>
                                    <a:srgbClr val="9900CC"/>
                                  </a:solidFill>
                                  <a:latin typeface="Cambria Math" panose="02040503050406030204" pitchFamily="18" charset="0"/>
                                </a:rPr>
                                <m:t>𝑖𝑗</m:t>
                              </m:r>
                            </m:sub>
                          </m:sSub>
                        </m:den>
                      </m:f>
                      <m:r>
                        <a:rPr lang="en-US" b="0" i="1" smtClean="0">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smtClean="0">
                              <a:solidFill>
                                <a:srgbClr val="9900CC"/>
                              </a:solidFill>
                              <a:latin typeface="Cambria Math" panose="02040503050406030204" pitchFamily="18" charset="0"/>
                              <a:ea typeface="Cambria Math" panose="02040503050406030204" pitchFamily="18" charset="0"/>
                            </a:rPr>
                            <m:t>𝕀</m:t>
                          </m:r>
                          <m:r>
                            <a:rPr lang="en-US" b="0" i="1" smtClean="0">
                              <a:solidFill>
                                <a:srgbClr val="9900CC"/>
                              </a:solidFill>
                              <a:latin typeface="Cambria Math" panose="02040503050406030204" pitchFamily="18" charset="0"/>
                              <a:ea typeface="Cambria Math" panose="02040503050406030204" pitchFamily="18" charset="0"/>
                            </a:rPr>
                            <m:t>[</m:t>
                          </m:r>
                          <m:r>
                            <a:rPr lang="en-US" b="0" i="1" smtClean="0">
                              <a:solidFill>
                                <a:srgbClr val="9900CC"/>
                              </a:solidFill>
                              <a:latin typeface="Cambria Math" panose="02040503050406030204" pitchFamily="18" charset="0"/>
                              <a:ea typeface="Cambria Math" panose="02040503050406030204" pitchFamily="18" charset="0"/>
                            </a:rPr>
                            <m:t>𝑘</m:t>
                          </m:r>
                          <m:r>
                            <a:rPr lang="en-US" b="0" i="1" smtClean="0">
                              <a:solidFill>
                                <a:srgbClr val="9900CC"/>
                              </a:solidFill>
                              <a:latin typeface="Cambria Math" panose="02040503050406030204" pitchFamily="18" charset="0"/>
                              <a:ea typeface="Cambria Math" panose="02040503050406030204" pitchFamily="18" charset="0"/>
                            </a:rPr>
                            <m:t>=</m:t>
                          </m:r>
                          <m:r>
                            <a:rPr lang="en-US" b="0" i="1" smtClean="0">
                              <a:solidFill>
                                <a:srgbClr val="9900CC"/>
                              </a:solidFill>
                              <a:latin typeface="Cambria Math" panose="02040503050406030204" pitchFamily="18" charset="0"/>
                              <a:ea typeface="Cambria Math" panose="02040503050406030204" pitchFamily="18" charset="0"/>
                            </a:rPr>
                            <m:t>𝑗</m:t>
                          </m:r>
                          <m:r>
                            <a:rPr lang="en-US" b="0" i="1" smtClean="0">
                              <a:solidFill>
                                <a:srgbClr val="9900CC"/>
                              </a:solidFill>
                              <a:latin typeface="Cambria Math" panose="02040503050406030204" pitchFamily="18" charset="0"/>
                              <a:ea typeface="Cambria Math" panose="02040503050406030204" pitchFamily="18" charset="0"/>
                            </a:rPr>
                            <m:t>]</m:t>
                          </m:r>
                          <m:r>
                            <a:rPr lang="en-US" i="1">
                              <a:solidFill>
                                <a:srgbClr val="9900CC"/>
                              </a:solidFill>
                              <a:latin typeface="Cambria Math" panose="02040503050406030204" pitchFamily="18" charset="0"/>
                            </a:rPr>
                            <m:t>𝑥</m:t>
                          </m:r>
                        </m:e>
                        <m:sub>
                          <m:r>
                            <a:rPr lang="en-US" b="0" i="1" smtClean="0">
                              <a:solidFill>
                                <a:srgbClr val="9900CC"/>
                              </a:solidFill>
                              <a:latin typeface="Cambria Math" panose="02040503050406030204" pitchFamily="18" charset="0"/>
                            </a:rPr>
                            <m:t>𝑖</m:t>
                          </m:r>
                        </m:sub>
                      </m:sSub>
                    </m:oMath>
                  </m:oMathPara>
                </a14:m>
                <a:endParaRPr lang="en-US" dirty="0">
                  <a:solidFill>
                    <a:srgbClr val="9900CC"/>
                  </a:solidFill>
                </a:endParaRPr>
              </a:p>
              <a:p>
                <a14:m>
                  <m:oMathPara xmlns:m="http://schemas.openxmlformats.org/officeDocument/2006/math">
                    <m:oMathParaPr>
                      <m:jc m:val="centerGroup"/>
                    </m:oMathParaPr>
                    <m:oMath xmlns:m="http://schemas.openxmlformats.org/officeDocument/2006/math">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𝑒</m:t>
                          </m:r>
                        </m:num>
                        <m:den>
                          <m:r>
                            <a:rPr lang="en-US" i="1">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𝑊</m:t>
                              </m:r>
                            </m:e>
                            <m:sub>
                              <m:r>
                                <a:rPr lang="en-US" b="0" i="1" smtClean="0">
                                  <a:solidFill>
                                    <a:srgbClr val="FF0000"/>
                                  </a:solidFill>
                                  <a:latin typeface="Cambria Math" panose="02040503050406030204" pitchFamily="18" charset="0"/>
                                </a:rPr>
                                <m:t>𝑖𝑗</m:t>
                              </m:r>
                            </m:sub>
                          </m:sSub>
                        </m:den>
                      </m:f>
                      <m:r>
                        <a:rPr lang="en-US" i="1" smtClean="0">
                          <a:solidFill>
                            <a:srgbClr val="C00000"/>
                          </a:solidFill>
                          <a:latin typeface="Cambria Math" panose="02040503050406030204" pitchFamily="18" charset="0"/>
                        </a:rPr>
                        <m:t>=</m:t>
                      </m:r>
                      <m:nary>
                        <m:naryPr>
                          <m:chr m:val="∑"/>
                          <m:ctrlPr>
                            <a:rPr lang="en-US" i="1" smtClean="0">
                              <a:solidFill>
                                <a:srgbClr val="C00000"/>
                              </a:solidFill>
                              <a:latin typeface="Cambria Math" panose="02040503050406030204" pitchFamily="18" charset="0"/>
                            </a:rPr>
                          </m:ctrlPr>
                        </m:naryPr>
                        <m:sub>
                          <m:r>
                            <m:rPr>
                              <m:brk m:alnAt="23"/>
                            </m:rPr>
                            <a:rPr lang="en-US" b="0" i="1" smtClean="0">
                              <a:solidFill>
                                <a:srgbClr val="C00000"/>
                              </a:solidFill>
                              <a:latin typeface="Cambria Math" panose="02040503050406030204" pitchFamily="18" charset="0"/>
                            </a:rPr>
                            <m:t>𝑘</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1</m:t>
                          </m:r>
                        </m:sub>
                        <m:sup>
                          <m:r>
                            <a:rPr lang="en-US" i="1" smtClean="0">
                              <a:solidFill>
                                <a:srgbClr val="C00000"/>
                              </a:solidFill>
                              <a:latin typeface="Cambria Math" panose="02040503050406030204" pitchFamily="18" charset="0"/>
                            </a:rPr>
                            <m:t>𝑁</m:t>
                          </m:r>
                        </m:sup>
                        <m:e>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𝑧</m:t>
                                  </m:r>
                                </m:e>
                                <m:sub>
                                  <m:r>
                                    <a:rPr lang="en-US" b="0" i="1" smtClean="0">
                                      <a:solidFill>
                                        <a:srgbClr val="C00000"/>
                                      </a:solidFill>
                                      <a:latin typeface="Cambria Math" panose="02040503050406030204" pitchFamily="18" charset="0"/>
                                    </a:rPr>
                                    <m:t>𝑘</m:t>
                                  </m:r>
                                </m:sub>
                              </m:sSub>
                            </m:den>
                          </m:f>
                          <m:f>
                            <m:fPr>
                              <m:ctrlPr>
                                <a:rPr lang="en-US" i="1" smtClean="0">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sSub>
                                <m:sSubPr>
                                  <m:ctrlPr>
                                    <a:rPr lang="en-US" i="1" smtClean="0">
                                      <a:solidFill>
                                        <a:srgbClr val="9900CC"/>
                                      </a:solidFill>
                                      <a:latin typeface="Cambria Math" panose="02040503050406030204" pitchFamily="18" charset="0"/>
                                    </a:rPr>
                                  </m:ctrlPr>
                                </m:sSubPr>
                                <m:e>
                                  <m:r>
                                    <a:rPr lang="en-US" b="0" i="1" smtClean="0">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𝑘</m:t>
                                  </m:r>
                                </m:sub>
                              </m:sSub>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𝑊</m:t>
                                  </m:r>
                                </m:e>
                                <m:sub>
                                  <m:r>
                                    <a:rPr lang="en-US" i="1">
                                      <a:solidFill>
                                        <a:srgbClr val="9900CC"/>
                                      </a:solidFill>
                                      <a:latin typeface="Cambria Math" panose="02040503050406030204" pitchFamily="18" charset="0"/>
                                    </a:rPr>
                                    <m:t>𝑖𝑗</m:t>
                                  </m:r>
                                </m:sub>
                              </m:sSub>
                            </m:den>
                          </m:f>
                        </m:e>
                      </m:nary>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𝑧</m:t>
                              </m:r>
                            </m:e>
                            <m:sub>
                              <m:r>
                                <a:rPr lang="en-US" b="0" i="1" smtClean="0">
                                  <a:solidFill>
                                    <a:srgbClr val="C00000"/>
                                  </a:solidFill>
                                  <a:latin typeface="Cambria Math" panose="02040503050406030204" pitchFamily="18" charset="0"/>
                                </a:rPr>
                                <m:t>𝑗</m:t>
                              </m:r>
                            </m:sub>
                          </m:sSub>
                        </m:den>
                      </m:f>
                      <m:f>
                        <m:fPr>
                          <m:ctrlPr>
                            <a:rPr lang="en-US" i="1">
                              <a:solidFill>
                                <a:srgbClr val="9900CC"/>
                              </a:solidFill>
                              <a:latin typeface="Cambria Math" panose="02040503050406030204" pitchFamily="18" charset="0"/>
                            </a:rPr>
                          </m:ctrlPr>
                        </m:fPr>
                        <m:num>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𝑗</m:t>
                              </m:r>
                            </m:sub>
                          </m:sSub>
                        </m:num>
                        <m:den>
                          <m:r>
                            <a:rPr lang="en-US" i="1">
                              <a:solidFill>
                                <a:srgbClr val="9900CC"/>
                              </a:solidFill>
                              <a:latin typeface="Cambria Math" panose="02040503050406030204" pitchFamily="18" charset="0"/>
                            </a:rPr>
                            <m:t>𝜕</m:t>
                          </m:r>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𝑊</m:t>
                              </m:r>
                            </m:e>
                            <m:sub>
                              <m:r>
                                <a:rPr lang="en-US" i="1">
                                  <a:solidFill>
                                    <a:srgbClr val="9900CC"/>
                                  </a:solidFill>
                                  <a:latin typeface="Cambria Math" panose="02040503050406030204" pitchFamily="18" charset="0"/>
                                </a:rPr>
                                <m:t>𝑖𝑗</m:t>
                              </m:r>
                            </m:sub>
                          </m:sSub>
                        </m:den>
                      </m:f>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𝑒</m:t>
                          </m:r>
                        </m:num>
                        <m:den>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𝑧</m:t>
                              </m:r>
                            </m:e>
                            <m:sub>
                              <m:r>
                                <a:rPr lang="en-US" i="1">
                                  <a:solidFill>
                                    <a:srgbClr val="C00000"/>
                                  </a:solidFill>
                                  <a:latin typeface="Cambria Math" panose="02040503050406030204" pitchFamily="18" charset="0"/>
                                </a:rPr>
                                <m:t>𝑗</m:t>
                              </m:r>
                            </m:sub>
                          </m:sSub>
                        </m:den>
                      </m:f>
                      <m:sSub>
                        <m:sSubPr>
                          <m:ctrlPr>
                            <a:rPr lang="en-US" i="1" smtClean="0">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𝑥</m:t>
                          </m:r>
                        </m:e>
                        <m:sub>
                          <m:r>
                            <a:rPr lang="en-US" i="1">
                              <a:solidFill>
                                <a:srgbClr val="9900CC"/>
                              </a:solidFill>
                              <a:latin typeface="Cambria Math" panose="02040503050406030204" pitchFamily="18" charset="0"/>
                            </a:rPr>
                            <m:t>𝑖</m:t>
                          </m:r>
                        </m:sub>
                      </m:sSub>
                    </m:oMath>
                  </m:oMathPara>
                </a14:m>
                <a:endParaRPr lang="en-US" dirty="0"/>
              </a:p>
              <a:p>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𝑒</m:t>
                          </m:r>
                        </m:num>
                        <m:den>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𝑊</m:t>
                          </m:r>
                        </m:den>
                      </m:f>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𝑥</m:t>
                          </m:r>
                        </m:e>
                        <m:sup>
                          <m:r>
                            <a:rPr lang="en-US" b="0" i="1" smtClean="0">
                              <a:solidFill>
                                <a:srgbClr val="C00000"/>
                              </a:solidFill>
                              <a:latin typeface="Cambria Math" panose="02040503050406030204" pitchFamily="18" charset="0"/>
                            </a:rPr>
                            <m:t>𝑇</m:t>
                          </m:r>
                        </m:sup>
                      </m:sSup>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𝑒</m:t>
                          </m:r>
                        </m:num>
                        <m:den>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den>
                      </m:f>
                    </m:oMath>
                  </m:oMathPara>
                </a14:m>
                <a:endParaRPr lang="en-US" dirty="0">
                  <a:solidFill>
                    <a:srgbClr val="9900CC"/>
                  </a:solidFill>
                </a:endParaRPr>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81000" y="914400"/>
                <a:ext cx="8458200" cy="6019800"/>
              </a:xfr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6172200" y="3436203"/>
                <a:ext cx="2819400" cy="830997"/>
              </a:xfrm>
              <a:prstGeom prst="rect">
                <a:avLst/>
              </a:prstGeom>
              <a:noFill/>
            </p:spPr>
            <p:txBody>
              <a:bodyPr wrap="square" rtlCol="0">
                <a:spAutoFit/>
              </a:bodyPr>
              <a:lstStyle/>
              <a:p>
                <a:pPr algn="ctr"/>
                <a14:m>
                  <m:oMath xmlns:m="http://schemas.openxmlformats.org/officeDocument/2006/math">
                    <m:sSub>
                      <m:sSubPr>
                        <m:ctrlPr>
                          <a:rPr lang="en-US" i="1" smtClean="0">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𝑧</m:t>
                        </m:r>
                      </m:e>
                      <m:sub>
                        <m:r>
                          <a:rPr lang="en-US" b="0" i="1" smtClean="0">
                            <a:solidFill>
                              <a:srgbClr val="9900CC"/>
                            </a:solidFill>
                            <a:latin typeface="Cambria Math" panose="02040503050406030204" pitchFamily="18" charset="0"/>
                          </a:rPr>
                          <m:t>𝑘</m:t>
                        </m:r>
                      </m:sub>
                    </m:sSub>
                  </m:oMath>
                </a14:m>
                <a:r>
                  <a:rPr lang="en-US" b="0" dirty="0"/>
                  <a:t> depends only on </a:t>
                </a:r>
                <a14:m>
                  <m:oMath xmlns:m="http://schemas.openxmlformats.org/officeDocument/2006/math">
                    <m:r>
                      <a:rPr lang="en-US" b="0" i="1" smtClean="0">
                        <a:solidFill>
                          <a:srgbClr val="9900CC"/>
                        </a:solidFill>
                        <a:latin typeface="Cambria Math" panose="02040503050406030204" pitchFamily="18" charset="0"/>
                      </a:rPr>
                      <m:t>𝑘</m:t>
                    </m:r>
                  </m:oMath>
                </a14:m>
                <a:r>
                  <a:rPr lang="en-US" b="0" dirty="0" err="1"/>
                  <a:t>th</a:t>
                </a:r>
                <a:r>
                  <a:rPr lang="en-US" b="0" dirty="0"/>
                  <a:t> column of </a:t>
                </a:r>
                <a14:m>
                  <m:oMath xmlns:m="http://schemas.openxmlformats.org/officeDocument/2006/math">
                    <m:r>
                      <a:rPr lang="en-US" i="1">
                        <a:solidFill>
                          <a:srgbClr val="9900CC"/>
                        </a:solidFill>
                        <a:latin typeface="Cambria Math" panose="02040503050406030204" pitchFamily="18" charset="0"/>
                      </a:rPr>
                      <m:t>𝑊</m:t>
                    </m:r>
                  </m:oMath>
                </a14:m>
                <a:endParaRPr lang="en-US" b="0" dirty="0"/>
              </a:p>
            </p:txBody>
          </p:sp>
        </mc:Choice>
        <mc:Fallback>
          <p:sp>
            <p:nvSpPr>
              <p:cNvPr id="4" name="TextBox 3"/>
              <p:cNvSpPr txBox="1">
                <a:spLocks noRot="1" noChangeAspect="1" noMove="1" noResize="1" noEditPoints="1" noAdjustHandles="1" noChangeArrowheads="1" noChangeShapeType="1" noTextEdit="1"/>
              </p:cNvSpPr>
              <p:nvPr/>
            </p:nvSpPr>
            <p:spPr>
              <a:xfrm>
                <a:off x="6172200" y="3436203"/>
                <a:ext cx="2819400" cy="830997"/>
              </a:xfrm>
              <a:prstGeom prst="rect">
                <a:avLst/>
              </a:prstGeom>
              <a:blipFill rotWithShape="1">
                <a:blip r:embed="rId2"/>
                <a:stretch>
                  <a:fillRect t="-26" b="-86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1536218" y="2971800"/>
                <a:ext cx="79066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𝑀</m:t>
                      </m:r>
                      <m:r>
                        <a:rPr lang="en-US" sz="1800" b="0" i="1">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ea typeface="Cambria Math" panose="02040503050406030204" pitchFamily="18" charset="0"/>
                        </a:rPr>
                        <m:t>𝑁</m:t>
                      </m:r>
                    </m:oMath>
                  </m:oMathPara>
                </a14:m>
                <a:endParaRPr lang="en-US" sz="1800" dirty="0">
                  <a:solidFill>
                    <a:srgbClr val="FF0000"/>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1536218" y="2971800"/>
                <a:ext cx="790665" cy="369332"/>
              </a:xfrm>
              <a:prstGeom prst="rect">
                <a:avLst/>
              </a:prstGeom>
              <a:blipFill rotWithShape="1">
                <a:blip r:embed="rId3"/>
                <a:stretch>
                  <a:fillRect l="-19" r="31"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2865307" y="2977166"/>
                <a:ext cx="716093" cy="369332"/>
              </a:xfrm>
              <a:prstGeom prst="rect">
                <a:avLst/>
              </a:prstGeom>
            </p:spPr>
            <p:txBody>
              <a:bodyPr wrap="none">
                <a:spAutoFit/>
              </a:bodyPr>
              <a:lstStyle/>
              <a:p>
                <a14:m>
                  <m:oMath xmlns:m="http://schemas.openxmlformats.org/officeDocument/2006/math">
                    <m:r>
                      <a:rPr lang="en-US" sz="1800" b="0" i="1" smtClean="0">
                        <a:solidFill>
                          <a:srgbClr val="C00000"/>
                        </a:solidFill>
                        <a:latin typeface="Cambria Math" panose="02040503050406030204" pitchFamily="18" charset="0"/>
                      </a:rPr>
                      <m:t>1</m:t>
                    </m:r>
                    <m:r>
                      <a:rPr lang="en-US" sz="1800" b="0" i="1">
                        <a:solidFill>
                          <a:srgbClr val="C00000"/>
                        </a:solidFill>
                        <a:latin typeface="Cambria Math" panose="02040503050406030204" pitchFamily="18" charset="0"/>
                        <a:ea typeface="Cambria Math" panose="02040503050406030204" pitchFamily="18" charset="0"/>
                      </a:rPr>
                      <m:t>×</m:t>
                    </m:r>
                    <m:r>
                      <a:rPr lang="en-US" sz="1800" b="0" i="1" smtClean="0">
                        <a:solidFill>
                          <a:srgbClr val="C00000"/>
                        </a:solidFill>
                        <a:latin typeface="Cambria Math" panose="02040503050406030204" pitchFamily="18" charset="0"/>
                        <a:ea typeface="Cambria Math" panose="02040503050406030204" pitchFamily="18" charset="0"/>
                      </a:rPr>
                      <m:t>𝑁</m:t>
                    </m:r>
                  </m:oMath>
                </a14:m>
                <a:r>
                  <a:rPr lang="en-US" sz="1800" b="0" dirty="0">
                    <a:solidFill>
                      <a:srgbClr val="C00000"/>
                    </a:solidFill>
                  </a:rPr>
                  <a:t> </a:t>
                </a:r>
                <a:endParaRPr lang="en-US" sz="1800" dirty="0">
                  <a:solidFill>
                    <a:srgbClr val="C00000"/>
                  </a:solidFill>
                </a:endParaRPr>
              </a:p>
            </p:txBody>
          </p:sp>
        </mc:Choice>
        <mc:Fallback>
          <p:sp>
            <p:nvSpPr>
              <p:cNvPr id="6" name="Rectangle 5"/>
              <p:cNvSpPr>
                <a:spLocks noRot="1" noChangeAspect="1" noMove="1" noResize="1" noEditPoints="1" noAdjustHandles="1" noChangeArrowheads="1" noChangeShapeType="1" noTextEdit="1"/>
              </p:cNvSpPr>
              <p:nvPr/>
            </p:nvSpPr>
            <p:spPr>
              <a:xfrm>
                <a:off x="2865307" y="2977166"/>
                <a:ext cx="716093" cy="369332"/>
              </a:xfrm>
              <a:prstGeom prst="rect">
                <a:avLst/>
              </a:prstGeom>
              <a:blipFill rotWithShape="1">
                <a:blip r:embed="rId4"/>
                <a:stretch>
                  <a:fillRect l="-26" t="-77" r="-17558"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3402307" y="2977166"/>
                <a:ext cx="132209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1800" b="0" i="1" smtClean="0">
                          <a:solidFill>
                            <a:srgbClr val="9900CC"/>
                          </a:solidFill>
                          <a:latin typeface="Cambria Math" panose="02040503050406030204" pitchFamily="18" charset="0"/>
                        </a:rPr>
                        <m:t>𝑁</m:t>
                      </m:r>
                      <m:r>
                        <a:rPr lang="en-US" sz="1800" b="0" i="1">
                          <a:solidFill>
                            <a:srgbClr val="9900CC"/>
                          </a:solidFill>
                          <a:latin typeface="Cambria Math" panose="02040503050406030204" pitchFamily="18" charset="0"/>
                          <a:ea typeface="Cambria Math" panose="02040503050406030204" pitchFamily="18" charset="0"/>
                        </a:rPr>
                        <m:t>×</m:t>
                      </m:r>
                      <m:r>
                        <a:rPr lang="en-US" sz="1800" b="0" i="1" smtClean="0">
                          <a:solidFill>
                            <a:srgbClr val="9900CC"/>
                          </a:solidFill>
                          <a:latin typeface="Cambria Math" panose="02040503050406030204" pitchFamily="18" charset="0"/>
                          <a:ea typeface="Cambria Math" panose="02040503050406030204" pitchFamily="18" charset="0"/>
                        </a:rPr>
                        <m:t>(</m:t>
                      </m:r>
                      <m:r>
                        <a:rPr lang="en-US" sz="1800" b="0" i="1" smtClean="0">
                          <a:solidFill>
                            <a:srgbClr val="9900CC"/>
                          </a:solidFill>
                          <a:latin typeface="Cambria Math" panose="02040503050406030204" pitchFamily="18" charset="0"/>
                          <a:ea typeface="Cambria Math" panose="02040503050406030204" pitchFamily="18" charset="0"/>
                        </a:rPr>
                        <m:t>𝑀</m:t>
                      </m:r>
                      <m:r>
                        <a:rPr lang="en-US" sz="1800" b="0" i="1">
                          <a:solidFill>
                            <a:srgbClr val="9900CC"/>
                          </a:solidFill>
                          <a:latin typeface="Cambria Math" panose="02040503050406030204" pitchFamily="18" charset="0"/>
                          <a:ea typeface="Cambria Math" panose="02040503050406030204" pitchFamily="18" charset="0"/>
                        </a:rPr>
                        <m:t>×</m:t>
                      </m:r>
                      <m:r>
                        <a:rPr lang="en-US" sz="1800" b="0" i="1" smtClean="0">
                          <a:solidFill>
                            <a:srgbClr val="9900CC"/>
                          </a:solidFill>
                          <a:latin typeface="Cambria Math" panose="02040503050406030204" pitchFamily="18" charset="0"/>
                        </a:rPr>
                        <m:t>𝑁</m:t>
                      </m:r>
                      <m:r>
                        <a:rPr lang="en-US" sz="1800" b="0" i="1" smtClean="0">
                          <a:solidFill>
                            <a:srgbClr val="9900CC"/>
                          </a:solidFill>
                          <a:latin typeface="Cambria Math" panose="02040503050406030204" pitchFamily="18" charset="0"/>
                        </a:rPr>
                        <m:t>)</m:t>
                      </m:r>
                    </m:oMath>
                  </m:oMathPara>
                </a14:m>
                <a:endParaRPr lang="en-US" sz="1800" dirty="0"/>
              </a:p>
            </p:txBody>
          </p:sp>
        </mc:Choice>
        <mc:Fallback>
          <p:sp>
            <p:nvSpPr>
              <p:cNvPr id="7" name="Rectangle 6"/>
              <p:cNvSpPr>
                <a:spLocks noRot="1" noChangeAspect="1" noMove="1" noResize="1" noEditPoints="1" noAdjustHandles="1" noChangeArrowheads="1" noChangeShapeType="1" noTextEdit="1"/>
              </p:cNvSpPr>
              <p:nvPr/>
            </p:nvSpPr>
            <p:spPr>
              <a:xfrm>
                <a:off x="3402307" y="2977166"/>
                <a:ext cx="1322093" cy="369332"/>
              </a:xfrm>
              <a:prstGeom prst="rect">
                <a:avLst/>
              </a:prstGeom>
              <a:blipFill rotWithShape="1">
                <a:blip r:embed="rId5"/>
                <a:stretch>
                  <a:fillRect l="-46" t="-77" r="-6292"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754462" y="838200"/>
                <a:ext cx="2084738" cy="113082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𝑧</m:t>
                          </m:r>
                        </m:e>
                        <m:sub>
                          <m:r>
                            <a:rPr lang="en-US" b="0" i="1">
                              <a:solidFill>
                                <a:srgbClr val="9900CC"/>
                              </a:solidFill>
                              <a:latin typeface="Cambria Math" panose="02040503050406030204" pitchFamily="18" charset="0"/>
                            </a:rPr>
                            <m:t>𝑗</m:t>
                          </m:r>
                        </m:sub>
                      </m:sSub>
                      <m:r>
                        <a:rPr lang="en-US" i="1">
                          <a:solidFill>
                            <a:srgbClr val="9900CC"/>
                          </a:solidFill>
                          <a:latin typeface="Cambria Math" panose="02040503050406030204" pitchFamily="18" charset="0"/>
                        </a:rPr>
                        <m:t>=</m:t>
                      </m:r>
                      <m:nary>
                        <m:naryPr>
                          <m:chr m:val="∑"/>
                          <m:ctrlPr>
                            <a:rPr lang="en-US" i="1">
                              <a:solidFill>
                                <a:srgbClr val="9900CC"/>
                              </a:solidFill>
                              <a:latin typeface="Cambria Math" panose="02040503050406030204" pitchFamily="18" charset="0"/>
                            </a:rPr>
                          </m:ctrlPr>
                        </m:naryPr>
                        <m:sub>
                          <m:r>
                            <a:rPr lang="en-US" b="0" i="1">
                              <a:solidFill>
                                <a:srgbClr val="9900CC"/>
                              </a:solidFill>
                              <a:latin typeface="Cambria Math" panose="02040503050406030204" pitchFamily="18" charset="0"/>
                            </a:rPr>
                            <m:t>𝑖</m:t>
                          </m:r>
                          <m:r>
                            <a:rPr lang="en-US" i="1">
                              <a:solidFill>
                                <a:srgbClr val="9900CC"/>
                              </a:solidFill>
                              <a:latin typeface="Cambria Math" panose="02040503050406030204" pitchFamily="18" charset="0"/>
                            </a:rPr>
                            <m:t>=</m:t>
                          </m:r>
                          <m:r>
                            <a:rPr lang="en-US" i="1">
                              <a:solidFill>
                                <a:srgbClr val="9900CC"/>
                              </a:solidFill>
                              <a:latin typeface="Cambria Math" panose="02040503050406030204" pitchFamily="18" charset="0"/>
                            </a:rPr>
                            <m:t>1</m:t>
                          </m:r>
                        </m:sub>
                        <m:sup>
                          <m:r>
                            <a:rPr lang="en-US" b="0" i="1">
                              <a:solidFill>
                                <a:srgbClr val="9900CC"/>
                              </a:solidFill>
                              <a:latin typeface="Cambria Math" panose="02040503050406030204" pitchFamily="18" charset="0"/>
                            </a:rPr>
                            <m:t>𝑀</m:t>
                          </m:r>
                        </m:sup>
                        <m:e>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𝑥</m:t>
                              </m:r>
                            </m:e>
                            <m:sub>
                              <m:r>
                                <a:rPr lang="en-US" b="0" i="1">
                                  <a:solidFill>
                                    <a:srgbClr val="9900CC"/>
                                  </a:solidFill>
                                  <a:latin typeface="Cambria Math" panose="02040503050406030204" pitchFamily="18" charset="0"/>
                                </a:rPr>
                                <m:t>𝑖</m:t>
                              </m:r>
                            </m:sub>
                          </m:sSub>
                          <m:sSub>
                            <m:sSubPr>
                              <m:ctrlPr>
                                <a:rPr lang="en-US" i="1">
                                  <a:solidFill>
                                    <a:srgbClr val="9900CC"/>
                                  </a:solidFill>
                                  <a:latin typeface="Cambria Math" panose="02040503050406030204" pitchFamily="18" charset="0"/>
                                </a:rPr>
                              </m:ctrlPr>
                            </m:sSubPr>
                            <m:e>
                              <m:r>
                                <a:rPr lang="en-US" i="1">
                                  <a:solidFill>
                                    <a:srgbClr val="9900CC"/>
                                  </a:solidFill>
                                  <a:latin typeface="Cambria Math" panose="02040503050406030204" pitchFamily="18" charset="0"/>
                                </a:rPr>
                                <m:t>𝑊</m:t>
                              </m:r>
                            </m:e>
                            <m:sub>
                              <m:r>
                                <a:rPr lang="en-US" i="1">
                                  <a:solidFill>
                                    <a:srgbClr val="9900CC"/>
                                  </a:solidFill>
                                  <a:latin typeface="Cambria Math" panose="02040503050406030204" pitchFamily="18" charset="0"/>
                                </a:rPr>
                                <m:t>𝑖</m:t>
                              </m:r>
                              <m:r>
                                <a:rPr lang="en-US" b="0" i="1">
                                  <a:solidFill>
                                    <a:srgbClr val="9900CC"/>
                                  </a:solidFill>
                                  <a:latin typeface="Cambria Math" panose="02040503050406030204" pitchFamily="18" charset="0"/>
                                </a:rPr>
                                <m:t>𝑗</m:t>
                              </m:r>
                            </m:sub>
                          </m:sSub>
                        </m:e>
                      </m:nary>
                    </m:oMath>
                  </m:oMathPara>
                </a14:m>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6754462" y="838200"/>
                <a:ext cx="2084738" cy="1130822"/>
              </a:xfrm>
              <a:prstGeom prst="rect">
                <a:avLst/>
              </a:prstGeom>
              <a:blipFill rotWithShape="1">
                <a:blip r:embed="rId6"/>
                <a:stretch>
                  <a:fillRect l="-29" b="46"/>
                </a:stretch>
              </a:blipFill>
            </p:spPr>
            <p:txBody>
              <a:bodyPr/>
              <a:lstStyle/>
              <a:p>
                <a:r>
                  <a:rPr lang="zh-CN" altLang="en-US">
                    <a:noFill/>
                  </a:rPr>
                  <a:t> </a:t>
                </a:r>
              </a:p>
            </p:txBody>
          </p:sp>
        </mc:Fallback>
      </mc:AlternateContent>
      <p:sp>
        <p:nvSpPr>
          <p:cNvPr id="9" name="Rectangle 8"/>
          <p:cNvSpPr/>
          <p:nvPr/>
        </p:nvSpPr>
        <p:spPr bwMode="auto">
          <a:xfrm>
            <a:off x="3628934" y="1981200"/>
            <a:ext cx="714466" cy="926578"/>
          </a:xfrm>
          <a:prstGeom prst="rect">
            <a:avLst/>
          </a:prstGeom>
          <a:noFill/>
          <a:ln w="25400" cap="flat" cmpd="sng" algn="ctr">
            <a:solidFill>
              <a:srgbClr val="9900CC"/>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0" name="Rectangle 9"/>
          <p:cNvSpPr/>
          <p:nvPr/>
        </p:nvSpPr>
        <p:spPr bwMode="auto">
          <a:xfrm>
            <a:off x="4343400" y="3543300"/>
            <a:ext cx="1676400" cy="8763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1" name="Rectangle 10"/>
          <p:cNvSpPr/>
          <p:nvPr/>
        </p:nvSpPr>
        <p:spPr bwMode="auto">
          <a:xfrm>
            <a:off x="2438400" y="4495799"/>
            <a:ext cx="2057400" cy="124535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2" name="Rectangle 11"/>
          <p:cNvSpPr/>
          <p:nvPr/>
        </p:nvSpPr>
        <p:spPr bwMode="auto">
          <a:xfrm>
            <a:off x="4495800" y="4495800"/>
            <a:ext cx="1828800" cy="116915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Rectangle 12"/>
          <p:cNvSpPr/>
          <p:nvPr/>
        </p:nvSpPr>
        <p:spPr bwMode="auto">
          <a:xfrm>
            <a:off x="6324600" y="4572000"/>
            <a:ext cx="2095500" cy="116915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P spid="6" grpId="0"/>
      <p:bldP spid="7" grpId="0"/>
      <p:bldP spid="8" grpId="0"/>
      <p:bldP spid="9" grpId="0" animBg="1"/>
      <p:bldP spid="10" grpId="0" animBg="1"/>
      <p:bldP spid="11" grpId="0" animBg="1"/>
      <p:bldP spid="12"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tips</a:t>
            </a:r>
            <a:endParaRPr lang="en-US" dirty="0"/>
          </a:p>
        </p:txBody>
      </p:sp>
      <p:sp>
        <p:nvSpPr>
          <p:cNvPr id="3" name="Content Placeholder 2"/>
          <p:cNvSpPr>
            <a:spLocks noGrp="1"/>
          </p:cNvSpPr>
          <p:nvPr>
            <p:ph idx="1"/>
          </p:nvPr>
        </p:nvSpPr>
        <p:spPr>
          <a:xfrm>
            <a:off x="609600" y="914400"/>
            <a:ext cx="7924800" cy="5257800"/>
          </a:xfrm>
        </p:spPr>
        <p:txBody>
          <a:bodyPr/>
          <a:lstStyle/>
          <a:p>
            <a:pPr marL="457200" indent="-457200">
              <a:buFont typeface="Arial" panose="020B0604020202090204" pitchFamily="34" charset="0"/>
              <a:buChar char="•"/>
            </a:pPr>
            <a:r>
              <a:rPr lang="en-US" dirty="0"/>
              <a:t>Derive error signal (upstream gradient) directly, avoid explicit computation of huge local derivatives</a:t>
            </a:r>
            <a:endParaRPr lang="en-US" dirty="0"/>
          </a:p>
          <a:p>
            <a:pPr marL="457200" indent="-457200">
              <a:buFont typeface="Arial" panose="020B0604020202090204" pitchFamily="34" charset="0"/>
              <a:buChar char="•"/>
            </a:pPr>
            <a:r>
              <a:rPr lang="en-US" dirty="0"/>
              <a:t>Write out expression for a single element of the Jacobian, then deduce the overall formula</a:t>
            </a:r>
            <a:endParaRPr lang="en-US" dirty="0"/>
          </a:p>
          <a:p>
            <a:pPr marL="457200" indent="-457200">
              <a:buFont typeface="Arial" panose="020B0604020202090204" pitchFamily="34" charset="0"/>
              <a:buChar char="•"/>
            </a:pPr>
            <a:r>
              <a:rPr lang="en-US" dirty="0"/>
              <a:t>Keep consistent indexing conventions, order of operations</a:t>
            </a:r>
            <a:endParaRPr lang="en-US" dirty="0"/>
          </a:p>
          <a:p>
            <a:pPr marL="457200" indent="-457200">
              <a:buFont typeface="Arial" panose="020B0604020202090204" pitchFamily="34" charset="0"/>
              <a:buChar char="•"/>
            </a:pPr>
            <a:endParaRPr lang="en-US" dirty="0"/>
          </a:p>
          <a:p>
            <a:pPr marL="457200" indent="-457200">
              <a:buFont typeface="Arial" panose="020B0604020202090204" pitchFamily="34" charset="0"/>
              <a:buChar char="•"/>
            </a:pPr>
            <a:r>
              <a:rPr lang="en-US" b="1" dirty="0"/>
              <a:t>Useful resource:</a:t>
            </a:r>
            <a:r>
              <a:rPr lang="en-US" dirty="0"/>
              <a:t> see Lecture 4 of </a:t>
            </a:r>
            <a:r>
              <a:rPr lang="en-US" dirty="0">
                <a:hlinkClick r:id="rId1"/>
              </a:rPr>
              <a:t>Stanford 231n</a:t>
            </a:r>
            <a:r>
              <a:rPr lang="en-US" dirty="0"/>
              <a:t> and associated links in the syllabus</a:t>
            </a:r>
            <a:endParaRPr 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r>
              <a:rPr lang="en-US" dirty="0"/>
              <a:t>Next lecture: optimization and regularization</a:t>
            </a:r>
            <a:endParaRPr lang="en-US" dirty="0"/>
          </a:p>
        </p:txBody>
      </p:sp>
      <p:grpSp>
        <p:nvGrpSpPr>
          <p:cNvPr id="272" name="Group 271"/>
          <p:cNvGrpSpPr/>
          <p:nvPr/>
        </p:nvGrpSpPr>
        <p:grpSpPr>
          <a:xfrm>
            <a:off x="1947442" y="3844945"/>
            <a:ext cx="4893120" cy="2284560"/>
            <a:chOff x="1947442" y="3844945"/>
            <a:chExt cx="4893120" cy="2284560"/>
          </a:xfrm>
        </p:grpSpPr>
        <mc:AlternateContent xmlns:mc="http://schemas.openxmlformats.org/markup-compatibility/2006" xmlns:p14="http://schemas.microsoft.com/office/powerpoint/2010/main">
          <mc:Choice Requires="p14">
            <p:contentPart r:id="rId1" p14:bwMode="auto">
              <p14:nvContentPartPr>
                <p14:cNvPr id="42" name="Ink 41"/>
                <p14:cNvContentPartPr/>
                <p14:nvPr/>
              </p14:nvContentPartPr>
              <p14:xfrm>
                <a:off x="6840202" y="3844945"/>
                <a:ext cx="360" cy="360"/>
              </p14:xfrm>
            </p:contentPart>
          </mc:Choice>
          <mc:Fallback xmlns="">
            <p:pic>
              <p:nvPicPr>
                <p:cNvPr id="42" name="Ink 41"/>
              </p:nvPicPr>
              <p:blipFill>
                <a:blip r:embed="rId2"/>
              </p:blipFill>
              <p:spPr>
                <a:xfrm>
                  <a:off x="6840202" y="3844945"/>
                  <a:ext cx="36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32" name="Ink 131"/>
                <p14:cNvContentPartPr/>
                <p14:nvPr/>
              </p14:nvContentPartPr>
              <p14:xfrm>
                <a:off x="5065762" y="6129145"/>
                <a:ext cx="360" cy="360"/>
              </p14:xfrm>
            </p:contentPart>
          </mc:Choice>
          <mc:Fallback xmlns="">
            <p:pic>
              <p:nvPicPr>
                <p:cNvPr id="132" name="Ink 131"/>
              </p:nvPicPr>
              <p:blipFill>
                <a:blip r:embed="rId4"/>
              </p:blipFill>
              <p:spPr>
                <a:xfrm>
                  <a:off x="5065762" y="6129145"/>
                  <a:ext cx="36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1" name="Ink 10"/>
                <p14:cNvContentPartPr/>
                <p14:nvPr/>
              </p14:nvContentPartPr>
              <p14:xfrm>
                <a:off x="3374122" y="4609585"/>
                <a:ext cx="5040" cy="14400"/>
              </p14:xfrm>
            </p:contentPart>
          </mc:Choice>
          <mc:Fallback xmlns="">
            <p:pic>
              <p:nvPicPr>
                <p:cNvPr id="11" name="Ink 10"/>
              </p:nvPicPr>
              <p:blipFill>
                <a:blip r:embed="rId6"/>
              </p:blipFill>
              <p:spPr>
                <a:xfrm>
                  <a:off x="3374122" y="4609585"/>
                  <a:ext cx="5040" cy="144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07" name="Ink 206"/>
                <p14:cNvContentPartPr/>
                <p14:nvPr/>
              </p14:nvContentPartPr>
              <p14:xfrm>
                <a:off x="2538562" y="5552065"/>
                <a:ext cx="360" cy="360"/>
              </p14:xfrm>
            </p:contentPart>
          </mc:Choice>
          <mc:Fallback xmlns="">
            <p:pic>
              <p:nvPicPr>
                <p:cNvPr id="207" name="Ink 206"/>
              </p:nvPicPr>
              <p:blipFill>
                <a:blip r:embed="rId8"/>
              </p:blipFill>
              <p:spPr>
                <a:xfrm>
                  <a:off x="2538562" y="5552065"/>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41" name="Ink 240"/>
                <p14:cNvContentPartPr/>
                <p14:nvPr/>
              </p14:nvContentPartPr>
              <p14:xfrm>
                <a:off x="1947442" y="4514545"/>
                <a:ext cx="360" cy="360"/>
              </p14:xfrm>
            </p:contentPart>
          </mc:Choice>
          <mc:Fallback xmlns="">
            <p:pic>
              <p:nvPicPr>
                <p:cNvPr id="241" name="Ink 240"/>
              </p:nvPicPr>
              <p:blipFill>
                <a:blip r:embed="rId10"/>
              </p:blipFill>
              <p:spPr>
                <a:xfrm>
                  <a:off x="1947442" y="4514545"/>
                  <a:ext cx="360" cy="360"/>
                </a:xfrm>
                <a:prstGeom prst="rect"/>
              </p:spPr>
            </p:pic>
          </mc:Fallback>
        </mc:AlternateContent>
      </p:grpSp>
    </p:spTree>
  </p:cSld>
  <p:clrMapOvr>
    <a:masterClrMapping/>
  </p:clrMapOvr>
</p:sld>
</file>

<file path=ppt/tags/tag1.xml><?xml version="1.0" encoding="utf-8"?>
<p:tagLst xmlns:p="http://schemas.openxmlformats.org/presentationml/2006/main">
  <p:tag name="TIMING" val="|4.3|30.5|29.3|29.4|30.2"/>
</p:tagLst>
</file>

<file path=ppt/tags/tag2.xml><?xml version="1.0" encoding="utf-8"?>
<p:tagLst xmlns:p="http://schemas.openxmlformats.org/presentationml/2006/main">
  <p:tag name="TIMING" val="|50.6|27.9|22.7|17.3|27.1|18.4|0.1|25.3|10|7|16.3|11.4|2.8"/>
</p:tagLst>
</file>

<file path=ppt/tags/tag3.xml><?xml version="1.0" encoding="utf-8"?>
<p:tagLst xmlns:p="http://schemas.openxmlformats.org/presentationml/2006/main">
  <p:tag name="TIMING" val="|14.6|45.8|22.9|1.8"/>
</p:tagLst>
</file>

<file path=ppt/tags/tag4.xml><?xml version="1.0" encoding="utf-8"?>
<p:tagLst xmlns:p="http://schemas.openxmlformats.org/presentationml/2006/main">
  <p:tag name="TIMING" val="|4.6|12.1|7.2|4.2|12.1|8.3|17.1|0.2|21.2|20.2|20.8|14.4|19.7|9.9|22.4|12.4|8.7"/>
</p:tagLst>
</file>

<file path=ppt/tags/tag5.xml><?xml version="1.0" encoding="utf-8"?>
<p:tagLst xmlns:p="http://schemas.openxmlformats.org/presentationml/2006/main">
  <p:tag name="TIMING" val="|31.2|9.1|7|13.7|86|0.1"/>
</p:tagLst>
</file>

<file path=ppt/tags/tag6.xml><?xml version="1.0" encoding="utf-8"?>
<p:tagLst xmlns:p="http://schemas.openxmlformats.org/presentationml/2006/main">
  <p:tag name="TIMING" val="|18.3|7.3|29.2|55.1|39.6|18.2"/>
</p:tagLst>
</file>

<file path=ppt/tags/tag7.xml><?xml version="1.0" encoding="utf-8"?>
<p:tagLst xmlns:p="http://schemas.openxmlformats.org/presentationml/2006/main">
  <p:tag name="TIMING" val="|105"/>
</p:tagLst>
</file>

<file path=ppt/tags/tag8.xml><?xml version="1.0" encoding="utf-8"?>
<p:tagLst xmlns:p="http://schemas.openxmlformats.org/presentationml/2006/main">
  <p:tag name="TIMING" val="|157.9|15.8|11.6|17.1|4.7|4.7|3.1|2.6"/>
</p:tagLst>
</file>

<file path=ppt/tags/tag9.xml><?xml version="1.0" encoding="utf-8"?>
<p:tagLst xmlns:p="http://schemas.openxmlformats.org/presentationml/2006/main">
  <p:tag name="TIMING" val="|15.3|3.2|14.8|9.6|9|43.3"/>
</p:tagLst>
</file>

<file path=ppt/tags/tag10.xml><?xml version="1.0" encoding="utf-8"?>
<p:tagLst xmlns:p="http://schemas.openxmlformats.org/presentationml/2006/main">
  <p:tag name="TIMING" val="|2.6|18|14.5"/>
</p:tagLst>
</file>

<file path=ppt/tags/tag11.xml><?xml version="1.0" encoding="utf-8"?>
<p:tagLst xmlns:p="http://schemas.openxmlformats.org/presentationml/2006/main">
  <p:tag name="TIMING" val="|0.9|4|5.2|41.2"/>
</p:tagLst>
</file>

<file path=ppt/tags/tag12.xml><?xml version="1.0" encoding="utf-8"?>
<p:tagLst xmlns:p="http://schemas.openxmlformats.org/presentationml/2006/main">
  <p:tag name="TIMING" val="|1.2|9.9|1.3"/>
</p:tagLst>
</file>

<file path=ppt/tags/tag13.xml><?xml version="1.0" encoding="utf-8"?>
<p:tagLst xmlns:p="http://schemas.openxmlformats.org/presentationml/2006/main">
  <p:tag name="TIMING" val="|2.1|13.3|6.4"/>
</p:tagLst>
</file>

<file path=ppt/tags/tag14.xml><?xml version="1.0" encoding="utf-8"?>
<p:tagLst xmlns:p="http://schemas.openxmlformats.org/presentationml/2006/main">
  <p:tag name="TIMING" val="|23.4|11.3|1.6"/>
</p:tagLst>
</file>

<file path=ppt/tags/tag15.xml><?xml version="1.0" encoding="utf-8"?>
<p:tagLst xmlns:p="http://schemas.openxmlformats.org/presentationml/2006/main">
  <p:tag name="TIMING" val="|1.2|4"/>
</p:tagLst>
</file>

<file path=ppt/tags/tag16.xml><?xml version="1.0" encoding="utf-8"?>
<p:tagLst xmlns:p="http://schemas.openxmlformats.org/presentationml/2006/main">
  <p:tag name="TIMING" val="|33.8|1.2"/>
</p:tagLst>
</file>

<file path=ppt/tags/tag17.xml><?xml version="1.0" encoding="utf-8"?>
<p:tagLst xmlns:p="http://schemas.openxmlformats.org/presentationml/2006/main">
  <p:tag name="TIMING" val="|1|0.7"/>
</p:tagLst>
</file>

<file path=ppt/tags/tag18.xml><?xml version="1.0" encoding="utf-8"?>
<p:tagLst xmlns:p="http://schemas.openxmlformats.org/presentationml/2006/main">
  <p:tag name="TIMING" val="|1.1|2.5"/>
</p:tagLst>
</file>

<file path=ppt/tags/tag19.xml><?xml version="1.0" encoding="utf-8"?>
<p:tagLst xmlns:p="http://schemas.openxmlformats.org/presentationml/2006/main">
  <p:tag name="TIMING" val="|1|6.6"/>
</p:tagLst>
</file>

<file path=ppt/tags/tag20.xml><?xml version="1.0" encoding="utf-8"?>
<p:tagLst xmlns:p="http://schemas.openxmlformats.org/presentationml/2006/main">
  <p:tag name="TIMING" val="|1.2|2.2"/>
</p:tagLst>
</file>

<file path=ppt/tags/tag21.xml><?xml version="1.0" encoding="utf-8"?>
<p:tagLst xmlns:p="http://schemas.openxmlformats.org/presentationml/2006/main">
  <p:tag name="TIMING" val="|57.3|6.5|4.9|4.9"/>
</p:tagLst>
</file>

<file path=ppt/tags/tag22.xml><?xml version="1.0" encoding="utf-8"?>
<p:tagLst xmlns:p="http://schemas.openxmlformats.org/presentationml/2006/main">
  <p:tag name="TIMING" val="|17.3|7.6|4.6|5.1"/>
</p:tagLst>
</file>

<file path=ppt/tags/tag23.xml><?xml version="1.0" encoding="utf-8"?>
<p:tagLst xmlns:p="http://schemas.openxmlformats.org/presentationml/2006/main">
  <p:tag name="TIMING" val="|24.7|17.6"/>
</p:tagLst>
</file>

<file path=ppt/tags/tag24.xml><?xml version="1.0" encoding="utf-8"?>
<p:tagLst xmlns:p="http://schemas.openxmlformats.org/presentationml/2006/main">
  <p:tag name="TIMING" val="|40.3|0.9"/>
</p:tagLst>
</file>

<file path=ppt/tags/tag25.xml><?xml version="1.0" encoding="utf-8"?>
<p:tagLst xmlns:p="http://schemas.openxmlformats.org/presentationml/2006/main">
  <p:tag name="TIMING" val="|39.9|11.3|34.5|34.6|75.9|33.6|12.2|3.4"/>
</p:tagLst>
</file>

<file path=ppt/tags/tag26.xml><?xml version="1.0" encoding="utf-8"?>
<p:tagLst xmlns:p="http://schemas.openxmlformats.org/presentationml/2006/main">
  <p:tag name="TIMING" val="|25.9|11.5|1.8|7.1"/>
</p:tagLst>
</file>

<file path=ppt/tags/tag27.xml><?xml version="1.0" encoding="utf-8"?>
<p:tagLst xmlns:p="http://schemas.openxmlformats.org/presentationml/2006/main">
  <p:tag name="TIMING" val="|1.3|36.1|12.8|39|1|0.4|0.5|14.5|1.1"/>
</p:tagLst>
</file>

<file path=ppt/tags/tag28.xml><?xml version="1.0" encoding="utf-8"?>
<p:tagLst xmlns:p="http://schemas.openxmlformats.org/presentationml/2006/main">
  <p:tag name="TIMING" val="|32.8|12.9|4|11.6|1.4|5.5|1.1|1|0.6|12.4|4|22.9|12.3|7.8"/>
</p:tagLst>
</file>

<file path=ppt/tags/tag29.xml><?xml version="1.0" encoding="utf-8"?>
<p:tagLst xmlns:p="http://schemas.openxmlformats.org/presentationml/2006/main">
  <p:tag name="TIMING" val="|57|48.9|40.6|1.2|38.1|26.7|17.3|51|26.7"/>
</p:tagLst>
</file>

<file path=ppt/tags/tag30.xml><?xml version="1.0" encoding="utf-8"?>
<p:tagLst xmlns:p="http://schemas.openxmlformats.org/presentationml/2006/main">
  <p:tag name="TIMING" val="|7.2|5|26.3|9|11.5|22.5|26.4|29.2|14.8|26.2|35.6|24.2"/>
</p:tagLst>
</file>

<file path=ppt/tags/tag31.xml><?xml version="1.0" encoding="utf-8"?>
<p:tagLst xmlns:p="http://schemas.openxmlformats.org/presentationml/2006/main">
  <p:tag name="TIMING" val="|1.5|49.4|11.5|63.7"/>
</p:tagLst>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Arial" panose="020B0604020202090204" pitchFamily="34" charset="0"/>
            <a:cs typeface="Arial" panose="020B060402020209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Arial" panose="020B0604020202090204" pitchFamily="34" charset="0"/>
            <a:cs typeface="Arial" panose="020B060402020209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intro</Template>
  <TotalTime>0</TotalTime>
  <Words>7482</Words>
  <Application>WPS 演示</Application>
  <PresentationFormat>On-screen Show (4:3)</PresentationFormat>
  <Paragraphs>673</Paragraphs>
  <Slides>40</Slides>
  <Notes>26</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40</vt:i4>
      </vt:variant>
    </vt:vector>
  </HeadingPairs>
  <TitlesOfParts>
    <vt:vector size="61" baseType="lpstr">
      <vt:lpstr>Arial</vt:lpstr>
      <vt:lpstr>宋体</vt:lpstr>
      <vt:lpstr>Wingdings</vt:lpstr>
      <vt:lpstr>Times New Roman</vt:lpstr>
      <vt:lpstr>MS PGothic</vt:lpstr>
      <vt:lpstr>苹方-简</vt:lpstr>
      <vt:lpstr>Arial</vt:lpstr>
      <vt:lpstr>Wingdings</vt:lpstr>
      <vt:lpstr>Adobe Caslon Pro</vt:lpstr>
      <vt:lpstr>Thonburi</vt:lpstr>
      <vt:lpstr>Cambria Math</vt:lpstr>
      <vt:lpstr>Kingsoft Math</vt:lpstr>
      <vt:lpstr>DejaVu Math TeX Gyre</vt:lpstr>
      <vt:lpstr>微软雅黑</vt:lpstr>
      <vt:lpstr>汉仪旗黑</vt:lpstr>
      <vt:lpstr>宋体</vt:lpstr>
      <vt:lpstr>Arial Unicode MS</vt:lpstr>
      <vt:lpstr>宋体-简</vt:lpstr>
      <vt:lpstr>Calibri</vt:lpstr>
      <vt:lpstr>Helvetica Neue</vt:lpstr>
      <vt:lpstr>Blank Presentation</vt:lpstr>
      <vt:lpstr>PowerPoint 演示文稿</vt:lpstr>
      <vt:lpstr>Beyond two layers</vt:lpstr>
      <vt:lpstr>“Deep” pipeline</vt:lpstr>
      <vt:lpstr>How to train a multi-layer network?</vt:lpstr>
      <vt:lpstr>BP examples explained</vt:lpstr>
      <vt:lpstr>Computation graph</vt:lpstr>
      <vt:lpstr>Chain rule</vt:lpstr>
      <vt:lpstr>Chain rule</vt:lpstr>
      <vt:lpstr>Chain rule</vt:lpstr>
      <vt:lpstr>Chain rule</vt:lpstr>
      <vt:lpstr>Backpropagation summary</vt:lpstr>
      <vt:lpstr>What about more general computation graphs?</vt:lpstr>
      <vt:lpstr>What about more general computation graphs?</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A detailed example</vt:lpstr>
      <vt:lpstr>Patterns in gradient flow</vt:lpstr>
      <vt:lpstr>Patterns in gradient flow</vt:lpstr>
      <vt:lpstr>Patterns in gradient flow</vt:lpstr>
      <vt:lpstr>Patterns in gradient flow</vt:lpstr>
      <vt:lpstr>Dealing with vectors</vt:lpstr>
      <vt:lpstr>Simple case: Elementwise operation</vt:lpstr>
      <vt:lpstr>Simple case: Elementwise operation</vt:lpstr>
      <vt:lpstr>Simple case: Elementwise operation</vt:lpstr>
      <vt:lpstr>Matrix-vector multiplication</vt:lpstr>
      <vt:lpstr>Matrix-vector multiplication</vt:lpstr>
      <vt:lpstr>Matrix-vector multiplication</vt:lpstr>
      <vt:lpstr>General tips</vt:lpstr>
      <vt:lpstr>PowerPoint 演示文稿</vt:lpstr>
    </vt:vector>
  </TitlesOfParts>
  <Company>Carnegie Mellon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efros</dc:creator>
  <cp:lastModifiedBy>dove</cp:lastModifiedBy>
  <cp:revision>1802</cp:revision>
  <cp:lastPrinted>2025-12-28T12:30:15Z</cp:lastPrinted>
  <dcterms:created xsi:type="dcterms:W3CDTF">2025-12-28T12:30:15Z</dcterms:created>
  <dcterms:modified xsi:type="dcterms:W3CDTF">2025-12-28T12:30:15Z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4FD71A5956471B07D722516944C96284_42</vt:lpwstr>
  </property>
  <property fmtid="{D5CDD505-2E9C-101B-9397-08002B2CF9AE}" pid="3" name="KSOProductBuildVer">
    <vt:lpwstr>2052-12.1.23153.23153</vt:lpwstr>
  </property>
</Properties>
</file>